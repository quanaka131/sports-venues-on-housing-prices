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84" r:id="rId3"/>
    <p:sldId id="257" r:id="rId4"/>
    <p:sldId id="263" r:id="rId5"/>
    <p:sldId id="279" r:id="rId6"/>
    <p:sldId id="277" r:id="rId7"/>
    <p:sldId id="292" r:id="rId8"/>
    <p:sldId id="281" r:id="rId9"/>
    <p:sldId id="285" r:id="rId10"/>
    <p:sldId id="291" r:id="rId11"/>
    <p:sldId id="286" r:id="rId12"/>
    <p:sldId id="289" r:id="rId13"/>
    <p:sldId id="276" r:id="rId14"/>
    <p:sldId id="266" r:id="rId15"/>
    <p:sldId id="267" r:id="rId16"/>
    <p:sldId id="282" r:id="rId17"/>
    <p:sldId id="268" r:id="rId18"/>
    <p:sldId id="269" r:id="rId19"/>
    <p:sldId id="275" r:id="rId20"/>
    <p:sldId id="280" r:id="rId21"/>
    <p:sldId id="270" r:id="rId22"/>
    <p:sldId id="271" r:id="rId23"/>
    <p:sldId id="272" r:id="rId24"/>
    <p:sldId id="288" r:id="rId25"/>
    <p:sldId id="29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66"/>
    <p:restoredTop sz="43325"/>
  </p:normalViewPr>
  <p:slideViewPr>
    <p:cSldViewPr snapToGrid="0">
      <p:cViewPr varScale="1">
        <p:scale>
          <a:sx n="57" d="100"/>
          <a:sy n="57" d="100"/>
        </p:scale>
        <p:origin x="3928" y="168"/>
      </p:cViewPr>
      <p:guideLst/>
    </p:cSldViewPr>
  </p:slideViewPr>
  <p:outlineViewPr>
    <p:cViewPr>
      <p:scale>
        <a:sx n="33" d="100"/>
        <a:sy n="33" d="100"/>
      </p:scale>
      <p:origin x="0" y="-15008"/>
    </p:cViewPr>
  </p:outlineViewPr>
  <p:notesTextViewPr>
    <p:cViewPr>
      <p:scale>
        <a:sx n="150" d="100"/>
        <a:sy n="15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A43234-4703-3D40-B2E6-2C184D534D3F}" type="doc">
      <dgm:prSet loTypeId="urn:microsoft.com/office/officeart/2005/8/layout/process5" loCatId="" qsTypeId="urn:microsoft.com/office/officeart/2005/8/quickstyle/simple1" qsCatId="simple" csTypeId="urn:microsoft.com/office/officeart/2005/8/colors/accent1_2" csCatId="accent1" phldr="1"/>
      <dgm:spPr/>
      <dgm:t>
        <a:bodyPr/>
        <a:lstStyle/>
        <a:p>
          <a:endParaRPr lang="en-US"/>
        </a:p>
      </dgm:t>
    </dgm:pt>
    <dgm:pt modelId="{F66BF845-7662-4746-8ACD-E5C787B87F48}">
      <dgm:prSet phldrT="[Text]"/>
      <dgm:spPr/>
      <dgm:t>
        <a:bodyPr/>
        <a:lstStyle/>
        <a:p>
          <a:r>
            <a:rPr lang="en-US" dirty="0"/>
            <a:t>Took ZHVI data, dropped MiSAs, keeping only MSAs</a:t>
          </a:r>
        </a:p>
      </dgm:t>
    </dgm:pt>
    <dgm:pt modelId="{6AA6FD40-6493-FF45-B489-F2CFDA771F4D}" type="parTrans" cxnId="{51E15307-D006-C54C-BFF8-2784CA8E7883}">
      <dgm:prSet/>
      <dgm:spPr/>
      <dgm:t>
        <a:bodyPr/>
        <a:lstStyle/>
        <a:p>
          <a:endParaRPr lang="en-US"/>
        </a:p>
      </dgm:t>
    </dgm:pt>
    <dgm:pt modelId="{065CB93A-CF4D-7141-9A81-E5F1BA68CC62}" type="sibTrans" cxnId="{51E15307-D006-C54C-BFF8-2784CA8E7883}">
      <dgm:prSet/>
      <dgm:spPr/>
      <dgm:t>
        <a:bodyPr/>
        <a:lstStyle/>
        <a:p>
          <a:endParaRPr lang="en-US"/>
        </a:p>
      </dgm:t>
    </dgm:pt>
    <dgm:pt modelId="{7F7A73E2-8AA9-FA4D-99BE-147847048614}">
      <dgm:prSet phldrT="[Text]"/>
      <dgm:spPr/>
      <dgm:t>
        <a:bodyPr/>
        <a:lstStyle/>
        <a:p>
          <a:r>
            <a:rPr lang="en-US" dirty="0"/>
            <a:t>Took venue data, matched 2000-2025 window, merged using normalized metro names</a:t>
          </a:r>
        </a:p>
      </dgm:t>
    </dgm:pt>
    <dgm:pt modelId="{1F56C761-D786-7640-A91B-4E96FDF6DDCD}" type="parTrans" cxnId="{DAD6E42C-5E15-1D45-B84E-729A4471ADA7}">
      <dgm:prSet/>
      <dgm:spPr/>
      <dgm:t>
        <a:bodyPr/>
        <a:lstStyle/>
        <a:p>
          <a:endParaRPr lang="en-US"/>
        </a:p>
      </dgm:t>
    </dgm:pt>
    <dgm:pt modelId="{CFFC2DDB-D9C7-C04C-BE92-E71D9A4C8ED2}" type="sibTrans" cxnId="{DAD6E42C-5E15-1D45-B84E-729A4471ADA7}">
      <dgm:prSet/>
      <dgm:spPr/>
      <dgm:t>
        <a:bodyPr/>
        <a:lstStyle/>
        <a:p>
          <a:endParaRPr lang="en-US"/>
        </a:p>
      </dgm:t>
    </dgm:pt>
    <dgm:pt modelId="{3BB8C2B7-4D42-664F-AD36-14604A487ED3}">
      <dgm:prSet phldrT="[Text]"/>
      <dgm:spPr/>
      <dgm:t>
        <a:bodyPr/>
        <a:lstStyle/>
        <a:p>
          <a:r>
            <a:rPr lang="en-US" b="0" dirty="0"/>
            <a:t>For the few metros have  &gt;1 venue openings between 2000-2025, kept the earliest opening to avoid duplicating post months</a:t>
          </a:r>
        </a:p>
      </dgm:t>
    </dgm:pt>
    <dgm:pt modelId="{C7475A26-BD51-1A47-9214-A43F35CA8810}" type="parTrans" cxnId="{A0687965-F95B-4A4B-AA95-5E34DFE37DDD}">
      <dgm:prSet/>
      <dgm:spPr/>
      <dgm:t>
        <a:bodyPr/>
        <a:lstStyle/>
        <a:p>
          <a:endParaRPr lang="en-US"/>
        </a:p>
      </dgm:t>
    </dgm:pt>
    <dgm:pt modelId="{B9F89946-9540-A140-9160-2EABEEEE2D74}" type="sibTrans" cxnId="{A0687965-F95B-4A4B-AA95-5E34DFE37DDD}">
      <dgm:prSet/>
      <dgm:spPr/>
      <dgm:t>
        <a:bodyPr/>
        <a:lstStyle/>
        <a:p>
          <a:endParaRPr lang="en-US"/>
        </a:p>
      </dgm:t>
    </dgm:pt>
    <dgm:pt modelId="{2B6E7594-4723-BF41-8EB1-724EEA474AC2}">
      <dgm:prSet phldrT="[Text]"/>
      <dgm:spPr/>
      <dgm:t>
        <a:bodyPr/>
        <a:lstStyle/>
        <a:p>
          <a:r>
            <a:rPr lang="en-US" b="0" u="sng" dirty="0"/>
            <a:t>Built a metro–month panel (2000–2025) that pairs Zillow home values with the earliest major-league venue opening and its costs</a:t>
          </a:r>
          <a:endParaRPr lang="en-US" u="sng" dirty="0"/>
        </a:p>
      </dgm:t>
    </dgm:pt>
    <dgm:pt modelId="{6637519F-8C86-C048-8555-44AAE7D2B9D6}" type="parTrans" cxnId="{A2A20309-A895-B747-BEFD-F82E086917DF}">
      <dgm:prSet/>
      <dgm:spPr/>
      <dgm:t>
        <a:bodyPr/>
        <a:lstStyle/>
        <a:p>
          <a:endParaRPr lang="en-US"/>
        </a:p>
      </dgm:t>
    </dgm:pt>
    <dgm:pt modelId="{68DD78FE-90A9-F44E-9F4E-214724046BC0}" type="sibTrans" cxnId="{A2A20309-A895-B747-BEFD-F82E086917DF}">
      <dgm:prSet/>
      <dgm:spPr/>
      <dgm:t>
        <a:bodyPr/>
        <a:lstStyle/>
        <a:p>
          <a:endParaRPr lang="en-US"/>
        </a:p>
      </dgm:t>
    </dgm:pt>
    <dgm:pt modelId="{2AA49055-EC3B-794C-9C30-6DAFB44BD596}">
      <dgm:prSet phldrT="[Text]"/>
      <dgm:spPr/>
      <dgm:t>
        <a:bodyPr/>
        <a:lstStyle/>
        <a:p>
          <a:r>
            <a:rPr lang="en-US" u="sng" dirty="0"/>
            <a:t>377 Metros, 309 months, 105,824 total observations</a:t>
          </a:r>
          <a:endParaRPr lang="en-US" b="0" u="sng" dirty="0"/>
        </a:p>
      </dgm:t>
    </dgm:pt>
    <dgm:pt modelId="{7B9CE512-31FB-674F-B55E-0436B58E20AA}" type="parTrans" cxnId="{A7516515-6A37-9443-AC57-F78EB928C326}">
      <dgm:prSet/>
      <dgm:spPr/>
      <dgm:t>
        <a:bodyPr/>
        <a:lstStyle/>
        <a:p>
          <a:endParaRPr lang="en-US"/>
        </a:p>
      </dgm:t>
    </dgm:pt>
    <dgm:pt modelId="{4EFE0A7A-277B-DF48-B9A9-4FD17548401D}" type="sibTrans" cxnId="{A7516515-6A37-9443-AC57-F78EB928C326}">
      <dgm:prSet/>
      <dgm:spPr/>
      <dgm:t>
        <a:bodyPr/>
        <a:lstStyle/>
        <a:p>
          <a:endParaRPr lang="en-US"/>
        </a:p>
      </dgm:t>
    </dgm:pt>
    <dgm:pt modelId="{76617CAD-1463-BA4A-B924-A692D73153C8}">
      <dgm:prSet/>
      <dgm:spPr/>
      <dgm:t>
        <a:bodyPr/>
        <a:lstStyle/>
        <a:p>
          <a:r>
            <a:rPr lang="en-US" dirty="0"/>
            <a:t>Some metro-months have missing ZHVI, so we remove those before modeling</a:t>
          </a:r>
        </a:p>
      </dgm:t>
    </dgm:pt>
    <dgm:pt modelId="{2A9637DC-8C6E-3E40-BC64-8971127415A3}" type="parTrans" cxnId="{016BE9BF-33E7-3C48-8FF4-6449EE495A63}">
      <dgm:prSet/>
      <dgm:spPr/>
      <dgm:t>
        <a:bodyPr/>
        <a:lstStyle/>
        <a:p>
          <a:endParaRPr lang="en-US"/>
        </a:p>
      </dgm:t>
    </dgm:pt>
    <dgm:pt modelId="{712652A4-8238-3F4C-9EBC-9459EB6F7009}" type="sibTrans" cxnId="{016BE9BF-33E7-3C48-8FF4-6449EE495A63}">
      <dgm:prSet/>
      <dgm:spPr/>
      <dgm:t>
        <a:bodyPr/>
        <a:lstStyle/>
        <a:p>
          <a:endParaRPr lang="en-US"/>
        </a:p>
      </dgm:t>
    </dgm:pt>
    <dgm:pt modelId="{2C129813-6987-C24A-9EA7-7CAB4548B011}" type="pres">
      <dgm:prSet presAssocID="{BBA43234-4703-3D40-B2E6-2C184D534D3F}" presName="diagram" presStyleCnt="0">
        <dgm:presLayoutVars>
          <dgm:dir/>
          <dgm:resizeHandles val="exact"/>
        </dgm:presLayoutVars>
      </dgm:prSet>
      <dgm:spPr/>
    </dgm:pt>
    <dgm:pt modelId="{6D278FE4-2830-094C-9B2D-FDE00A97B001}" type="pres">
      <dgm:prSet presAssocID="{F66BF845-7662-4746-8ACD-E5C787B87F48}" presName="node" presStyleLbl="node1" presStyleIdx="0" presStyleCnt="6">
        <dgm:presLayoutVars>
          <dgm:bulletEnabled val="1"/>
        </dgm:presLayoutVars>
      </dgm:prSet>
      <dgm:spPr/>
    </dgm:pt>
    <dgm:pt modelId="{2045A403-AD5B-844C-A49A-439FA6B62612}" type="pres">
      <dgm:prSet presAssocID="{065CB93A-CF4D-7141-9A81-E5F1BA68CC62}" presName="sibTrans" presStyleLbl="sibTrans2D1" presStyleIdx="0" presStyleCnt="5"/>
      <dgm:spPr/>
    </dgm:pt>
    <dgm:pt modelId="{FC8980D7-B263-6440-BBE7-077F511CA27C}" type="pres">
      <dgm:prSet presAssocID="{065CB93A-CF4D-7141-9A81-E5F1BA68CC62}" presName="connectorText" presStyleLbl="sibTrans2D1" presStyleIdx="0" presStyleCnt="5"/>
      <dgm:spPr/>
    </dgm:pt>
    <dgm:pt modelId="{A340FE08-9D0E-2A41-88C8-A943B72A4D40}" type="pres">
      <dgm:prSet presAssocID="{7F7A73E2-8AA9-FA4D-99BE-147847048614}" presName="node" presStyleLbl="node1" presStyleIdx="1" presStyleCnt="6">
        <dgm:presLayoutVars>
          <dgm:bulletEnabled val="1"/>
        </dgm:presLayoutVars>
      </dgm:prSet>
      <dgm:spPr/>
    </dgm:pt>
    <dgm:pt modelId="{5606860A-6CD0-7541-B841-67627C3C3074}" type="pres">
      <dgm:prSet presAssocID="{CFFC2DDB-D9C7-C04C-BE92-E71D9A4C8ED2}" presName="sibTrans" presStyleLbl="sibTrans2D1" presStyleIdx="1" presStyleCnt="5"/>
      <dgm:spPr/>
    </dgm:pt>
    <dgm:pt modelId="{AF4B0300-6EB7-B149-BCFA-7BF21BF58F78}" type="pres">
      <dgm:prSet presAssocID="{CFFC2DDB-D9C7-C04C-BE92-E71D9A4C8ED2}" presName="connectorText" presStyleLbl="sibTrans2D1" presStyleIdx="1" presStyleCnt="5"/>
      <dgm:spPr/>
    </dgm:pt>
    <dgm:pt modelId="{B8C735FD-92AF-EF4D-9482-CD83DD2FCA38}" type="pres">
      <dgm:prSet presAssocID="{3BB8C2B7-4D42-664F-AD36-14604A487ED3}" presName="node" presStyleLbl="node1" presStyleIdx="2" presStyleCnt="6">
        <dgm:presLayoutVars>
          <dgm:bulletEnabled val="1"/>
        </dgm:presLayoutVars>
      </dgm:prSet>
      <dgm:spPr/>
    </dgm:pt>
    <dgm:pt modelId="{EC7C65B0-ADDA-D549-B2AB-0BA3D3217BFD}" type="pres">
      <dgm:prSet presAssocID="{B9F89946-9540-A140-9160-2EABEEEE2D74}" presName="sibTrans" presStyleLbl="sibTrans2D1" presStyleIdx="2" presStyleCnt="5"/>
      <dgm:spPr/>
    </dgm:pt>
    <dgm:pt modelId="{C3C0E6E7-4F67-AA43-80DF-A5025C99A577}" type="pres">
      <dgm:prSet presAssocID="{B9F89946-9540-A140-9160-2EABEEEE2D74}" presName="connectorText" presStyleLbl="sibTrans2D1" presStyleIdx="2" presStyleCnt="5"/>
      <dgm:spPr/>
    </dgm:pt>
    <dgm:pt modelId="{6C0F9CF3-E462-284F-9C0F-82BCC11207A9}" type="pres">
      <dgm:prSet presAssocID="{2B6E7594-4723-BF41-8EB1-724EEA474AC2}" presName="node" presStyleLbl="node1" presStyleIdx="3" presStyleCnt="6">
        <dgm:presLayoutVars>
          <dgm:bulletEnabled val="1"/>
        </dgm:presLayoutVars>
      </dgm:prSet>
      <dgm:spPr/>
    </dgm:pt>
    <dgm:pt modelId="{CF993286-6E85-AE4E-995F-585953043255}" type="pres">
      <dgm:prSet presAssocID="{68DD78FE-90A9-F44E-9F4E-214724046BC0}" presName="sibTrans" presStyleLbl="sibTrans2D1" presStyleIdx="3" presStyleCnt="5"/>
      <dgm:spPr/>
    </dgm:pt>
    <dgm:pt modelId="{81DB78C7-F1C4-0A49-A066-190C288901D5}" type="pres">
      <dgm:prSet presAssocID="{68DD78FE-90A9-F44E-9F4E-214724046BC0}" presName="connectorText" presStyleLbl="sibTrans2D1" presStyleIdx="3" presStyleCnt="5"/>
      <dgm:spPr/>
    </dgm:pt>
    <dgm:pt modelId="{E0F13E2E-B043-BA40-AA56-6BE3F6ACF5EE}" type="pres">
      <dgm:prSet presAssocID="{2AA49055-EC3B-794C-9C30-6DAFB44BD596}" presName="node" presStyleLbl="node1" presStyleIdx="4" presStyleCnt="6">
        <dgm:presLayoutVars>
          <dgm:bulletEnabled val="1"/>
        </dgm:presLayoutVars>
      </dgm:prSet>
      <dgm:spPr/>
    </dgm:pt>
    <dgm:pt modelId="{81E12D70-5779-034E-ADF8-1C11FA724D34}" type="pres">
      <dgm:prSet presAssocID="{4EFE0A7A-277B-DF48-B9A9-4FD17548401D}" presName="sibTrans" presStyleLbl="sibTrans2D1" presStyleIdx="4" presStyleCnt="5"/>
      <dgm:spPr/>
    </dgm:pt>
    <dgm:pt modelId="{5E3C6E40-3D21-B946-AEE7-1907309F7EDA}" type="pres">
      <dgm:prSet presAssocID="{4EFE0A7A-277B-DF48-B9A9-4FD17548401D}" presName="connectorText" presStyleLbl="sibTrans2D1" presStyleIdx="4" presStyleCnt="5"/>
      <dgm:spPr/>
    </dgm:pt>
    <dgm:pt modelId="{70F9008A-CB09-4F43-B7A9-09C92361BB1B}" type="pres">
      <dgm:prSet presAssocID="{76617CAD-1463-BA4A-B924-A692D73153C8}" presName="node" presStyleLbl="node1" presStyleIdx="5" presStyleCnt="6">
        <dgm:presLayoutVars>
          <dgm:bulletEnabled val="1"/>
        </dgm:presLayoutVars>
      </dgm:prSet>
      <dgm:spPr/>
    </dgm:pt>
  </dgm:ptLst>
  <dgm:cxnLst>
    <dgm:cxn modelId="{51E15307-D006-C54C-BFF8-2784CA8E7883}" srcId="{BBA43234-4703-3D40-B2E6-2C184D534D3F}" destId="{F66BF845-7662-4746-8ACD-E5C787B87F48}" srcOrd="0" destOrd="0" parTransId="{6AA6FD40-6493-FF45-B489-F2CFDA771F4D}" sibTransId="{065CB93A-CF4D-7141-9A81-E5F1BA68CC62}"/>
    <dgm:cxn modelId="{A2A20309-A895-B747-BEFD-F82E086917DF}" srcId="{BBA43234-4703-3D40-B2E6-2C184D534D3F}" destId="{2B6E7594-4723-BF41-8EB1-724EEA474AC2}" srcOrd="3" destOrd="0" parTransId="{6637519F-8C86-C048-8555-44AAE7D2B9D6}" sibTransId="{68DD78FE-90A9-F44E-9F4E-214724046BC0}"/>
    <dgm:cxn modelId="{4EB0AA0E-2D95-5C45-8E90-C8FD555D8DD6}" type="presOf" srcId="{CFFC2DDB-D9C7-C04C-BE92-E71D9A4C8ED2}" destId="{5606860A-6CD0-7541-B841-67627C3C3074}" srcOrd="0" destOrd="0" presId="urn:microsoft.com/office/officeart/2005/8/layout/process5"/>
    <dgm:cxn modelId="{C7F32A10-1997-5241-A6A0-FF2CA838E841}" type="presOf" srcId="{4EFE0A7A-277B-DF48-B9A9-4FD17548401D}" destId="{5E3C6E40-3D21-B946-AEE7-1907309F7EDA}" srcOrd="1" destOrd="0" presId="urn:microsoft.com/office/officeart/2005/8/layout/process5"/>
    <dgm:cxn modelId="{11799114-D9F6-234C-8DAF-B71B81C1BEFD}" type="presOf" srcId="{3BB8C2B7-4D42-664F-AD36-14604A487ED3}" destId="{B8C735FD-92AF-EF4D-9482-CD83DD2FCA38}" srcOrd="0" destOrd="0" presId="urn:microsoft.com/office/officeart/2005/8/layout/process5"/>
    <dgm:cxn modelId="{A7516515-6A37-9443-AC57-F78EB928C326}" srcId="{BBA43234-4703-3D40-B2E6-2C184D534D3F}" destId="{2AA49055-EC3B-794C-9C30-6DAFB44BD596}" srcOrd="4" destOrd="0" parTransId="{7B9CE512-31FB-674F-B55E-0436B58E20AA}" sibTransId="{4EFE0A7A-277B-DF48-B9A9-4FD17548401D}"/>
    <dgm:cxn modelId="{FCC1F11A-1A15-9740-8371-34CC1EDF47B8}" type="presOf" srcId="{76617CAD-1463-BA4A-B924-A692D73153C8}" destId="{70F9008A-CB09-4F43-B7A9-09C92361BB1B}" srcOrd="0" destOrd="0" presId="urn:microsoft.com/office/officeart/2005/8/layout/process5"/>
    <dgm:cxn modelId="{DAD6E42C-5E15-1D45-B84E-729A4471ADA7}" srcId="{BBA43234-4703-3D40-B2E6-2C184D534D3F}" destId="{7F7A73E2-8AA9-FA4D-99BE-147847048614}" srcOrd="1" destOrd="0" parTransId="{1F56C761-D786-7640-A91B-4E96FDF6DDCD}" sibTransId="{CFFC2DDB-D9C7-C04C-BE92-E71D9A4C8ED2}"/>
    <dgm:cxn modelId="{B4447247-B393-5C42-856E-820C192AD628}" type="presOf" srcId="{065CB93A-CF4D-7141-9A81-E5F1BA68CC62}" destId="{FC8980D7-B263-6440-BBE7-077F511CA27C}" srcOrd="1" destOrd="0" presId="urn:microsoft.com/office/officeart/2005/8/layout/process5"/>
    <dgm:cxn modelId="{6506A062-2C01-D149-B7BD-24D6845CC482}" type="presOf" srcId="{B9F89946-9540-A140-9160-2EABEEEE2D74}" destId="{EC7C65B0-ADDA-D549-B2AB-0BA3D3217BFD}" srcOrd="0" destOrd="0" presId="urn:microsoft.com/office/officeart/2005/8/layout/process5"/>
    <dgm:cxn modelId="{A0687965-F95B-4A4B-AA95-5E34DFE37DDD}" srcId="{BBA43234-4703-3D40-B2E6-2C184D534D3F}" destId="{3BB8C2B7-4D42-664F-AD36-14604A487ED3}" srcOrd="2" destOrd="0" parTransId="{C7475A26-BD51-1A47-9214-A43F35CA8810}" sibTransId="{B9F89946-9540-A140-9160-2EABEEEE2D74}"/>
    <dgm:cxn modelId="{E1579565-80BB-0242-A688-2374E8F84C7E}" type="presOf" srcId="{065CB93A-CF4D-7141-9A81-E5F1BA68CC62}" destId="{2045A403-AD5B-844C-A49A-439FA6B62612}" srcOrd="0" destOrd="0" presId="urn:microsoft.com/office/officeart/2005/8/layout/process5"/>
    <dgm:cxn modelId="{1F4BB86B-DC13-7B42-988D-BCAEC7FF3D8A}" type="presOf" srcId="{BBA43234-4703-3D40-B2E6-2C184D534D3F}" destId="{2C129813-6987-C24A-9EA7-7CAB4548B011}" srcOrd="0" destOrd="0" presId="urn:microsoft.com/office/officeart/2005/8/layout/process5"/>
    <dgm:cxn modelId="{E5D3C395-1FCD-CE4A-ACE0-44B0F8618F6C}" type="presOf" srcId="{4EFE0A7A-277B-DF48-B9A9-4FD17548401D}" destId="{81E12D70-5779-034E-ADF8-1C11FA724D34}" srcOrd="0" destOrd="0" presId="urn:microsoft.com/office/officeart/2005/8/layout/process5"/>
    <dgm:cxn modelId="{519B78AD-088F-4549-B79F-659F8363E08E}" type="presOf" srcId="{68DD78FE-90A9-F44E-9F4E-214724046BC0}" destId="{CF993286-6E85-AE4E-995F-585953043255}" srcOrd="0" destOrd="0" presId="urn:microsoft.com/office/officeart/2005/8/layout/process5"/>
    <dgm:cxn modelId="{361B51B4-A641-E443-BBF4-78E0B51C4093}" type="presOf" srcId="{2B6E7594-4723-BF41-8EB1-724EEA474AC2}" destId="{6C0F9CF3-E462-284F-9C0F-82BCC11207A9}" srcOrd="0" destOrd="0" presId="urn:microsoft.com/office/officeart/2005/8/layout/process5"/>
    <dgm:cxn modelId="{C3A6C4BC-DEB0-9847-B779-C592B32ABCE1}" type="presOf" srcId="{B9F89946-9540-A140-9160-2EABEEEE2D74}" destId="{C3C0E6E7-4F67-AA43-80DF-A5025C99A577}" srcOrd="1" destOrd="0" presId="urn:microsoft.com/office/officeart/2005/8/layout/process5"/>
    <dgm:cxn modelId="{016BE9BF-33E7-3C48-8FF4-6449EE495A63}" srcId="{BBA43234-4703-3D40-B2E6-2C184D534D3F}" destId="{76617CAD-1463-BA4A-B924-A692D73153C8}" srcOrd="5" destOrd="0" parTransId="{2A9637DC-8C6E-3E40-BC64-8971127415A3}" sibTransId="{712652A4-8238-3F4C-9EBC-9459EB6F7009}"/>
    <dgm:cxn modelId="{B8B80FCC-B282-EE49-83B9-E29A342FB8F6}" type="presOf" srcId="{68DD78FE-90A9-F44E-9F4E-214724046BC0}" destId="{81DB78C7-F1C4-0A49-A066-190C288901D5}" srcOrd="1" destOrd="0" presId="urn:microsoft.com/office/officeart/2005/8/layout/process5"/>
    <dgm:cxn modelId="{78062AD1-CBCD-AA4A-8902-F0A35A4A3769}" type="presOf" srcId="{CFFC2DDB-D9C7-C04C-BE92-E71D9A4C8ED2}" destId="{AF4B0300-6EB7-B149-BCFA-7BF21BF58F78}" srcOrd="1" destOrd="0" presId="urn:microsoft.com/office/officeart/2005/8/layout/process5"/>
    <dgm:cxn modelId="{B4CD8DD7-7FC0-4C48-BCF3-3252FEB6C272}" type="presOf" srcId="{2AA49055-EC3B-794C-9C30-6DAFB44BD596}" destId="{E0F13E2E-B043-BA40-AA56-6BE3F6ACF5EE}" srcOrd="0" destOrd="0" presId="urn:microsoft.com/office/officeart/2005/8/layout/process5"/>
    <dgm:cxn modelId="{B0CB91D7-0DAA-BE4C-BB20-067F623F387F}" type="presOf" srcId="{7F7A73E2-8AA9-FA4D-99BE-147847048614}" destId="{A340FE08-9D0E-2A41-88C8-A943B72A4D40}" srcOrd="0" destOrd="0" presId="urn:microsoft.com/office/officeart/2005/8/layout/process5"/>
    <dgm:cxn modelId="{A4BF1CF2-363E-664F-8427-E942CF62F976}" type="presOf" srcId="{F66BF845-7662-4746-8ACD-E5C787B87F48}" destId="{6D278FE4-2830-094C-9B2D-FDE00A97B001}" srcOrd="0" destOrd="0" presId="urn:microsoft.com/office/officeart/2005/8/layout/process5"/>
    <dgm:cxn modelId="{A8663DE3-D0C9-9D42-A085-D0EF24BE5EC9}" type="presParOf" srcId="{2C129813-6987-C24A-9EA7-7CAB4548B011}" destId="{6D278FE4-2830-094C-9B2D-FDE00A97B001}" srcOrd="0" destOrd="0" presId="urn:microsoft.com/office/officeart/2005/8/layout/process5"/>
    <dgm:cxn modelId="{1192DDEF-D22C-C041-A35F-BE93DC1C8966}" type="presParOf" srcId="{2C129813-6987-C24A-9EA7-7CAB4548B011}" destId="{2045A403-AD5B-844C-A49A-439FA6B62612}" srcOrd="1" destOrd="0" presId="urn:microsoft.com/office/officeart/2005/8/layout/process5"/>
    <dgm:cxn modelId="{96A211DF-9DBF-014F-9A9B-E4ADDC6B9892}" type="presParOf" srcId="{2045A403-AD5B-844C-A49A-439FA6B62612}" destId="{FC8980D7-B263-6440-BBE7-077F511CA27C}" srcOrd="0" destOrd="0" presId="urn:microsoft.com/office/officeart/2005/8/layout/process5"/>
    <dgm:cxn modelId="{20449A86-AFC2-784F-A2B2-63B75248CF1F}" type="presParOf" srcId="{2C129813-6987-C24A-9EA7-7CAB4548B011}" destId="{A340FE08-9D0E-2A41-88C8-A943B72A4D40}" srcOrd="2" destOrd="0" presId="urn:microsoft.com/office/officeart/2005/8/layout/process5"/>
    <dgm:cxn modelId="{6113BEE0-4239-874D-8DB8-7BE092FF2A21}" type="presParOf" srcId="{2C129813-6987-C24A-9EA7-7CAB4548B011}" destId="{5606860A-6CD0-7541-B841-67627C3C3074}" srcOrd="3" destOrd="0" presId="urn:microsoft.com/office/officeart/2005/8/layout/process5"/>
    <dgm:cxn modelId="{DD6EC076-6D58-E246-B5D9-D6A2C1D02519}" type="presParOf" srcId="{5606860A-6CD0-7541-B841-67627C3C3074}" destId="{AF4B0300-6EB7-B149-BCFA-7BF21BF58F78}" srcOrd="0" destOrd="0" presId="urn:microsoft.com/office/officeart/2005/8/layout/process5"/>
    <dgm:cxn modelId="{5DB300D7-5694-124B-A116-A454601C8949}" type="presParOf" srcId="{2C129813-6987-C24A-9EA7-7CAB4548B011}" destId="{B8C735FD-92AF-EF4D-9482-CD83DD2FCA38}" srcOrd="4" destOrd="0" presId="urn:microsoft.com/office/officeart/2005/8/layout/process5"/>
    <dgm:cxn modelId="{297B2A75-5965-914B-907A-68C3BDC79622}" type="presParOf" srcId="{2C129813-6987-C24A-9EA7-7CAB4548B011}" destId="{EC7C65B0-ADDA-D549-B2AB-0BA3D3217BFD}" srcOrd="5" destOrd="0" presId="urn:microsoft.com/office/officeart/2005/8/layout/process5"/>
    <dgm:cxn modelId="{8A7215DA-2882-E444-9280-9C52168B6CF1}" type="presParOf" srcId="{EC7C65B0-ADDA-D549-B2AB-0BA3D3217BFD}" destId="{C3C0E6E7-4F67-AA43-80DF-A5025C99A577}" srcOrd="0" destOrd="0" presId="urn:microsoft.com/office/officeart/2005/8/layout/process5"/>
    <dgm:cxn modelId="{5FA76554-9C03-F343-B6D3-901D1D7029D0}" type="presParOf" srcId="{2C129813-6987-C24A-9EA7-7CAB4548B011}" destId="{6C0F9CF3-E462-284F-9C0F-82BCC11207A9}" srcOrd="6" destOrd="0" presId="urn:microsoft.com/office/officeart/2005/8/layout/process5"/>
    <dgm:cxn modelId="{0999CBE2-1AFB-174E-A48F-B8A135162A39}" type="presParOf" srcId="{2C129813-6987-C24A-9EA7-7CAB4548B011}" destId="{CF993286-6E85-AE4E-995F-585953043255}" srcOrd="7" destOrd="0" presId="urn:microsoft.com/office/officeart/2005/8/layout/process5"/>
    <dgm:cxn modelId="{6448AF9C-A690-144E-8B76-C61A4BDA1845}" type="presParOf" srcId="{CF993286-6E85-AE4E-995F-585953043255}" destId="{81DB78C7-F1C4-0A49-A066-190C288901D5}" srcOrd="0" destOrd="0" presId="urn:microsoft.com/office/officeart/2005/8/layout/process5"/>
    <dgm:cxn modelId="{74B8490F-03E8-9D40-A0B5-AE7AFEBB6F70}" type="presParOf" srcId="{2C129813-6987-C24A-9EA7-7CAB4548B011}" destId="{E0F13E2E-B043-BA40-AA56-6BE3F6ACF5EE}" srcOrd="8" destOrd="0" presId="urn:microsoft.com/office/officeart/2005/8/layout/process5"/>
    <dgm:cxn modelId="{461CB895-94FF-334A-B0D1-81B5DCF5B06E}" type="presParOf" srcId="{2C129813-6987-C24A-9EA7-7CAB4548B011}" destId="{81E12D70-5779-034E-ADF8-1C11FA724D34}" srcOrd="9" destOrd="0" presId="urn:microsoft.com/office/officeart/2005/8/layout/process5"/>
    <dgm:cxn modelId="{613D2227-43EA-644F-8F7F-09BF7DC5AB64}" type="presParOf" srcId="{81E12D70-5779-034E-ADF8-1C11FA724D34}" destId="{5E3C6E40-3D21-B946-AEE7-1907309F7EDA}" srcOrd="0" destOrd="0" presId="urn:microsoft.com/office/officeart/2005/8/layout/process5"/>
    <dgm:cxn modelId="{4E14DD85-CE78-0542-B86E-BD97132A8208}" type="presParOf" srcId="{2C129813-6987-C24A-9EA7-7CAB4548B011}" destId="{70F9008A-CB09-4F43-B7A9-09C92361BB1B}" srcOrd="10"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278FE4-2830-094C-9B2D-FDE00A97B001}">
      <dsp:nvSpPr>
        <dsp:cNvPr id="0" name=""/>
        <dsp:cNvSpPr/>
      </dsp:nvSpPr>
      <dsp:spPr>
        <a:xfrm>
          <a:off x="7823" y="1018709"/>
          <a:ext cx="2338262" cy="140295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Took ZHVI data, dropped MiSAs, keeping only MSAs</a:t>
          </a:r>
        </a:p>
      </dsp:txBody>
      <dsp:txXfrm>
        <a:off x="48914" y="1059800"/>
        <a:ext cx="2256080" cy="1320775"/>
      </dsp:txXfrm>
    </dsp:sp>
    <dsp:sp modelId="{2045A403-AD5B-844C-A49A-439FA6B62612}">
      <dsp:nvSpPr>
        <dsp:cNvPr id="0" name=""/>
        <dsp:cNvSpPr/>
      </dsp:nvSpPr>
      <dsp:spPr>
        <a:xfrm>
          <a:off x="2551852" y="1430243"/>
          <a:ext cx="495711" cy="5798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551852" y="1546221"/>
        <a:ext cx="346998" cy="347933"/>
      </dsp:txXfrm>
    </dsp:sp>
    <dsp:sp modelId="{A340FE08-9D0E-2A41-88C8-A943B72A4D40}">
      <dsp:nvSpPr>
        <dsp:cNvPr id="0" name=""/>
        <dsp:cNvSpPr/>
      </dsp:nvSpPr>
      <dsp:spPr>
        <a:xfrm>
          <a:off x="3281390" y="1018709"/>
          <a:ext cx="2338262" cy="140295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Took venue data, matched 2000-2025 window, merged using normalized metro names</a:t>
          </a:r>
        </a:p>
      </dsp:txBody>
      <dsp:txXfrm>
        <a:off x="3322481" y="1059800"/>
        <a:ext cx="2256080" cy="1320775"/>
      </dsp:txXfrm>
    </dsp:sp>
    <dsp:sp modelId="{5606860A-6CD0-7541-B841-67627C3C3074}">
      <dsp:nvSpPr>
        <dsp:cNvPr id="0" name=""/>
        <dsp:cNvSpPr/>
      </dsp:nvSpPr>
      <dsp:spPr>
        <a:xfrm>
          <a:off x="5825419" y="1430243"/>
          <a:ext cx="495711" cy="5798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825419" y="1546221"/>
        <a:ext cx="346998" cy="347933"/>
      </dsp:txXfrm>
    </dsp:sp>
    <dsp:sp modelId="{B8C735FD-92AF-EF4D-9482-CD83DD2FCA38}">
      <dsp:nvSpPr>
        <dsp:cNvPr id="0" name=""/>
        <dsp:cNvSpPr/>
      </dsp:nvSpPr>
      <dsp:spPr>
        <a:xfrm>
          <a:off x="6554957" y="1018709"/>
          <a:ext cx="2338262" cy="140295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dirty="0"/>
            <a:t>For the few metros have  &gt;1 venue openings between 2000-2025, kept the earliest opening to avoid duplicating post months</a:t>
          </a:r>
        </a:p>
      </dsp:txBody>
      <dsp:txXfrm>
        <a:off x="6596048" y="1059800"/>
        <a:ext cx="2256080" cy="1320775"/>
      </dsp:txXfrm>
    </dsp:sp>
    <dsp:sp modelId="{EC7C65B0-ADDA-D549-B2AB-0BA3D3217BFD}">
      <dsp:nvSpPr>
        <dsp:cNvPr id="0" name=""/>
        <dsp:cNvSpPr/>
      </dsp:nvSpPr>
      <dsp:spPr>
        <a:xfrm rot="5400000">
          <a:off x="7476232" y="2585344"/>
          <a:ext cx="495711" cy="5798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7550122" y="2627433"/>
        <a:ext cx="347933" cy="346998"/>
      </dsp:txXfrm>
    </dsp:sp>
    <dsp:sp modelId="{6C0F9CF3-E462-284F-9C0F-82BCC11207A9}">
      <dsp:nvSpPr>
        <dsp:cNvPr id="0" name=""/>
        <dsp:cNvSpPr/>
      </dsp:nvSpPr>
      <dsp:spPr>
        <a:xfrm>
          <a:off x="6554957" y="3356971"/>
          <a:ext cx="2338262" cy="140295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u="sng" kern="1200" dirty="0"/>
            <a:t>Built a metro–month panel (2000–2025) that pairs Zillow home values with the earliest major-league venue opening and its costs</a:t>
          </a:r>
          <a:endParaRPr lang="en-US" sz="1400" u="sng" kern="1200" dirty="0"/>
        </a:p>
      </dsp:txBody>
      <dsp:txXfrm>
        <a:off x="6596048" y="3398062"/>
        <a:ext cx="2256080" cy="1320775"/>
      </dsp:txXfrm>
    </dsp:sp>
    <dsp:sp modelId="{CF993286-6E85-AE4E-995F-585953043255}">
      <dsp:nvSpPr>
        <dsp:cNvPr id="0" name=""/>
        <dsp:cNvSpPr/>
      </dsp:nvSpPr>
      <dsp:spPr>
        <a:xfrm rot="10800000">
          <a:off x="5853478" y="3768505"/>
          <a:ext cx="495711" cy="5798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6002191" y="3884483"/>
        <a:ext cx="346998" cy="347933"/>
      </dsp:txXfrm>
    </dsp:sp>
    <dsp:sp modelId="{E0F13E2E-B043-BA40-AA56-6BE3F6ACF5EE}">
      <dsp:nvSpPr>
        <dsp:cNvPr id="0" name=""/>
        <dsp:cNvSpPr/>
      </dsp:nvSpPr>
      <dsp:spPr>
        <a:xfrm>
          <a:off x="3281390" y="3356971"/>
          <a:ext cx="2338262" cy="140295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u="sng" kern="1200" dirty="0"/>
            <a:t>377 Metros, 309 months, 105,824 total observations</a:t>
          </a:r>
          <a:endParaRPr lang="en-US" sz="1400" b="0" u="sng" kern="1200" dirty="0"/>
        </a:p>
      </dsp:txBody>
      <dsp:txXfrm>
        <a:off x="3322481" y="3398062"/>
        <a:ext cx="2256080" cy="1320775"/>
      </dsp:txXfrm>
    </dsp:sp>
    <dsp:sp modelId="{81E12D70-5779-034E-ADF8-1C11FA724D34}">
      <dsp:nvSpPr>
        <dsp:cNvPr id="0" name=""/>
        <dsp:cNvSpPr/>
      </dsp:nvSpPr>
      <dsp:spPr>
        <a:xfrm rot="10800000">
          <a:off x="2579911" y="3768505"/>
          <a:ext cx="495711" cy="5798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2728624" y="3884483"/>
        <a:ext cx="346998" cy="347933"/>
      </dsp:txXfrm>
    </dsp:sp>
    <dsp:sp modelId="{70F9008A-CB09-4F43-B7A9-09C92361BB1B}">
      <dsp:nvSpPr>
        <dsp:cNvPr id="0" name=""/>
        <dsp:cNvSpPr/>
      </dsp:nvSpPr>
      <dsp:spPr>
        <a:xfrm>
          <a:off x="7823" y="3356971"/>
          <a:ext cx="2338262" cy="140295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Some metro-months have missing ZHVI, so we remove those before modeling</a:t>
          </a:r>
        </a:p>
      </dsp:txBody>
      <dsp:txXfrm>
        <a:off x="48914" y="3398062"/>
        <a:ext cx="2256080" cy="1320775"/>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4AE168-1E86-F24A-90B3-CCEBECE7259A}" type="datetimeFigureOut">
              <a:rPr lang="en-US" smtClean="0"/>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F4DFB-297D-1045-A3AB-C5A7AFD16437}" type="slidenum">
              <a:rPr lang="en-US" smtClean="0"/>
              <a:t>‹#›</a:t>
            </a:fld>
            <a:endParaRPr lang="en-US"/>
          </a:p>
        </p:txBody>
      </p:sp>
    </p:spTree>
    <p:extLst>
      <p:ext uri="{BB962C8B-B14F-4D97-AF65-F5344CB8AC3E}">
        <p14:creationId xmlns:p14="http://schemas.microsoft.com/office/powerpoint/2010/main" val="2228959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oogle.com/search?q=difference-in-differences+%28DiD%29+model&amp;rlz=1C5OZZY_enUS1163US1164&amp;oq=t&amp;gs_lcrp=EgZjaHJvbWUqDggAEEUYJxg7GIAEGIoFMg4IABBFGCcYOxiABBiKBTIGCAEQRRg7MhMIAhAuGIMBGMcBGLEDGNEDGIAEMgYIAxBFGEAyBggEEEUYPDIGCAUQRRg8MgYIBhBFGDwyBggHEEUYPNIBBzgxNWowajeoAgCwAgA&amp;sourceid=chrome&amp;ie=UTF-8&amp;mstk=AUtExfAUQBzQ0HinkiM4pftM4gtqZSuHwADKmAlvBMkvu5_XVAP-K3xEcZvTuiUDJhkMsJDfHF2CQn7ubx8YrvtlUT4TlD4UZkravpJcQhDER4Zh8m5qSlSGTLnnU_jFN-pZPYdCm23x3SFuiiPTOd3whWSA4XcZC6J1Uy1Ax1CtpqZ6lTs&amp;csui=3&amp;ved=2ahUKEwiHkMfGh5mRAxUvD1kFHf3LMiYQgK4QegQIARAE"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www.google.com/search?q=difference-in-differences+%28DiD%29+model&amp;rlz=1C5OZZY_enUS1163US1164&amp;oq=t&amp;gs_lcrp=EgZjaHJvbWUqDggAEEUYJxg7GIAEGIoFMg4IABBFGCcYOxiABBiKBTIGCAEQRRg7MhMIAhAuGIMBGMcBGLEDGNEDGIAEMgYIAxBFGEAyBggEEEUYPDIGCAUQRRg8MgYIBhBFGDwyBggHEEUYPNIBBzgxNWowajeoAgCwAgA&amp;sourceid=chrome&amp;ie=UTF-8&amp;mstk=AUtExfAUQBzQ0HinkiM4pftM4gtqZSuHwADKmAlvBMkvu5_XVAP-K3xEcZvTuiUDJhkMsJDfHF2CQn7ubx8YrvtlUT4TlD4UZkravpJcQhDER4Zh8m5qSlSGTLnnU_jFN-pZPYdCm23x3SFuiiPTOd3whWSA4XcZC6J1Uy1Ax1CtpqZ6lTs&amp;csui=3&amp;ved=2ahUKEwiHkMfGh5mRAxUvD1kFHf3LMiYQgK4QegQIARAE"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1</a:t>
            </a:fld>
            <a:endParaRPr lang="en-US"/>
          </a:p>
        </p:txBody>
      </p:sp>
    </p:spTree>
    <p:extLst>
      <p:ext uri="{BB962C8B-B14F-4D97-AF65-F5344CB8AC3E}">
        <p14:creationId xmlns:p14="http://schemas.microsoft.com/office/powerpoint/2010/main" val="3163245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 Review</a:t>
            </a:r>
          </a:p>
        </p:txBody>
      </p:sp>
      <p:sp>
        <p:nvSpPr>
          <p:cNvPr id="4" name="Slide Number Placeholder 3"/>
          <p:cNvSpPr>
            <a:spLocks noGrp="1"/>
          </p:cNvSpPr>
          <p:nvPr>
            <p:ph type="sldNum" sz="quarter" idx="5"/>
          </p:nvPr>
        </p:nvSpPr>
        <p:spPr/>
        <p:txBody>
          <a:bodyPr/>
          <a:lstStyle/>
          <a:p>
            <a:fld id="{4EEF4DFB-297D-1045-A3AB-C5A7AFD16437}" type="slidenum">
              <a:rPr lang="en-US" smtClean="0"/>
              <a:t>4</a:t>
            </a:fld>
            <a:endParaRPr lang="en-US"/>
          </a:p>
        </p:txBody>
      </p:sp>
    </p:spTree>
    <p:extLst>
      <p:ext uri="{BB962C8B-B14F-4D97-AF65-F5344CB8AC3E}">
        <p14:creationId xmlns:p14="http://schemas.microsoft.com/office/powerpoint/2010/main" val="86804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6</a:t>
            </a:fld>
            <a:endParaRPr lang="en-US"/>
          </a:p>
        </p:txBody>
      </p:sp>
    </p:spTree>
    <p:extLst>
      <p:ext uri="{BB962C8B-B14F-4D97-AF65-F5344CB8AC3E}">
        <p14:creationId xmlns:p14="http://schemas.microsoft.com/office/powerpoint/2010/main" val="773621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7</a:t>
            </a:fld>
            <a:endParaRPr lang="en-US"/>
          </a:p>
        </p:txBody>
      </p:sp>
    </p:spTree>
    <p:extLst>
      <p:ext uri="{BB962C8B-B14F-4D97-AF65-F5344CB8AC3E}">
        <p14:creationId xmlns:p14="http://schemas.microsoft.com/office/powerpoint/2010/main" val="2250572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Arenas dominate in count, but stadiums dominate in cost.</a:t>
            </a:r>
          </a:p>
        </p:txBody>
      </p:sp>
      <p:sp>
        <p:nvSpPr>
          <p:cNvPr id="4" name="Slide Number Placeholder 3"/>
          <p:cNvSpPr>
            <a:spLocks noGrp="1"/>
          </p:cNvSpPr>
          <p:nvPr>
            <p:ph type="sldNum" sz="quarter" idx="5"/>
          </p:nvPr>
        </p:nvSpPr>
        <p:spPr/>
        <p:txBody>
          <a:bodyPr/>
          <a:lstStyle/>
          <a:p>
            <a:fld id="{4EEF4DFB-297D-1045-A3AB-C5A7AFD16437}" type="slidenum">
              <a:rPr lang="en-US" smtClean="0"/>
              <a:t>10</a:t>
            </a:fld>
            <a:endParaRPr lang="en-US"/>
          </a:p>
        </p:txBody>
      </p:sp>
    </p:spTree>
    <p:extLst>
      <p:ext uri="{BB962C8B-B14F-4D97-AF65-F5344CB8AC3E}">
        <p14:creationId xmlns:p14="http://schemas.microsoft.com/office/powerpoint/2010/main" val="2654735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Classic </a:t>
                </a:r>
                <a:r>
                  <a:rPr lang="en-US" b="1" dirty="0" err="1"/>
                  <a:t>DiD</a:t>
                </a:r>
                <a:r>
                  <a:rPr lang="en-US" b="1" dirty="0"/>
                  <a:t> (the simple 2×2 case)</a:t>
                </a:r>
              </a:p>
              <a:p>
                <a:endParaRPr lang="en-US" dirty="0"/>
              </a:p>
              <a:p>
                <a:r>
                  <a:rPr lang="en-US" dirty="0"/>
                  <a:t>The textbook </a:t>
                </a:r>
                <a:r>
                  <a:rPr lang="en-US" dirty="0" err="1"/>
                  <a:t>DiD</a:t>
                </a:r>
                <a:r>
                  <a:rPr lang="en-US" dirty="0"/>
                  <a:t> setup is: </a:t>
                </a:r>
              </a:p>
              <a:p>
                <a:pPr marL="171450" indent="-171450">
                  <a:buFontTx/>
                  <a:buChar char="-"/>
                </a:pPr>
                <a:r>
                  <a:rPr lang="en-US" dirty="0"/>
                  <a:t>2 groups: treated vs control</a:t>
                </a:r>
              </a:p>
              <a:p>
                <a:pPr marL="171450" indent="-171450">
                  <a:buFontTx/>
                  <a:buChar char="-"/>
                </a:pPr>
                <a:r>
                  <a:rPr lang="en-US" dirty="0"/>
                  <a:t>2 periods: before vs after</a:t>
                </a:r>
              </a:p>
              <a:p>
                <a:pPr marL="171450" indent="-171450">
                  <a:buFontTx/>
                  <a:buChar char="-"/>
                </a:pPr>
                <a:r>
                  <a:rPr lang="en-US" dirty="0"/>
                  <a:t>1</a:t>
                </a:r>
                <a:r>
                  <a:rPr lang="en-US" baseline="0" dirty="0"/>
                  <a:t> </a:t>
                </a:r>
                <a:r>
                  <a:rPr lang="en-US" dirty="0"/>
                  <a:t>treatment shock that hits the treated group in the second period only:</a:t>
                </a:r>
              </a:p>
              <a:p>
                <a:pPr marL="171450" indent="-171450">
                  <a:buFontTx/>
                  <a:buChar char="-"/>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𝑖𝑡</m:t>
                        </m:r>
                      </m:sub>
                    </m:sSub>
                  </m:oMath>
                </a14:m>
                <a:r>
                  <a:rPr lang="en-US" baseline="0" dirty="0"/>
                  <a:t>=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rPr>
                          <m:t>1</m:t>
                        </m:r>
                      </m:sub>
                    </m:sSub>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𝑇𝑟𝑒𝑎𝑡𝑒𝑑</m:t>
                        </m:r>
                      </m:e>
                      <m:sub>
                        <m:r>
                          <a:rPr lang="en-US" sz="1200" b="0" i="1" smtClean="0">
                            <a:latin typeface="Cambria Math" panose="02040503050406030204" pitchFamily="18" charset="0"/>
                          </a:rPr>
                          <m:t>𝑖</m:t>
                        </m:r>
                      </m:sub>
                    </m:sSub>
                    <m:r>
                      <m:rPr>
                        <m:nor/>
                      </m:rPr>
                      <a:rPr lang="en-US" sz="1200"/>
                      <m:t>·</m:t>
                    </m:r>
                    <m:sSub>
                      <m:sSubPr>
                        <m:ctrlPr>
                          <a:rPr lang="el-GR" sz="1200" i="1" dirty="0" smtClean="0">
                            <a:latin typeface="Cambria Math" panose="02040503050406030204" pitchFamily="18" charset="0"/>
                          </a:rPr>
                        </m:ctrlPr>
                      </m:sSubPr>
                      <m:e>
                        <m:r>
                          <a:rPr lang="en-US" sz="1200" b="0" i="1" dirty="0" smtClean="0">
                            <a:latin typeface="Cambria Math" panose="02040503050406030204" pitchFamily="18" charset="0"/>
                          </a:rPr>
                          <m:t>𝑃𝑜𝑠𝑡</m:t>
                        </m:r>
                      </m:e>
                      <m:sub>
                        <m:r>
                          <a:rPr lang="en-US" sz="1200" b="0" i="1" dirty="0" smtClean="0">
                            <a:latin typeface="Cambria Math" panose="02040503050406030204" pitchFamily="18" charset="0"/>
                          </a:rPr>
                          <m:t>𝑖𝑡</m:t>
                        </m:r>
                      </m:sub>
                    </m:sSub>
                  </m:oMath>
                </a14:m>
                <a:r>
                  <a:rPr lang="en-US" dirty="0"/>
                  <a:t>)</a:t>
                </a:r>
                <a:r>
                  <a:rPr lang="en-US" baseline="0" dirty="0"/>
                  <a:t> + </a:t>
                </a:r>
                <a14:m>
                  <m:oMath xmlns:m="http://schemas.openxmlformats.org/officeDocument/2006/math">
                    <m:sSub>
                      <m:sSubPr>
                        <m:ctrlPr>
                          <a:rPr lang="el-GR" sz="1200" i="1" dirty="0" smtClean="0">
                            <a:latin typeface="Cambria Math" panose="02040503050406030204" pitchFamily="18" charset="0"/>
                          </a:rPr>
                        </m:ctrlPr>
                      </m:sSubPr>
                      <m:e>
                        <m:r>
                          <m:rPr>
                            <m:nor/>
                          </m:rPr>
                          <a:rPr lang="el-GR" sz="1200"/>
                          <m:t>ϵ</m:t>
                        </m:r>
                      </m:e>
                      <m:sub>
                        <m:r>
                          <a:rPr lang="en-US" sz="1200" i="1" dirty="0">
                            <a:latin typeface="Cambria Math" panose="02040503050406030204" pitchFamily="18" charset="0"/>
                          </a:rPr>
                          <m:t>𝑖</m:t>
                        </m:r>
                        <m:r>
                          <a:rPr lang="en-US" sz="1200" i="1" dirty="0">
                            <a:latin typeface="Cambria Math" panose="02040503050406030204" pitchFamily="18" charset="0"/>
                          </a:rPr>
                          <m:t>,</m:t>
                        </m:r>
                        <m:r>
                          <a:rPr lang="en-US" sz="1200" i="1" dirty="0">
                            <a:latin typeface="Cambria Math" panose="02040503050406030204" pitchFamily="18" charset="0"/>
                          </a:rPr>
                          <m:t>𝑡</m:t>
                        </m:r>
                      </m:sub>
                    </m:sSub>
                  </m:oMath>
                </a14:m>
                <a:r>
                  <a:rPr lang="en-US" dirty="0"/>
                  <a:t>, where</a:t>
                </a:r>
                <a:r>
                  <a:rPr lang="en-US" baseline="0" dirty="0"/>
                  <a:t>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𝑇𝑟𝑒𝑎𝑡𝑒𝑑</m:t>
                        </m:r>
                      </m:e>
                      <m:sub>
                        <m:r>
                          <a:rPr lang="en-US" sz="1200" b="0" i="1" smtClean="0">
                            <a:latin typeface="Cambria Math" panose="02040503050406030204" pitchFamily="18" charset="0"/>
                          </a:rPr>
                          <m:t>𝑖</m:t>
                        </m:r>
                      </m:sub>
                    </m:sSub>
                    <m:r>
                      <m:rPr>
                        <m:nor/>
                      </m:rPr>
                      <a:rPr lang="en-US" sz="1200"/>
                      <m:t>·</m:t>
                    </m:r>
                    <m:sSub>
                      <m:sSubPr>
                        <m:ctrlPr>
                          <a:rPr lang="el-GR" sz="1200" i="1" dirty="0" smtClean="0">
                            <a:latin typeface="Cambria Math" panose="02040503050406030204" pitchFamily="18" charset="0"/>
                          </a:rPr>
                        </m:ctrlPr>
                      </m:sSubPr>
                      <m:e>
                        <m:r>
                          <a:rPr lang="en-US" sz="1200" b="0" i="1" dirty="0" smtClean="0">
                            <a:latin typeface="Cambria Math" panose="02040503050406030204" pitchFamily="18" charset="0"/>
                          </a:rPr>
                          <m:t>𝑃𝑜𝑠𝑡</m:t>
                        </m:r>
                      </m:e>
                      <m:sub>
                        <m:r>
                          <a:rPr lang="en-US" sz="1200" b="0" i="1" dirty="0" smtClean="0">
                            <a:latin typeface="Cambria Math" panose="02040503050406030204" pitchFamily="18" charset="0"/>
                          </a:rPr>
                          <m:t>𝑖𝑡</m:t>
                        </m:r>
                      </m:sub>
                    </m:sSub>
                  </m:oMath>
                </a14:m>
                <a:r>
                  <a:rPr lang="en-US" dirty="0"/>
                  <a:t> is the </a:t>
                </a:r>
                <a:r>
                  <a:rPr lang="en-US" dirty="0" err="1"/>
                  <a:t>DiD</a:t>
                </a:r>
                <a:r>
                  <a:rPr lang="en-US" dirty="0"/>
                  <a:t> =</a:t>
                </a:r>
                <a:r>
                  <a:rPr lang="en-US" baseline="0" dirty="0"/>
                  <a:t> Change in treated – Change in control. The </a:t>
                </a:r>
                <a:r>
                  <a:rPr lang="en-US" baseline="0" dirty="0" err="1"/>
                  <a:t>DiD</a:t>
                </a:r>
                <a:r>
                  <a:rPr lang="en-US" baseline="0" dirty="0"/>
                  <a:t> compares how much outcomes move over time for treated vs. untreated</a:t>
                </a:r>
                <a:endParaRPr lang="en-US" dirty="0"/>
              </a:p>
              <a:p>
                <a:endParaRPr lang="en-US" dirty="0"/>
              </a:p>
              <a:p>
                <a:r>
                  <a:rPr lang="en-US" dirty="0"/>
                  <a:t>TWFE as a generalization: now imagine</a:t>
                </a:r>
              </a:p>
              <a:p>
                <a:pPr marL="171450" indent="-171450">
                  <a:buFontTx/>
                  <a:buChar char="-"/>
                </a:pPr>
                <a:r>
                  <a:rPr lang="en-US" dirty="0"/>
                  <a:t>Many groups (metros)</a:t>
                </a:r>
              </a:p>
              <a:p>
                <a:pPr marL="171450" indent="-171450">
                  <a:buFontTx/>
                  <a:buChar char="-"/>
                </a:pPr>
                <a:r>
                  <a:rPr lang="en-US" dirty="0"/>
                  <a:t>Many time periods (months)</a:t>
                </a:r>
              </a:p>
              <a:p>
                <a:pPr marL="171450" indent="-171450">
                  <a:buFontTx/>
                  <a:buChar char="-"/>
                </a:pPr>
                <a:r>
                  <a:rPr lang="en-US" dirty="0"/>
                  <a:t>Some groups get treated, some never do</a:t>
                </a:r>
              </a:p>
              <a:p>
                <a:pPr marL="171450" indent="-171450">
                  <a:buFontTx/>
                  <a:buChar char="-"/>
                </a:pPr>
                <a:r>
                  <a:rPr lang="en-US" dirty="0"/>
                  <a:t>Some groups get treated earlier, some later (staggered)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𝑖𝑡</m:t>
                        </m:r>
                      </m:sub>
                    </m:sSub>
                    <m:r>
                      <a:rPr lang="en-US"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rPr>
                          <m:t>1</m:t>
                        </m:r>
                      </m:sub>
                    </m:sSub>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𝑇𝑟𝑒𝑎𝑡𝑒𝑑</m:t>
                        </m:r>
                      </m:e>
                      <m:sub>
                        <m:r>
                          <a:rPr lang="en-US" sz="1200" b="0" i="1" smtClean="0">
                            <a:latin typeface="Cambria Math" panose="02040503050406030204" pitchFamily="18" charset="0"/>
                          </a:rPr>
                          <m:t>𝑖</m:t>
                        </m:r>
                      </m:sub>
                    </m:sSub>
                    <m:r>
                      <m:rPr>
                        <m:nor/>
                      </m:rPr>
                      <a:rPr lang="en-US" sz="1200"/>
                      <m:t>·</m:t>
                    </m:r>
                    <m:sSub>
                      <m:sSubPr>
                        <m:ctrlPr>
                          <a:rPr lang="el-GR" sz="1200" i="1" dirty="0" smtClean="0">
                            <a:latin typeface="Cambria Math" panose="02040503050406030204" pitchFamily="18" charset="0"/>
                          </a:rPr>
                        </m:ctrlPr>
                      </m:sSubPr>
                      <m:e>
                        <m:r>
                          <a:rPr lang="en-US" sz="1200" b="0" i="1" dirty="0" smtClean="0">
                            <a:latin typeface="Cambria Math" panose="02040503050406030204" pitchFamily="18" charset="0"/>
                          </a:rPr>
                          <m:t>𝑃𝑜𝑠𝑡</m:t>
                        </m:r>
                      </m:e>
                      <m:sub>
                        <m:r>
                          <a:rPr lang="en-US" sz="1200" b="0" i="1" dirty="0" smtClean="0">
                            <a:latin typeface="Cambria Math" panose="02040503050406030204" pitchFamily="18" charset="0"/>
                          </a:rPr>
                          <m:t>𝑖𝑡</m:t>
                        </m:r>
                      </m:sub>
                    </m:sSub>
                  </m:oMath>
                </a14:m>
                <a:r>
                  <a:rPr lang="en-US" sz="1200" dirty="0"/>
                  <a:t>)</a:t>
                </a:r>
                <a:r>
                  <a:rPr lang="el-GR" sz="1200" dirty="0"/>
                  <a:t> </a:t>
                </a:r>
                <a:r>
                  <a:rPr lang="en-US" sz="1200" dirty="0"/>
                  <a:t>+ </a:t>
                </a:r>
                <a14:m>
                  <m:oMath xmlns:m="http://schemas.openxmlformats.org/officeDocument/2006/math">
                    <m:sSub>
                      <m:sSubPr>
                        <m:ctrlPr>
                          <a:rPr lang="el-GR" sz="1200" i="1" dirty="0">
                            <a:latin typeface="Cambria Math" panose="02040503050406030204" pitchFamily="18" charset="0"/>
                          </a:rPr>
                        </m:ctrlPr>
                      </m:sSubPr>
                      <m:e>
                        <m:r>
                          <a:rPr lang="en-US" sz="1200" i="1" dirty="0">
                            <a:latin typeface="Cambria Math" panose="02040503050406030204" pitchFamily="18" charset="0"/>
                          </a:rPr>
                          <m:t>𝑎</m:t>
                        </m:r>
                      </m:e>
                      <m:sub>
                        <m:r>
                          <a:rPr lang="en-US" sz="1200" i="1" dirty="0">
                            <a:latin typeface="Cambria Math" panose="02040503050406030204" pitchFamily="18" charset="0"/>
                          </a:rPr>
                          <m:t>𝑖</m:t>
                        </m:r>
                        <m:r>
                          <a:rPr lang="en-US" sz="1200" i="1" dirty="0">
                            <a:latin typeface="Cambria Math" panose="02040503050406030204" pitchFamily="18" charset="0"/>
                          </a:rPr>
                          <m:t> </m:t>
                        </m:r>
                      </m:sub>
                    </m:sSub>
                    <m:r>
                      <a:rPr lang="en-US" sz="1200" i="1" dirty="0">
                        <a:latin typeface="Cambria Math" panose="02040503050406030204" pitchFamily="18" charset="0"/>
                      </a:rPr>
                      <m:t>+</m:t>
                    </m:r>
                    <m:sSub>
                      <m:sSubPr>
                        <m:ctrlPr>
                          <a:rPr lang="el-GR" sz="1200" i="1" dirty="0">
                            <a:latin typeface="Cambria Math" panose="02040503050406030204" pitchFamily="18" charset="0"/>
                          </a:rPr>
                        </m:ctrlPr>
                      </m:sSubPr>
                      <m:e>
                        <m:r>
                          <m:rPr>
                            <m:nor/>
                          </m:rPr>
                          <a:rPr lang="el-GR" sz="1200"/>
                          <m:t> </m:t>
                        </m:r>
                        <m:r>
                          <m:rPr>
                            <m:nor/>
                          </m:rPr>
                          <a:rPr lang="el-GR" sz="1200"/>
                          <m:t>ω</m:t>
                        </m:r>
                      </m:e>
                      <m:sub>
                        <m:r>
                          <a:rPr lang="en-US" sz="1200" i="1" dirty="0">
                            <a:latin typeface="Cambria Math" panose="02040503050406030204" pitchFamily="18" charset="0"/>
                          </a:rPr>
                          <m:t>𝑡</m:t>
                        </m:r>
                      </m:sub>
                    </m:sSub>
                    <m:r>
                      <a:rPr lang="en-US" sz="1200" i="1" dirty="0">
                        <a:latin typeface="Cambria Math" panose="02040503050406030204" pitchFamily="18" charset="0"/>
                      </a:rPr>
                      <m:t>+</m:t>
                    </m:r>
                    <m:sSub>
                      <m:sSubPr>
                        <m:ctrlPr>
                          <a:rPr lang="el-GR" sz="1200" i="1" dirty="0">
                            <a:latin typeface="Cambria Math" panose="02040503050406030204" pitchFamily="18" charset="0"/>
                          </a:rPr>
                        </m:ctrlPr>
                      </m:sSubPr>
                      <m:e>
                        <m:r>
                          <m:rPr>
                            <m:nor/>
                          </m:rPr>
                          <a:rPr lang="el-GR" sz="1200"/>
                          <m:t>ϵ</m:t>
                        </m:r>
                      </m:e>
                      <m:sub>
                        <m:r>
                          <a:rPr lang="en-US" sz="1200" i="1" dirty="0">
                            <a:latin typeface="Cambria Math" panose="02040503050406030204" pitchFamily="18" charset="0"/>
                          </a:rPr>
                          <m:t>𝑖</m:t>
                        </m:r>
                        <m:r>
                          <a:rPr lang="en-US" sz="1200" i="1" dirty="0">
                            <a:latin typeface="Cambria Math" panose="02040503050406030204" pitchFamily="18" charset="0"/>
                          </a:rPr>
                          <m:t>,</m:t>
                        </m:r>
                        <m:r>
                          <a:rPr lang="en-US" sz="1200" i="1" dirty="0">
                            <a:latin typeface="Cambria Math" panose="02040503050406030204" pitchFamily="18" charset="0"/>
                          </a:rPr>
                          <m:t>𝑡</m:t>
                        </m:r>
                      </m:sub>
                    </m:sSub>
                  </m:oMath>
                </a14:m>
                <a:endParaRPr lang="en-US" sz="1200" dirty="0"/>
              </a:p>
              <a:p>
                <a:pPr marL="171450" indent="-171450">
                  <a:buFontTx/>
                  <a:buChar char="-"/>
                </a:pPr>
                <a:endParaRPr lang="en-US" dirty="0"/>
              </a:p>
              <a:p>
                <a:pPr marL="0" indent="0">
                  <a:buFontTx/>
                  <a:buNone/>
                </a:pPr>
                <a:r>
                  <a:rPr lang="en-US" dirty="0"/>
                  <a:t>TWFE is just the multi-period, multi-group version of </a:t>
                </a:r>
                <a:r>
                  <a:rPr lang="en-US" dirty="0" err="1"/>
                  <a:t>DiD</a:t>
                </a:r>
                <a:r>
                  <a:rPr lang="en-US" dirty="0"/>
                  <a:t>:</a:t>
                </a:r>
              </a:p>
              <a:p>
                <a:pPr marL="171450" indent="-171450">
                  <a:buFontTx/>
                  <a:buChar char="-"/>
                </a:pPr>
                <a:r>
                  <a:rPr lang="en-US" dirty="0"/>
                  <a:t>Group FE absorb treated vs control baseline differences</a:t>
                </a:r>
              </a:p>
              <a:p>
                <a:pPr marL="171450" indent="-171450">
                  <a:buFontTx/>
                  <a:buChar char="-"/>
                </a:pPr>
                <a:r>
                  <a:rPr lang="en-US" dirty="0"/>
                  <a:t>Time FE absorb common before vs. after shocks</a:t>
                </a:r>
              </a:p>
              <a:p>
                <a:pPr marL="171450" indent="-171450">
                  <a:buFontTx/>
                  <a:buChar char="-"/>
                </a:pPr>
                <a:r>
                  <a:rPr lang="en-US" dirty="0"/>
                  <a:t>The new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𝑇𝑟𝑒𝑎𝑡𝑒𝑑</m:t>
                        </m:r>
                      </m:e>
                      <m:sub>
                        <m:r>
                          <a:rPr lang="en-US" sz="1200" b="0" i="1" smtClean="0">
                            <a:latin typeface="Cambria Math" panose="02040503050406030204" pitchFamily="18" charset="0"/>
                          </a:rPr>
                          <m:t>𝑖</m:t>
                        </m:r>
                      </m:sub>
                    </m:sSub>
                    <m:r>
                      <m:rPr>
                        <m:nor/>
                      </m:rPr>
                      <a:rPr lang="en-US" sz="1200"/>
                      <m:t>·</m:t>
                    </m:r>
                    <m:sSub>
                      <m:sSubPr>
                        <m:ctrlPr>
                          <a:rPr lang="el-GR" sz="1200" i="1" dirty="0" smtClean="0">
                            <a:latin typeface="Cambria Math" panose="02040503050406030204" pitchFamily="18" charset="0"/>
                          </a:rPr>
                        </m:ctrlPr>
                      </m:sSubPr>
                      <m:e>
                        <m:r>
                          <a:rPr lang="en-US" sz="1200" b="0" i="1" dirty="0" smtClean="0">
                            <a:latin typeface="Cambria Math" panose="02040503050406030204" pitchFamily="18" charset="0"/>
                          </a:rPr>
                          <m:t>𝑃𝑜𝑠𝑡</m:t>
                        </m:r>
                      </m:e>
                      <m:sub>
                        <m:r>
                          <a:rPr lang="en-US" sz="1200" b="0" i="1" dirty="0" smtClean="0">
                            <a:latin typeface="Cambria Math" panose="02040503050406030204" pitchFamily="18" charset="0"/>
                          </a:rPr>
                          <m:t>𝑖𝑡</m:t>
                        </m:r>
                      </m:sub>
                    </m:sSub>
                  </m:oMath>
                </a14:m>
                <a:r>
                  <a:rPr lang="en-US" dirty="0"/>
                  <a:t> is</a:t>
                </a:r>
                <a:r>
                  <a:rPr lang="en-US" baseline="0" dirty="0"/>
                  <a:t> the </a:t>
                </a:r>
                <a:r>
                  <a:rPr lang="en-US" baseline="0" dirty="0" err="1"/>
                  <a:t>DiD</a:t>
                </a:r>
                <a:r>
                  <a:rPr lang="en-US" baseline="0" dirty="0"/>
                  <a:t> interaction, generalized to many groups/times</a:t>
                </a:r>
              </a:p>
              <a:p>
                <a:pPr marL="171450" indent="-171450">
                  <a:buFontTx/>
                  <a:buChar char="-"/>
                </a:pPr>
                <a:endParaRPr lang="en-US" baseline="0" dirty="0"/>
              </a:p>
              <a:p>
                <a:r>
                  <a:rPr lang="en-US" sz="1200" b="0" i="0" kern="1200" dirty="0">
                    <a:solidFill>
                      <a:schemeClr val="tx1"/>
                    </a:solidFill>
                    <a:effectLst/>
                    <a:latin typeface="+mn-lt"/>
                    <a:ea typeface="+mn-ea"/>
                    <a:cs typeface="+mn-cs"/>
                  </a:rPr>
                  <a:t>TWFE is a statistical method used to estimate the causal effect of a treatment in panel data by controlling for unit-specific and time-specific factors. It is a generalization of the </a:t>
                </a:r>
                <a:r>
                  <a:rPr lang="en-US" sz="1200" b="0" i="0" kern="1200" dirty="0">
                    <a:solidFill>
                      <a:schemeClr val="tx1"/>
                    </a:solidFill>
                    <a:effectLst/>
                    <a:latin typeface="+mn-lt"/>
                    <a:ea typeface="+mn-ea"/>
                    <a:cs typeface="+mn-cs"/>
                    <a:hlinkClick r:id="rId3"/>
                  </a:rPr>
                  <a:t>difference-in-differences (DiD) model</a:t>
                </a:r>
                <a:r>
                  <a:rPr lang="en-US" sz="1200" b="0" i="0" kern="1200" dirty="0">
                    <a:solidFill>
                      <a:schemeClr val="tx1"/>
                    </a:solidFill>
                    <a:effectLst/>
                    <a:latin typeface="+mn-lt"/>
                    <a:ea typeface="+mn-ea"/>
                    <a:cs typeface="+mn-cs"/>
                  </a:rPr>
                  <a:t> and can be effective when there is a single treatment event, but it can produce biased results when treatments are staggered or effects are heterogeneous over time or across groups. In such cases, alternative estimators are often recommended.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How it works</a:t>
                </a:r>
              </a:p>
              <a:p>
                <a:pPr marL="171450" indent="-171450">
                  <a:buFontTx/>
                  <a:buChar char="-"/>
                </a:pPr>
                <a:r>
                  <a:rPr lang="en-US" sz="1200" b="1" i="0" kern="1200" dirty="0">
                    <a:solidFill>
                      <a:schemeClr val="tx1"/>
                    </a:solidFill>
                    <a:effectLst/>
                    <a:latin typeface="+mn-lt"/>
                    <a:ea typeface="+mn-ea"/>
                    <a:cs typeface="+mn-cs"/>
                  </a:rPr>
                  <a:t>Unit fixed effects:</a:t>
                </a:r>
                <a:r>
                  <a:rPr lang="en-US" sz="1200" b="0" i="0" kern="1200" dirty="0">
                    <a:solidFill>
                      <a:schemeClr val="tx1"/>
                    </a:solidFill>
                    <a:effectLst/>
                    <a:latin typeface="+mn-lt"/>
                    <a:ea typeface="+mn-ea"/>
                    <a:cs typeface="+mn-cs"/>
                  </a:rPr>
                  <a:t> Accounts for unobservable, time-invariant differences between units (e.g., individual companies, states, or people)</a:t>
                </a:r>
              </a:p>
              <a:p>
                <a:pPr marL="171450" indent="-171450">
                  <a:buFontTx/>
                  <a:buChar char="-"/>
                </a:pPr>
                <a:r>
                  <a:rPr lang="en-US" sz="1200" b="1" i="0" kern="1200" dirty="0">
                    <a:solidFill>
                      <a:schemeClr val="tx1"/>
                    </a:solidFill>
                    <a:effectLst/>
                    <a:latin typeface="+mn-lt"/>
                    <a:ea typeface="+mn-ea"/>
                    <a:cs typeface="+mn-cs"/>
                  </a:rPr>
                  <a:t>Time fixed effects:</a:t>
                </a:r>
                <a:r>
                  <a:rPr lang="en-US" sz="1200" b="0" i="0" kern="1200" dirty="0">
                    <a:solidFill>
                      <a:schemeClr val="tx1"/>
                    </a:solidFill>
                    <a:effectLst/>
                    <a:latin typeface="+mn-lt"/>
                    <a:ea typeface="+mn-ea"/>
                    <a:cs typeface="+mn-cs"/>
                  </a:rPr>
                  <a:t> Accounts for unobservable factors that change over time and affect all units equally (e.g., macroeconomic shocks).</a:t>
                </a:r>
              </a:p>
              <a:p>
                <a:pPr marL="171450" indent="-171450">
                  <a:buFontTx/>
                  <a:buChar char="-"/>
                </a:pPr>
                <a:r>
                  <a:rPr lang="en-US" sz="1200" b="1" i="0" kern="1200" dirty="0">
                    <a:solidFill>
                      <a:schemeClr val="tx1"/>
                    </a:solidFill>
                    <a:effectLst/>
                    <a:latin typeface="+mn-lt"/>
                    <a:ea typeface="+mn-ea"/>
                    <a:cs typeface="+mn-cs"/>
                  </a:rPr>
                  <a:t>Estimation:</a:t>
                </a:r>
                <a:r>
                  <a:rPr lang="en-US" sz="1200" b="0" i="0" kern="1200" dirty="0">
                    <a:solidFill>
                      <a:schemeClr val="tx1"/>
                    </a:solidFill>
                    <a:effectLst/>
                    <a:latin typeface="+mn-lt"/>
                    <a:ea typeface="+mn-ea"/>
                    <a:cs typeface="+mn-cs"/>
                  </a:rPr>
                  <a:t> By including both sets of fixed effects, TWFE can isolate the effect of the treatment on the outcome variable by comparing the change in outcomes over time for treated versus untreated units. </a:t>
                </a:r>
              </a:p>
              <a:p>
                <a:pPr marL="171450" indent="-171450">
                  <a:buFontTx/>
                  <a:buChar cha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  </a:t>
                </a:r>
                <a:r>
                  <a:rPr lang="en-US" dirty="0" err="1"/>
                  <a:t>DiD</a:t>
                </a:r>
                <a:r>
                  <a:rPr lang="en-US" dirty="0"/>
                  <a:t> = change in treated – change in control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𝑖𝑡</m:t>
                        </m:r>
                      </m:sub>
                    </m:sSub>
                  </m:oMath>
                </a14:m>
                <a:r>
                  <a:rPr lang="en-US" baseline="0" dirty="0"/>
                  <a:t>=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rPr>
                          <m:t>1</m:t>
                        </m:r>
                      </m:sub>
                    </m:sSub>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𝑇𝑟𝑒𝑎𝑡𝑒𝑑</m:t>
                        </m:r>
                      </m:e>
                      <m:sub>
                        <m:r>
                          <a:rPr lang="en-US" sz="1200" b="0" i="1" smtClean="0">
                            <a:latin typeface="Cambria Math" panose="02040503050406030204" pitchFamily="18" charset="0"/>
                          </a:rPr>
                          <m:t>𝑖</m:t>
                        </m:r>
                      </m:sub>
                    </m:sSub>
                    <m:r>
                      <m:rPr>
                        <m:nor/>
                      </m:rPr>
                      <a:rPr lang="en-US" sz="1200"/>
                      <m:t>·</m:t>
                    </m:r>
                    <m:sSub>
                      <m:sSubPr>
                        <m:ctrlPr>
                          <a:rPr lang="el-GR" sz="1200" i="1" dirty="0" smtClean="0">
                            <a:latin typeface="Cambria Math" panose="02040503050406030204" pitchFamily="18" charset="0"/>
                          </a:rPr>
                        </m:ctrlPr>
                      </m:sSubPr>
                      <m:e>
                        <m:r>
                          <a:rPr lang="en-US" sz="1200" b="0" i="1" dirty="0" smtClean="0">
                            <a:latin typeface="Cambria Math" panose="02040503050406030204" pitchFamily="18" charset="0"/>
                          </a:rPr>
                          <m:t>𝑃𝑜𝑠𝑡</m:t>
                        </m:r>
                      </m:e>
                      <m:sub>
                        <m:r>
                          <a:rPr lang="en-US" sz="1200" b="0" i="1" dirty="0" smtClean="0">
                            <a:latin typeface="Cambria Math" panose="02040503050406030204" pitchFamily="18" charset="0"/>
                          </a:rPr>
                          <m:t>𝑖𝑡</m:t>
                        </m:r>
                      </m:sub>
                    </m:sSub>
                  </m:oMath>
                </a14:m>
                <a:r>
                  <a:rPr lang="en-US" dirty="0"/>
                  <a:t>)</a:t>
                </a:r>
                <a:r>
                  <a:rPr lang="en-US" baseline="0" dirty="0"/>
                  <a:t> + </a:t>
                </a:r>
                <a14:m>
                  <m:oMath xmlns:m="http://schemas.openxmlformats.org/officeDocument/2006/math">
                    <m:sSub>
                      <m:sSubPr>
                        <m:ctrlPr>
                          <a:rPr lang="el-GR" sz="1200" i="1" dirty="0" smtClean="0">
                            <a:latin typeface="Cambria Math" panose="02040503050406030204" pitchFamily="18" charset="0"/>
                          </a:rPr>
                        </m:ctrlPr>
                      </m:sSubPr>
                      <m:e>
                        <m:r>
                          <m:rPr>
                            <m:nor/>
                          </m:rPr>
                          <a:rPr lang="el-GR" sz="1200"/>
                          <m:t>ϵ</m:t>
                        </m:r>
                      </m:e>
                      <m:sub>
                        <m:r>
                          <a:rPr lang="en-US" sz="1200" i="1" dirty="0">
                            <a:latin typeface="Cambria Math" panose="02040503050406030204" pitchFamily="18" charset="0"/>
                          </a:rPr>
                          <m:t>𝑖</m:t>
                        </m:r>
                        <m:r>
                          <a:rPr lang="en-US" sz="1200" i="1" dirty="0">
                            <a:latin typeface="Cambria Math" panose="02040503050406030204" pitchFamily="18" charset="0"/>
                          </a:rPr>
                          <m:t>,</m:t>
                        </m:r>
                        <m:r>
                          <a:rPr lang="en-US" sz="1200" i="1" dirty="0">
                            <a:latin typeface="Cambria Math" panose="02040503050406030204" pitchFamily="18" charset="0"/>
                          </a:rPr>
                          <m:t>𝑡</m:t>
                        </m:r>
                      </m:sub>
                    </m:sSub>
                  </m:oMath>
                </a14:m>
                <a:r>
                  <a:rPr lang="en-US" dirty="0"/>
                  <a:t>, where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rPr>
                          <m:t>1</m:t>
                        </m:r>
                      </m:sub>
                    </m:sSub>
                  </m:oMath>
                </a14:m>
                <a:r>
                  <a:rPr lang="en-US" dirty="0"/>
                  <a:t> is exactly the </a:t>
                </a:r>
                <a:r>
                  <a:rPr lang="en-US" dirty="0" err="1"/>
                  <a:t>DiD</a:t>
                </a:r>
                <a:r>
                  <a:rPr lang="en-US" dirty="0"/>
                  <a:t> formula above</a:t>
                </a:r>
                <a:r>
                  <a:rPr lang="en-US" baseline="0" dirty="0"/>
                  <a:t> (also the full regression expands to include the individual Treated and Post variables).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All </a:t>
                </a:r>
                <a:r>
                  <a:rPr lang="en-US" baseline="0" dirty="0" err="1"/>
                  <a:t>DiD</a:t>
                </a:r>
                <a:r>
                  <a:rPr lang="en-US" baseline="0" dirty="0"/>
                  <a:t> is doing is comparing how much outcomes move over time for treated vs. untreated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2. TWFE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𝑖𝑡</m:t>
                        </m:r>
                      </m:sub>
                    </m:sSub>
                    <m:r>
                      <a:rPr lang="en-US"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rPr>
                          <m:t>1</m:t>
                        </m:r>
                      </m:sub>
                    </m:sSub>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𝑇𝑟𝑒𝑎𝑡𝑒𝑑</m:t>
                        </m:r>
                      </m:e>
                      <m:sub>
                        <m:r>
                          <a:rPr lang="en-US" sz="1200" b="0" i="1" smtClean="0">
                            <a:latin typeface="Cambria Math" panose="02040503050406030204" pitchFamily="18" charset="0"/>
                          </a:rPr>
                          <m:t>𝑖</m:t>
                        </m:r>
                      </m:sub>
                    </m:sSub>
                    <m:r>
                      <m:rPr>
                        <m:nor/>
                      </m:rPr>
                      <a:rPr lang="en-US" sz="1200"/>
                      <m:t>·</m:t>
                    </m:r>
                    <m:sSub>
                      <m:sSubPr>
                        <m:ctrlPr>
                          <a:rPr lang="el-GR" sz="1200" i="1" dirty="0" smtClean="0">
                            <a:latin typeface="Cambria Math" panose="02040503050406030204" pitchFamily="18" charset="0"/>
                          </a:rPr>
                        </m:ctrlPr>
                      </m:sSubPr>
                      <m:e>
                        <m:r>
                          <a:rPr lang="en-US" sz="1200" b="0" i="1" dirty="0" smtClean="0">
                            <a:latin typeface="Cambria Math" panose="02040503050406030204" pitchFamily="18" charset="0"/>
                          </a:rPr>
                          <m:t>𝑃𝑜𝑠𝑡</m:t>
                        </m:r>
                      </m:e>
                      <m:sub>
                        <m:r>
                          <a:rPr lang="en-US" sz="1200" b="0" i="1" dirty="0" smtClean="0">
                            <a:latin typeface="Cambria Math" panose="02040503050406030204" pitchFamily="18" charset="0"/>
                          </a:rPr>
                          <m:t>𝑖𝑡</m:t>
                        </m:r>
                      </m:sub>
                    </m:sSub>
                  </m:oMath>
                </a14:m>
                <a:r>
                  <a:rPr lang="en-US" sz="1200" dirty="0"/>
                  <a:t>)</a:t>
                </a:r>
                <a:r>
                  <a:rPr lang="el-GR" sz="1200" dirty="0"/>
                  <a:t> </a:t>
                </a:r>
                <a:r>
                  <a:rPr lang="en-US" sz="1200" dirty="0"/>
                  <a:t>+ </a:t>
                </a:r>
                <a14:m>
                  <m:oMath xmlns:m="http://schemas.openxmlformats.org/officeDocument/2006/math">
                    <m:sSub>
                      <m:sSubPr>
                        <m:ctrlPr>
                          <a:rPr lang="el-GR" sz="1200" i="1" dirty="0">
                            <a:latin typeface="Cambria Math" panose="02040503050406030204" pitchFamily="18" charset="0"/>
                          </a:rPr>
                        </m:ctrlPr>
                      </m:sSubPr>
                      <m:e>
                        <m:r>
                          <a:rPr lang="en-US" sz="1200" i="1" dirty="0">
                            <a:latin typeface="Cambria Math" panose="02040503050406030204" pitchFamily="18" charset="0"/>
                          </a:rPr>
                          <m:t>𝑎</m:t>
                        </m:r>
                      </m:e>
                      <m:sub>
                        <m:r>
                          <a:rPr lang="en-US" sz="1200" i="1" dirty="0">
                            <a:latin typeface="Cambria Math" panose="02040503050406030204" pitchFamily="18" charset="0"/>
                          </a:rPr>
                          <m:t>𝑖</m:t>
                        </m:r>
                        <m:r>
                          <a:rPr lang="en-US" sz="1200" i="1" dirty="0">
                            <a:latin typeface="Cambria Math" panose="02040503050406030204" pitchFamily="18" charset="0"/>
                          </a:rPr>
                          <m:t> </m:t>
                        </m:r>
                      </m:sub>
                    </m:sSub>
                    <m:r>
                      <a:rPr lang="en-US" sz="1200" i="1" dirty="0">
                        <a:latin typeface="Cambria Math" panose="02040503050406030204" pitchFamily="18" charset="0"/>
                      </a:rPr>
                      <m:t>+</m:t>
                    </m:r>
                    <m:sSub>
                      <m:sSubPr>
                        <m:ctrlPr>
                          <a:rPr lang="el-GR" sz="1200" i="1" dirty="0">
                            <a:latin typeface="Cambria Math" panose="02040503050406030204" pitchFamily="18" charset="0"/>
                          </a:rPr>
                        </m:ctrlPr>
                      </m:sSubPr>
                      <m:e>
                        <m:r>
                          <m:rPr>
                            <m:nor/>
                          </m:rPr>
                          <a:rPr lang="el-GR" sz="1200"/>
                          <m:t> </m:t>
                        </m:r>
                        <m:r>
                          <m:rPr>
                            <m:nor/>
                          </m:rPr>
                          <a:rPr lang="el-GR" sz="1200"/>
                          <m:t>ω</m:t>
                        </m:r>
                      </m:e>
                      <m:sub>
                        <m:r>
                          <a:rPr lang="en-US" sz="1200" i="1" dirty="0">
                            <a:latin typeface="Cambria Math" panose="02040503050406030204" pitchFamily="18" charset="0"/>
                          </a:rPr>
                          <m:t>𝑡</m:t>
                        </m:r>
                      </m:sub>
                    </m:sSub>
                    <m:r>
                      <a:rPr lang="en-US" sz="1200" i="1" dirty="0">
                        <a:latin typeface="Cambria Math" panose="02040503050406030204" pitchFamily="18" charset="0"/>
                      </a:rPr>
                      <m:t>+</m:t>
                    </m:r>
                    <m:sSub>
                      <m:sSubPr>
                        <m:ctrlPr>
                          <a:rPr lang="el-GR" sz="1200" i="1" dirty="0">
                            <a:latin typeface="Cambria Math" panose="02040503050406030204" pitchFamily="18" charset="0"/>
                          </a:rPr>
                        </m:ctrlPr>
                      </m:sSubPr>
                      <m:e>
                        <m:r>
                          <m:rPr>
                            <m:nor/>
                          </m:rPr>
                          <a:rPr lang="el-GR" sz="1200"/>
                          <m:t>ϵ</m:t>
                        </m:r>
                      </m:e>
                      <m:sub>
                        <m:r>
                          <a:rPr lang="en-US" sz="1200" i="1" dirty="0">
                            <a:latin typeface="Cambria Math" panose="02040503050406030204" pitchFamily="18" charset="0"/>
                          </a:rPr>
                          <m:t>𝑖</m:t>
                        </m:r>
                        <m:r>
                          <a:rPr lang="en-US" sz="1200" i="1" dirty="0">
                            <a:latin typeface="Cambria Math" panose="02040503050406030204" pitchFamily="18" charset="0"/>
                          </a:rPr>
                          <m:t>,</m:t>
                        </m:r>
                        <m:r>
                          <a:rPr lang="en-US" sz="1200" i="1" dirty="0">
                            <a:latin typeface="Cambria Math" panose="02040503050406030204" pitchFamily="18" charset="0"/>
                          </a:rPr>
                          <m:t>𝑡</m:t>
                        </m:r>
                      </m:sub>
                    </m:sSub>
                  </m:oMath>
                </a14:m>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Unit FE subtracts off each unit’s usual level (its LR mean): this is what the first “difference” does in </a:t>
                </a:r>
                <a:r>
                  <a:rPr lang="en-US" dirty="0" err="1"/>
                  <a:t>DiD</a:t>
                </a:r>
                <a:r>
                  <a:rPr lang="en-US" dirty="0"/>
                  <a:t>: you’re looking at changes over time within a unit, not its raw level.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Time FE subtracts off each period’s overall mean: this is what the second “difference” does: you remove common shocks that hit everyone in a given period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removing both, the regression is effectively run on residuals that are “demeaned” by unit and time. On these residuals, the only remaining systematic pattern is: are units that become treated in the post period, above or below what you’d expect, relative to the units that stay untreated?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is exactly the </a:t>
                </a:r>
                <a:r>
                  <a:rPr lang="en-US" dirty="0" err="1"/>
                  <a:t>DiD</a:t>
                </a:r>
                <a:r>
                  <a:rPr lang="en-US" dirty="0"/>
                  <a:t> idea: </a:t>
                </a:r>
                <a:r>
                  <a:rPr lang="en-US" b="1" dirty="0"/>
                  <a:t>extra movement for treated units beyond what controls and time trends can explain.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Sports example: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𝑙𝑛𝑍𝐻𝑉𝐼</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rPr>
                          <m:t>1</m:t>
                        </m:r>
                      </m:sub>
                    </m:sSub>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𝑇𝑟𝑒𝑎𝑡𝑒𝑑</m:t>
                        </m:r>
                      </m:e>
                      <m:sub>
                        <m:r>
                          <a:rPr lang="en-US" sz="1200" b="0" i="1" smtClean="0">
                            <a:latin typeface="Cambria Math" panose="02040503050406030204" pitchFamily="18" charset="0"/>
                          </a:rPr>
                          <m:t>𝑖</m:t>
                        </m:r>
                      </m:sub>
                    </m:sSub>
                    <m:r>
                      <m:rPr>
                        <m:nor/>
                      </m:rPr>
                      <a:rPr lang="en-US" sz="1200"/>
                      <m:t>·</m:t>
                    </m:r>
                    <m:sSub>
                      <m:sSubPr>
                        <m:ctrlPr>
                          <a:rPr lang="el-GR" sz="1200" i="1" dirty="0" smtClean="0">
                            <a:latin typeface="Cambria Math" panose="02040503050406030204" pitchFamily="18" charset="0"/>
                          </a:rPr>
                        </m:ctrlPr>
                      </m:sSubPr>
                      <m:e>
                        <m:r>
                          <a:rPr lang="en-US" sz="1200" b="0" i="1" dirty="0" smtClean="0">
                            <a:latin typeface="Cambria Math" panose="02040503050406030204" pitchFamily="18" charset="0"/>
                          </a:rPr>
                          <m:t>𝑃𝑜𝑠𝑡</m:t>
                        </m:r>
                      </m:e>
                      <m:sub>
                        <m:r>
                          <a:rPr lang="en-US" sz="1200" b="0" i="1" dirty="0" smtClean="0">
                            <a:latin typeface="Cambria Math" panose="02040503050406030204" pitchFamily="18" charset="0"/>
                          </a:rPr>
                          <m:t>𝑖𝑡</m:t>
                        </m:r>
                      </m:sub>
                    </m:sSub>
                  </m:oMath>
                </a14:m>
                <a:r>
                  <a:rPr lang="en-US" sz="1200" dirty="0"/>
                  <a:t>)</a:t>
                </a:r>
                <a:r>
                  <a:rPr lang="el-GR" sz="1200" dirty="0"/>
                  <a:t> </a:t>
                </a:r>
                <a:r>
                  <a:rPr lang="en-US" sz="1200" dirty="0"/>
                  <a:t>+ </a:t>
                </a:r>
                <a14:m>
                  <m:oMath xmlns:m="http://schemas.openxmlformats.org/officeDocument/2006/math">
                    <m:sSub>
                      <m:sSubPr>
                        <m:ctrlPr>
                          <a:rPr lang="el-GR" sz="1200" i="1" dirty="0">
                            <a:latin typeface="Cambria Math" panose="02040503050406030204" pitchFamily="18" charset="0"/>
                          </a:rPr>
                        </m:ctrlPr>
                      </m:sSubPr>
                      <m:e>
                        <m:r>
                          <a:rPr lang="en-US" sz="1200" i="1" dirty="0">
                            <a:latin typeface="Cambria Math" panose="02040503050406030204" pitchFamily="18" charset="0"/>
                          </a:rPr>
                          <m:t>𝑎</m:t>
                        </m:r>
                      </m:e>
                      <m:sub>
                        <m:r>
                          <a:rPr lang="en-US" sz="1200" i="1" dirty="0">
                            <a:latin typeface="Cambria Math" panose="02040503050406030204" pitchFamily="18" charset="0"/>
                          </a:rPr>
                          <m:t>𝑖</m:t>
                        </m:r>
                        <m:r>
                          <a:rPr lang="en-US" sz="1200" i="1" dirty="0">
                            <a:latin typeface="Cambria Math" panose="02040503050406030204" pitchFamily="18" charset="0"/>
                          </a:rPr>
                          <m:t> </m:t>
                        </m:r>
                      </m:sub>
                    </m:sSub>
                    <m:r>
                      <a:rPr lang="en-US" sz="1200" i="1" dirty="0">
                        <a:latin typeface="Cambria Math" panose="02040503050406030204" pitchFamily="18" charset="0"/>
                      </a:rPr>
                      <m:t>+</m:t>
                    </m:r>
                    <m:sSub>
                      <m:sSubPr>
                        <m:ctrlPr>
                          <a:rPr lang="el-GR" sz="1200" i="1" dirty="0">
                            <a:latin typeface="Cambria Math" panose="02040503050406030204" pitchFamily="18" charset="0"/>
                          </a:rPr>
                        </m:ctrlPr>
                      </m:sSubPr>
                      <m:e>
                        <m:r>
                          <m:rPr>
                            <m:nor/>
                          </m:rPr>
                          <a:rPr lang="el-GR" sz="1200"/>
                          <m:t> </m:t>
                        </m:r>
                        <m:r>
                          <m:rPr>
                            <m:nor/>
                          </m:rPr>
                          <a:rPr lang="el-GR" sz="1200"/>
                          <m:t>ω</m:t>
                        </m:r>
                      </m:e>
                      <m:sub>
                        <m:r>
                          <a:rPr lang="en-US" sz="1200" i="1" dirty="0">
                            <a:latin typeface="Cambria Math" panose="02040503050406030204" pitchFamily="18" charset="0"/>
                          </a:rPr>
                          <m:t>𝑡</m:t>
                        </m:r>
                      </m:sub>
                    </m:sSub>
                    <m:r>
                      <a:rPr lang="en-US" sz="1200" i="1" dirty="0">
                        <a:latin typeface="Cambria Math" panose="02040503050406030204" pitchFamily="18" charset="0"/>
                      </a:rPr>
                      <m:t>+</m:t>
                    </m:r>
                    <m:sSub>
                      <m:sSubPr>
                        <m:ctrlPr>
                          <a:rPr lang="el-GR" sz="1200" i="1" dirty="0">
                            <a:latin typeface="Cambria Math" panose="02040503050406030204" pitchFamily="18" charset="0"/>
                          </a:rPr>
                        </m:ctrlPr>
                      </m:sSubPr>
                      <m:e>
                        <m:r>
                          <m:rPr>
                            <m:nor/>
                          </m:rPr>
                          <a:rPr lang="el-GR" sz="1200"/>
                          <m:t>ϵ</m:t>
                        </m:r>
                      </m:e>
                      <m:sub>
                        <m:r>
                          <a:rPr lang="en-US" sz="1200" i="1" dirty="0">
                            <a:latin typeface="Cambria Math" panose="02040503050406030204" pitchFamily="18" charset="0"/>
                          </a:rPr>
                          <m:t>𝑖</m:t>
                        </m:r>
                        <m:r>
                          <a:rPr lang="en-US" sz="1200" i="1" dirty="0">
                            <a:latin typeface="Cambria Math" panose="02040503050406030204" pitchFamily="18" charset="0"/>
                          </a:rPr>
                          <m:t>,</m:t>
                        </m:r>
                        <m:r>
                          <a:rPr lang="en-US" sz="1200" i="1" dirty="0">
                            <a:latin typeface="Cambria Math" panose="02040503050406030204" pitchFamily="18" charset="0"/>
                          </a:rPr>
                          <m:t>𝑡</m:t>
                        </m:r>
                      </m:sub>
                    </m:sSub>
                  </m:oMath>
                </a14:m>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all metros are treated and treatment occurs at difference times.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Metro FEs subtracts each metro’s usual level, and month FEs subtract each month’s overall housing market level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what’s left, </a:t>
                </a:r>
                <a14:m>
                  <m:oMath xmlns:m="http://schemas.openxmlformats.org/officeDocument/2006/math">
                    <m:r>
                      <a:rPr lang="en-US" sz="1200" i="1" smtClean="0">
                        <a:latin typeface="Cambria Math" panose="02040503050406030204" pitchFamily="18" charset="0"/>
                        <a:ea typeface="Cambria Math" panose="02040503050406030204" pitchFamily="18" charset="0"/>
                      </a:rPr>
                      <m:t>𝛽</m:t>
                    </m:r>
                  </m:oMath>
                </a14:m>
                <a:r>
                  <a:rPr lang="en-US" dirty="0"/>
                  <a:t> picks up whether treated metros, in the months</a:t>
                </a:r>
                <a:r>
                  <a:rPr lang="en-US" baseline="0" dirty="0"/>
                  <a:t> after their opening (post period), grow more than never-treated metros (and not-yet-treated metros)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Mathematically, </a:t>
                </a:r>
                <a14:m>
                  <m:oMath xmlns:m="http://schemas.openxmlformats.org/officeDocument/2006/math">
                    <m:r>
                      <a:rPr lang="en-US" sz="1200" i="1" smtClean="0">
                        <a:latin typeface="Cambria Math" panose="02040503050406030204" pitchFamily="18" charset="0"/>
                        <a:ea typeface="Cambria Math" panose="02040503050406030204" pitchFamily="18" charset="0"/>
                      </a:rPr>
                      <m:t>𝛽</m:t>
                    </m:r>
                  </m:oMath>
                </a14:m>
                <a:r>
                  <a:rPr lang="en-US" dirty="0"/>
                  <a:t> is a weighted average of</a:t>
                </a:r>
                <a:r>
                  <a:rPr lang="en-US" baseline="0" dirty="0"/>
                  <a:t> a bunch of 2x2 </a:t>
                </a:r>
                <a:r>
                  <a:rPr lang="en-US" baseline="0" dirty="0" err="1"/>
                  <a:t>DiDs</a:t>
                </a:r>
                <a:r>
                  <a:rPr lang="en-US" baseline="0" dirty="0"/>
                  <a:t>: “early treated vs. never treated,” “late treated vs never treated,” sometimes “early treated vs later treated,” etc.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TWFE Is a generalization of </a:t>
                </a:r>
                <a:r>
                  <a:rPr lang="en-US" baseline="0" dirty="0" err="1"/>
                  <a:t>DiD</a:t>
                </a:r>
                <a:r>
                  <a:rPr lang="en-US" baseline="0" dirty="0"/>
                  <a:t> because in the simple case (1 treated, 1 control, 2 periods), TWFE = </a:t>
                </a:r>
                <a:r>
                  <a:rPr lang="en-US" baseline="0" dirty="0" err="1"/>
                  <a:t>DiD</a:t>
                </a:r>
                <a:r>
                  <a:rPr lang="en-US" baseline="0" dirty="0"/>
                  <a:t>. However in the big panel case, TWFE = many </a:t>
                </a:r>
                <a:r>
                  <a:rPr lang="en-US" baseline="0" dirty="0" err="1"/>
                  <a:t>DiD</a:t>
                </a:r>
                <a:r>
                  <a:rPr lang="en-US" baseline="0" dirty="0"/>
                  <a:t> comparisons stitched together in one regression.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Our example is nice </a:t>
                </a:r>
                <a:r>
                  <a:rPr lang="en-US" baseline="0" dirty="0" err="1"/>
                  <a:t>becaue</a:t>
                </a:r>
                <a:r>
                  <a:rPr lang="en-US" baseline="0" dirty="0"/>
                  <a:t> many metros are never treated and we only keep the first opening per metro, so most of the comparisons are clean “treated vs. never-treated” differences In growth, which is very close to the textbook </a:t>
                </a:r>
                <a:r>
                  <a:rPr lang="en-US" baseline="0" dirty="0" err="1"/>
                  <a:t>DiD</a:t>
                </a:r>
                <a:r>
                  <a:rPr lang="en-US" baseline="0" dirty="0"/>
                  <a:t> logic.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171450" indent="-171450">
                  <a:buFontTx/>
                  <a:buChar char="-"/>
                </a:pPr>
                <a:endParaRPr lang="en-US" dirty="0"/>
              </a:p>
              <a:p>
                <a:endParaRPr lang="en-US" dirty="0"/>
              </a:p>
              <a:p>
                <a:br>
                  <a:rPr lang="en-US" dirty="0"/>
                </a:br>
                <a:endParaRPr lang="en-US" dirty="0"/>
              </a:p>
            </p:txBody>
          </p:sp>
        </mc:Choice>
        <mc:Fallback xmlns="">
          <p:sp>
            <p:nvSpPr>
              <p:cNvPr id="3" name="Notes Placeholder 2"/>
              <p:cNvSpPr>
                <a:spLocks noGrp="1"/>
              </p:cNvSpPr>
              <p:nvPr>
                <p:ph type="body" idx="1"/>
              </p:nvPr>
            </p:nvSpPr>
            <p:spPr/>
            <p:txBody>
              <a:bodyPr/>
              <a:lstStyle/>
              <a:p>
                <a:r>
                  <a:rPr lang="en-US" b="1" dirty="0"/>
                  <a:t>Classic </a:t>
                </a:r>
                <a:r>
                  <a:rPr lang="en-US" b="1" dirty="0" err="1"/>
                  <a:t>DiD</a:t>
                </a:r>
                <a:r>
                  <a:rPr lang="en-US" b="1" dirty="0"/>
                  <a:t> (the simple 2×2 case)</a:t>
                </a:r>
              </a:p>
              <a:p>
                <a:endParaRPr lang="en-US" dirty="0"/>
              </a:p>
              <a:p>
                <a:r>
                  <a:rPr lang="en-US" dirty="0"/>
                  <a:t>The textbook </a:t>
                </a:r>
                <a:r>
                  <a:rPr lang="en-US" dirty="0" err="1"/>
                  <a:t>DiD</a:t>
                </a:r>
                <a:r>
                  <a:rPr lang="en-US" dirty="0"/>
                  <a:t> setup is: </a:t>
                </a:r>
              </a:p>
              <a:p>
                <a:pPr marL="171450" indent="-171450">
                  <a:buFontTx/>
                  <a:buChar char="-"/>
                </a:pPr>
                <a:r>
                  <a:rPr lang="en-US" dirty="0"/>
                  <a:t>2 groups: treated vs control</a:t>
                </a:r>
              </a:p>
              <a:p>
                <a:pPr marL="171450" indent="-171450">
                  <a:buFontTx/>
                  <a:buChar char="-"/>
                </a:pPr>
                <a:r>
                  <a:rPr lang="en-US" dirty="0"/>
                  <a:t>2 periods: before vs after</a:t>
                </a:r>
              </a:p>
              <a:p>
                <a:pPr marL="171450" indent="-171450">
                  <a:buFontTx/>
                  <a:buChar char="-"/>
                </a:pPr>
                <a:r>
                  <a:rPr lang="en-US" dirty="0"/>
                  <a:t>1</a:t>
                </a:r>
                <a:r>
                  <a:rPr lang="en-US" baseline="0" dirty="0"/>
                  <a:t> </a:t>
                </a:r>
                <a:r>
                  <a:rPr lang="en-US" dirty="0"/>
                  <a:t>treatment shock that hits the treated group in the second period only:</a:t>
                </a:r>
              </a:p>
              <a:p>
                <a:pPr marL="171450" indent="-171450">
                  <a:buFontTx/>
                  <a:buChar char="-"/>
                </a:pPr>
                <a:r>
                  <a:rPr lang="en-US" dirty="0"/>
                  <a:t> </a:t>
                </a:r>
                <a:r>
                  <a:rPr lang="en-US" b="0" i="0">
                    <a:latin typeface="Cambria Math" panose="02040503050406030204" pitchFamily="18" charset="0"/>
                  </a:rPr>
                  <a:t>𝑌_𝑖𝑡</a:t>
                </a:r>
                <a:r>
                  <a:rPr lang="en-US" baseline="0" dirty="0"/>
                  <a:t>= </a:t>
                </a:r>
                <a:r>
                  <a:rPr lang="en-US" sz="1200" i="0">
                    <a:latin typeface="Cambria Math" panose="02040503050406030204" pitchFamily="18" charset="0"/>
                    <a:ea typeface="Cambria Math" panose="02040503050406030204" pitchFamily="18" charset="0"/>
                  </a:rPr>
                  <a:t>𝛽_</a:t>
                </a:r>
                <a:r>
                  <a:rPr lang="en-US" sz="1200" i="0">
                    <a:latin typeface="Cambria Math" panose="02040503050406030204" pitchFamily="18" charset="0"/>
                  </a:rPr>
                  <a:t>1</a:t>
                </a:r>
                <a:r>
                  <a:rPr lang="en-US" sz="1200" b="0" i="0">
                    <a:latin typeface="Cambria Math" panose="02040503050406030204" pitchFamily="18" charset="0"/>
                  </a:rPr>
                  <a:t> (</a:t>
                </a:r>
                <a:r>
                  <a:rPr lang="en-US" sz="1200" i="0">
                    <a:latin typeface="Cambria Math" panose="02040503050406030204" pitchFamily="18" charset="0"/>
                  </a:rPr>
                  <a:t>〖</a:t>
                </a:r>
                <a:r>
                  <a:rPr lang="en-US" sz="1200" b="0" i="0">
                    <a:latin typeface="Cambria Math" panose="02040503050406030204" pitchFamily="18" charset="0"/>
                  </a:rPr>
                  <a:t>𝑇𝑟𝑒𝑎𝑡𝑒𝑑〗_𝑖 "</a:t>
                </a:r>
                <a:r>
                  <a:rPr lang="en-US" sz="1200" i="0">
                    <a:latin typeface="Cambria Math" panose="02040503050406030204" pitchFamily="18" charset="0"/>
                  </a:rPr>
                  <a:t>·</a:t>
                </a:r>
                <a:r>
                  <a:rPr lang="el-GR" sz="1200" i="0" dirty="0">
                    <a:latin typeface="Cambria Math" panose="02040503050406030204" pitchFamily="18" charset="0"/>
                  </a:rPr>
                  <a:t>" 〖</a:t>
                </a:r>
                <a:r>
                  <a:rPr lang="en-US" sz="1200" b="0" i="0" dirty="0">
                    <a:latin typeface="Cambria Math" panose="02040503050406030204" pitchFamily="18" charset="0"/>
                  </a:rPr>
                  <a:t>𝑃𝑜𝑠𝑡</a:t>
                </a:r>
                <a:r>
                  <a:rPr lang="el-GR" sz="1200" b="0" i="0" dirty="0">
                    <a:latin typeface="Cambria Math" panose="02040503050406030204" pitchFamily="18" charset="0"/>
                  </a:rPr>
                  <a:t>〗_</a:t>
                </a:r>
                <a:r>
                  <a:rPr lang="en-US" sz="1200" b="0" i="0" dirty="0">
                    <a:latin typeface="Cambria Math" panose="02040503050406030204" pitchFamily="18" charset="0"/>
                  </a:rPr>
                  <a:t>𝑖𝑡</a:t>
                </a:r>
                <a:r>
                  <a:rPr lang="en-US" dirty="0"/>
                  <a:t>)</a:t>
                </a:r>
                <a:r>
                  <a:rPr lang="en-US" baseline="0" dirty="0"/>
                  <a:t> + </a:t>
                </a:r>
                <a:r>
                  <a:rPr lang="el-GR" sz="1200" i="0"/>
                  <a:t>"ϵ</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𝑖,𝑡</a:t>
                </a:r>
                <a:r>
                  <a:rPr lang="el-GR" sz="1200" i="0" dirty="0">
                    <a:latin typeface="Cambria Math" panose="02040503050406030204" pitchFamily="18" charset="0"/>
                  </a:rPr>
                  <a:t>)</a:t>
                </a:r>
                <a:r>
                  <a:rPr lang="en-US" dirty="0"/>
                  <a:t>, where</a:t>
                </a:r>
                <a:r>
                  <a:rPr lang="en-US" baseline="0" dirty="0"/>
                  <a:t> </a:t>
                </a:r>
                <a:r>
                  <a:rPr lang="en-US" sz="1200" i="0">
                    <a:latin typeface="Cambria Math" panose="02040503050406030204" pitchFamily="18" charset="0"/>
                  </a:rPr>
                  <a:t>〖</a:t>
                </a:r>
                <a:r>
                  <a:rPr lang="en-US" sz="1200" b="0" i="0">
                    <a:latin typeface="Cambria Math" panose="02040503050406030204" pitchFamily="18" charset="0"/>
                  </a:rPr>
                  <a:t>𝑇𝑟𝑒𝑎𝑡𝑒𝑑〗_𝑖 "</a:t>
                </a:r>
                <a:r>
                  <a:rPr lang="en-US" sz="1200" i="0">
                    <a:latin typeface="Cambria Math" panose="02040503050406030204" pitchFamily="18" charset="0"/>
                  </a:rPr>
                  <a:t>·</a:t>
                </a:r>
                <a:r>
                  <a:rPr lang="el-GR" sz="1200" i="0" dirty="0">
                    <a:latin typeface="Cambria Math" panose="02040503050406030204" pitchFamily="18" charset="0"/>
                  </a:rPr>
                  <a:t>" 〖</a:t>
                </a:r>
                <a:r>
                  <a:rPr lang="en-US" sz="1200" b="0" i="0" dirty="0">
                    <a:latin typeface="Cambria Math" panose="02040503050406030204" pitchFamily="18" charset="0"/>
                  </a:rPr>
                  <a:t>𝑃𝑜𝑠𝑡</a:t>
                </a:r>
                <a:r>
                  <a:rPr lang="el-GR" sz="1200" b="0" i="0" dirty="0">
                    <a:latin typeface="Cambria Math" panose="02040503050406030204" pitchFamily="18" charset="0"/>
                  </a:rPr>
                  <a:t>〗_</a:t>
                </a:r>
                <a:r>
                  <a:rPr lang="en-US" sz="1200" b="0" i="0" dirty="0">
                    <a:latin typeface="Cambria Math" panose="02040503050406030204" pitchFamily="18" charset="0"/>
                  </a:rPr>
                  <a:t>𝑖𝑡</a:t>
                </a:r>
                <a:r>
                  <a:rPr lang="en-US" dirty="0"/>
                  <a:t> is the </a:t>
                </a:r>
                <a:r>
                  <a:rPr lang="en-US" dirty="0" err="1"/>
                  <a:t>DiD</a:t>
                </a:r>
                <a:r>
                  <a:rPr lang="en-US" dirty="0"/>
                  <a:t> =</a:t>
                </a:r>
                <a:r>
                  <a:rPr lang="en-US" baseline="0" dirty="0"/>
                  <a:t> Change in treated – Change in control. The </a:t>
                </a:r>
                <a:r>
                  <a:rPr lang="en-US" baseline="0" dirty="0" err="1"/>
                  <a:t>DiD</a:t>
                </a:r>
                <a:r>
                  <a:rPr lang="en-US" baseline="0" dirty="0"/>
                  <a:t> compares how much outcomes move over time for treated vs. untreated</a:t>
                </a:r>
                <a:endParaRPr lang="en-US" dirty="0"/>
              </a:p>
              <a:p>
                <a:endParaRPr lang="en-US" dirty="0"/>
              </a:p>
              <a:p>
                <a:r>
                  <a:rPr lang="en-US" dirty="0"/>
                  <a:t>TWFE as a generalization: now imagine</a:t>
                </a:r>
              </a:p>
              <a:p>
                <a:pPr marL="171450" indent="-171450">
                  <a:buFontTx/>
                  <a:buChar char="-"/>
                </a:pPr>
                <a:r>
                  <a:rPr lang="en-US" dirty="0"/>
                  <a:t>Many groups (metros)</a:t>
                </a:r>
              </a:p>
              <a:p>
                <a:pPr marL="171450" indent="-171450">
                  <a:buFontTx/>
                  <a:buChar char="-"/>
                </a:pPr>
                <a:r>
                  <a:rPr lang="en-US" dirty="0"/>
                  <a:t>Many time periods (months)</a:t>
                </a:r>
              </a:p>
              <a:p>
                <a:pPr marL="171450" indent="-171450">
                  <a:buFontTx/>
                  <a:buChar char="-"/>
                </a:pPr>
                <a:r>
                  <a:rPr lang="en-US" dirty="0"/>
                  <a:t>Some groups get treated, some never do</a:t>
                </a:r>
              </a:p>
              <a:p>
                <a:pPr marL="171450" indent="-171450">
                  <a:buFontTx/>
                  <a:buChar char="-"/>
                </a:pPr>
                <a:r>
                  <a:rPr lang="en-US" dirty="0"/>
                  <a:t>Some groups get treated earlier, some later (staggered)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a:latin typeface="Cambria Math" panose="02040503050406030204" pitchFamily="18" charset="0"/>
                  </a:rPr>
                  <a:t>𝑌_𝑖𝑡=</a:t>
                </a:r>
                <a:r>
                  <a:rPr lang="en-US" sz="1200" i="0">
                    <a:latin typeface="Cambria Math" panose="02040503050406030204" pitchFamily="18" charset="0"/>
                    <a:ea typeface="Cambria Math" panose="02040503050406030204" pitchFamily="18" charset="0"/>
                  </a:rPr>
                  <a:t>𝛽_</a:t>
                </a:r>
                <a:r>
                  <a:rPr lang="en-US" sz="1200" i="0">
                    <a:latin typeface="Cambria Math" panose="02040503050406030204" pitchFamily="18" charset="0"/>
                  </a:rPr>
                  <a:t>1</a:t>
                </a:r>
                <a:r>
                  <a:rPr lang="en-US" sz="1200" b="0" i="0">
                    <a:latin typeface="Cambria Math" panose="02040503050406030204" pitchFamily="18" charset="0"/>
                  </a:rPr>
                  <a:t> (</a:t>
                </a:r>
                <a:r>
                  <a:rPr lang="en-US" sz="1200" i="0">
                    <a:latin typeface="Cambria Math" panose="02040503050406030204" pitchFamily="18" charset="0"/>
                  </a:rPr>
                  <a:t>〖</a:t>
                </a:r>
                <a:r>
                  <a:rPr lang="en-US" sz="1200" b="0" i="0">
                    <a:latin typeface="Cambria Math" panose="02040503050406030204" pitchFamily="18" charset="0"/>
                  </a:rPr>
                  <a:t>𝑇𝑟𝑒𝑎𝑡𝑒𝑑〗_𝑖 "</a:t>
                </a:r>
                <a:r>
                  <a:rPr lang="en-US" sz="1200" i="0">
                    <a:latin typeface="Cambria Math" panose="02040503050406030204" pitchFamily="18" charset="0"/>
                  </a:rPr>
                  <a:t>·</a:t>
                </a:r>
                <a:r>
                  <a:rPr lang="el-GR" sz="1200" i="0" dirty="0">
                    <a:latin typeface="Cambria Math" panose="02040503050406030204" pitchFamily="18" charset="0"/>
                  </a:rPr>
                  <a:t>" 〖</a:t>
                </a:r>
                <a:r>
                  <a:rPr lang="en-US" sz="1200" b="0" i="0" dirty="0">
                    <a:latin typeface="Cambria Math" panose="02040503050406030204" pitchFamily="18" charset="0"/>
                  </a:rPr>
                  <a:t>𝑃𝑜𝑠𝑡</a:t>
                </a:r>
                <a:r>
                  <a:rPr lang="el-GR" sz="1200" b="0" i="0" dirty="0">
                    <a:latin typeface="Cambria Math" panose="02040503050406030204" pitchFamily="18" charset="0"/>
                  </a:rPr>
                  <a:t>〗_</a:t>
                </a:r>
                <a:r>
                  <a:rPr lang="en-US" sz="1200" b="0" i="0" dirty="0">
                    <a:latin typeface="Cambria Math" panose="02040503050406030204" pitchFamily="18" charset="0"/>
                  </a:rPr>
                  <a:t>𝑖𝑡</a:t>
                </a:r>
                <a:r>
                  <a:rPr lang="en-US" sz="1200" dirty="0"/>
                  <a:t>)</a:t>
                </a:r>
                <a:r>
                  <a:rPr lang="el-GR" sz="1200" dirty="0"/>
                  <a:t> </a:t>
                </a:r>
                <a:r>
                  <a:rPr lang="en-US" sz="1200" dirty="0"/>
                  <a:t>+ </a:t>
                </a:r>
                <a:r>
                  <a:rPr lang="en-US" sz="1200" i="0" dirty="0">
                    <a:latin typeface="Cambria Math" panose="02040503050406030204" pitchFamily="18" charset="0"/>
                  </a:rPr>
                  <a:t>𝑎</a:t>
                </a:r>
                <a:r>
                  <a:rPr lang="el-GR" sz="1200" i="0" dirty="0">
                    <a:latin typeface="Cambria Math" panose="02040503050406030204" pitchFamily="18" charset="0"/>
                  </a:rPr>
                  <a:t>_(</a:t>
                </a:r>
                <a:r>
                  <a:rPr lang="en-US" sz="1200" i="0" dirty="0">
                    <a:latin typeface="Cambria Math" panose="02040503050406030204" pitchFamily="18" charset="0"/>
                  </a:rPr>
                  <a:t>𝑖 </a:t>
                </a:r>
                <a:r>
                  <a:rPr lang="el-GR" sz="1200" i="0" dirty="0">
                    <a:latin typeface="Cambria Math" panose="02040503050406030204" pitchFamily="18" charset="0"/>
                  </a:rPr>
                  <a:t>)</a:t>
                </a:r>
                <a:r>
                  <a:rPr lang="en-US" sz="1200" i="0" dirty="0">
                    <a:latin typeface="Cambria Math" panose="02040503050406030204" pitchFamily="18" charset="0"/>
                  </a:rPr>
                  <a:t>+</a:t>
                </a:r>
                <a:r>
                  <a:rPr lang="el-GR" sz="1200" i="0" dirty="0">
                    <a:latin typeface="Cambria Math" panose="02040503050406030204" pitchFamily="18" charset="0"/>
                  </a:rPr>
                  <a:t>〖</a:t>
                </a:r>
                <a:r>
                  <a:rPr lang="el-GR" sz="1200" i="0">
                    <a:latin typeface="Cambria Math" panose="02040503050406030204" pitchFamily="18" charset="0"/>
                  </a:rPr>
                  <a:t>"</a:t>
                </a:r>
                <a:r>
                  <a:rPr lang="el-GR" sz="1200" i="0"/>
                  <a:t> ω</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𝑡+</a:t>
                </a:r>
                <a:r>
                  <a:rPr lang="el-GR" sz="1200" i="0"/>
                  <a:t>"ϵ</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𝑖,𝑡</a:t>
                </a:r>
                <a:r>
                  <a:rPr lang="el-GR" sz="1200" i="0" dirty="0">
                    <a:latin typeface="Cambria Math" panose="02040503050406030204" pitchFamily="18" charset="0"/>
                  </a:rPr>
                  <a:t>)</a:t>
                </a:r>
                <a:endParaRPr lang="en-US" sz="1200" dirty="0"/>
              </a:p>
              <a:p>
                <a:pPr marL="171450" indent="-171450">
                  <a:buFontTx/>
                  <a:buChar char="-"/>
                </a:pPr>
                <a:endParaRPr lang="en-US" dirty="0"/>
              </a:p>
              <a:p>
                <a:pPr marL="0" indent="0">
                  <a:buFontTx/>
                  <a:buNone/>
                </a:pPr>
                <a:r>
                  <a:rPr lang="en-US" dirty="0"/>
                  <a:t>TWFE is just the multi-period, multi-group version of </a:t>
                </a:r>
                <a:r>
                  <a:rPr lang="en-US" dirty="0" err="1"/>
                  <a:t>DiD</a:t>
                </a:r>
                <a:r>
                  <a:rPr lang="en-US" dirty="0"/>
                  <a:t>:</a:t>
                </a:r>
              </a:p>
              <a:p>
                <a:pPr marL="171450" indent="-171450">
                  <a:buFontTx/>
                  <a:buChar char="-"/>
                </a:pPr>
                <a:r>
                  <a:rPr lang="en-US" dirty="0"/>
                  <a:t>Group FE absorb treated vs control baseline differences</a:t>
                </a:r>
              </a:p>
              <a:p>
                <a:pPr marL="171450" indent="-171450">
                  <a:buFontTx/>
                  <a:buChar char="-"/>
                </a:pPr>
                <a:r>
                  <a:rPr lang="en-US" dirty="0"/>
                  <a:t>Time FE absorb common before vs. after shocks</a:t>
                </a:r>
              </a:p>
              <a:p>
                <a:pPr marL="171450" indent="-171450">
                  <a:buFontTx/>
                  <a:buChar char="-"/>
                </a:pPr>
                <a:r>
                  <a:rPr lang="en-US" dirty="0"/>
                  <a:t>The new  </a:t>
                </a:r>
                <a:r>
                  <a:rPr lang="en-US" sz="1200" i="0">
                    <a:latin typeface="Cambria Math" panose="02040503050406030204" pitchFamily="18" charset="0"/>
                  </a:rPr>
                  <a:t>〖</a:t>
                </a:r>
                <a:r>
                  <a:rPr lang="en-US" sz="1200" b="0" i="0">
                    <a:latin typeface="Cambria Math" panose="02040503050406030204" pitchFamily="18" charset="0"/>
                  </a:rPr>
                  <a:t>𝑇𝑟𝑒𝑎𝑡𝑒𝑑〗_𝑖 "</a:t>
                </a:r>
                <a:r>
                  <a:rPr lang="en-US" sz="1200" i="0">
                    <a:latin typeface="Cambria Math" panose="02040503050406030204" pitchFamily="18" charset="0"/>
                  </a:rPr>
                  <a:t>·</a:t>
                </a:r>
                <a:r>
                  <a:rPr lang="el-GR" sz="1200" i="0" dirty="0">
                    <a:latin typeface="Cambria Math" panose="02040503050406030204" pitchFamily="18" charset="0"/>
                  </a:rPr>
                  <a:t>" 〖</a:t>
                </a:r>
                <a:r>
                  <a:rPr lang="en-US" sz="1200" b="0" i="0" dirty="0">
                    <a:latin typeface="Cambria Math" panose="02040503050406030204" pitchFamily="18" charset="0"/>
                  </a:rPr>
                  <a:t>𝑃𝑜𝑠𝑡</a:t>
                </a:r>
                <a:r>
                  <a:rPr lang="el-GR" sz="1200" b="0" i="0" dirty="0">
                    <a:latin typeface="Cambria Math" panose="02040503050406030204" pitchFamily="18" charset="0"/>
                  </a:rPr>
                  <a:t>〗_</a:t>
                </a:r>
                <a:r>
                  <a:rPr lang="en-US" sz="1200" b="0" i="0" dirty="0">
                    <a:latin typeface="Cambria Math" panose="02040503050406030204" pitchFamily="18" charset="0"/>
                  </a:rPr>
                  <a:t>𝑖𝑡</a:t>
                </a:r>
                <a:r>
                  <a:rPr lang="en-US" dirty="0"/>
                  <a:t> is</a:t>
                </a:r>
                <a:r>
                  <a:rPr lang="en-US" baseline="0" dirty="0"/>
                  <a:t> the </a:t>
                </a:r>
                <a:r>
                  <a:rPr lang="en-US" baseline="0" dirty="0" err="1"/>
                  <a:t>DiD</a:t>
                </a:r>
                <a:r>
                  <a:rPr lang="en-US" baseline="0" dirty="0"/>
                  <a:t> interaction, generalized to many groups/times</a:t>
                </a:r>
              </a:p>
              <a:p>
                <a:pPr marL="171450" indent="-171450">
                  <a:buFontTx/>
                  <a:buChar char="-"/>
                </a:pPr>
                <a:endParaRPr lang="en-US" baseline="0" dirty="0"/>
              </a:p>
              <a:p>
                <a:r>
                  <a:rPr lang="en-US" sz="1200" b="0" i="0" kern="1200" dirty="0">
                    <a:solidFill>
                      <a:schemeClr val="tx1"/>
                    </a:solidFill>
                    <a:effectLst/>
                    <a:latin typeface="+mn-lt"/>
                    <a:ea typeface="+mn-ea"/>
                    <a:cs typeface="+mn-cs"/>
                  </a:rPr>
                  <a:t>TWFE is a statistical method used to estimate the causal effect of a treatment in panel data by controlling for unit-specific and time-specific factors. It is a generalization of the </a:t>
                </a:r>
                <a:r>
                  <a:rPr lang="en-US" sz="1200" b="0" i="0" kern="1200" dirty="0">
                    <a:solidFill>
                      <a:schemeClr val="tx1"/>
                    </a:solidFill>
                    <a:effectLst/>
                    <a:latin typeface="+mn-lt"/>
                    <a:ea typeface="+mn-ea"/>
                    <a:cs typeface="+mn-cs"/>
                    <a:hlinkClick r:id="rId4"/>
                  </a:rPr>
                  <a:t>difference-in-differences (DiD) model</a:t>
                </a:r>
                <a:r>
                  <a:rPr lang="en-US" sz="1200" b="0" i="0" kern="1200" dirty="0">
                    <a:solidFill>
                      <a:schemeClr val="tx1"/>
                    </a:solidFill>
                    <a:effectLst/>
                    <a:latin typeface="+mn-lt"/>
                    <a:ea typeface="+mn-ea"/>
                    <a:cs typeface="+mn-cs"/>
                  </a:rPr>
                  <a:t> and can be effective when there is a single treatment event, but it can produce biased results when treatments are staggered or effects are heterogeneous over time or across groups. In such cases, alternative estimators are often recommended.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How it works</a:t>
                </a:r>
              </a:p>
              <a:p>
                <a:r>
                  <a:rPr lang="en-US" sz="1200" b="1" i="0" kern="1200" dirty="0">
                    <a:solidFill>
                      <a:schemeClr val="tx1"/>
                    </a:solidFill>
                    <a:effectLst/>
                    <a:latin typeface="+mn-lt"/>
                    <a:ea typeface="+mn-ea"/>
                    <a:cs typeface="+mn-cs"/>
                  </a:rPr>
                  <a:t>- Unit fixed effects:</a:t>
                </a:r>
                <a:r>
                  <a:rPr lang="en-US" sz="1200" b="0" i="0" kern="1200" dirty="0">
                    <a:solidFill>
                      <a:schemeClr val="tx1"/>
                    </a:solidFill>
                    <a:effectLst/>
                    <a:latin typeface="+mn-lt"/>
                    <a:ea typeface="+mn-ea"/>
                    <a:cs typeface="+mn-cs"/>
                  </a:rPr>
                  <a:t> Accounts for unobservable, time-invariant differences between units (e.g., individual companies, states, or people).</a:t>
                </a:r>
              </a:p>
              <a:p>
                <a:r>
                  <a:rPr lang="en-US" sz="1200" b="1" i="0" kern="1200" dirty="0">
                    <a:solidFill>
                      <a:schemeClr val="tx1"/>
                    </a:solidFill>
                    <a:effectLst/>
                    <a:latin typeface="+mn-lt"/>
                    <a:ea typeface="+mn-ea"/>
                    <a:cs typeface="+mn-cs"/>
                  </a:rPr>
                  <a:t>- Time fixed effects:</a:t>
                </a:r>
                <a:r>
                  <a:rPr lang="en-US" sz="1200" b="0" i="0" kern="1200" dirty="0">
                    <a:solidFill>
                      <a:schemeClr val="tx1"/>
                    </a:solidFill>
                    <a:effectLst/>
                    <a:latin typeface="+mn-lt"/>
                    <a:ea typeface="+mn-ea"/>
                    <a:cs typeface="+mn-cs"/>
                  </a:rPr>
                  <a:t> Accounts for unobservable factors that change over time and affect all units equally (e.g., macroeconomic shocks).</a:t>
                </a:r>
              </a:p>
              <a:p>
                <a:pPr marL="171450" indent="-171450">
                  <a:buFontTx/>
                  <a:buChar char="-"/>
                </a:pPr>
                <a:r>
                  <a:rPr lang="en-US" sz="1200" b="1" i="0" kern="1200" dirty="0">
                    <a:solidFill>
                      <a:schemeClr val="tx1"/>
                    </a:solidFill>
                    <a:effectLst/>
                    <a:latin typeface="+mn-lt"/>
                    <a:ea typeface="+mn-ea"/>
                    <a:cs typeface="+mn-cs"/>
                  </a:rPr>
                  <a:t>Estimation:</a:t>
                </a:r>
                <a:r>
                  <a:rPr lang="en-US" sz="1200" b="0" i="0" kern="1200" dirty="0">
                    <a:solidFill>
                      <a:schemeClr val="tx1"/>
                    </a:solidFill>
                    <a:effectLst/>
                    <a:latin typeface="+mn-lt"/>
                    <a:ea typeface="+mn-ea"/>
                    <a:cs typeface="+mn-cs"/>
                  </a:rPr>
                  <a:t> By including both sets of fixed effects, TWFE can isolate the effect of the treatment on the outcome variable by comparing the change in outcomes over time for treated versus untreated units. </a:t>
                </a:r>
              </a:p>
              <a:p>
                <a:pPr marL="171450" indent="-171450">
                  <a:buFontTx/>
                  <a:buChar cha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  </a:t>
                </a:r>
                <a:r>
                  <a:rPr lang="en-US" dirty="0" err="1"/>
                  <a:t>DiD</a:t>
                </a:r>
                <a:r>
                  <a:rPr lang="en-US" dirty="0"/>
                  <a:t> = change in treated – change in control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latin typeface="Cambria Math" panose="02040503050406030204" pitchFamily="18" charset="0"/>
                  </a:rPr>
                  <a:t>𝑌_𝑖𝑡</a:t>
                </a:r>
                <a:r>
                  <a:rPr lang="en-US" baseline="0" dirty="0"/>
                  <a:t>= </a:t>
                </a:r>
                <a:r>
                  <a:rPr lang="en-US" sz="1200" i="0">
                    <a:latin typeface="Cambria Math" panose="02040503050406030204" pitchFamily="18" charset="0"/>
                    <a:ea typeface="Cambria Math" panose="02040503050406030204" pitchFamily="18" charset="0"/>
                  </a:rPr>
                  <a:t>𝛽_</a:t>
                </a:r>
                <a:r>
                  <a:rPr lang="en-US" sz="1200" i="0">
                    <a:latin typeface="Cambria Math" panose="02040503050406030204" pitchFamily="18" charset="0"/>
                  </a:rPr>
                  <a:t>1</a:t>
                </a:r>
                <a:r>
                  <a:rPr lang="en-US" sz="1200" b="0" i="0">
                    <a:latin typeface="Cambria Math" panose="02040503050406030204" pitchFamily="18" charset="0"/>
                  </a:rPr>
                  <a:t> (</a:t>
                </a:r>
                <a:r>
                  <a:rPr lang="en-US" sz="1200" i="0">
                    <a:latin typeface="Cambria Math" panose="02040503050406030204" pitchFamily="18" charset="0"/>
                  </a:rPr>
                  <a:t>〖</a:t>
                </a:r>
                <a:r>
                  <a:rPr lang="en-US" sz="1200" b="0" i="0">
                    <a:latin typeface="Cambria Math" panose="02040503050406030204" pitchFamily="18" charset="0"/>
                  </a:rPr>
                  <a:t>𝑇𝑟𝑒𝑎𝑡𝑒𝑑〗_𝑖 "</a:t>
                </a:r>
                <a:r>
                  <a:rPr lang="en-US" sz="1200" i="0">
                    <a:latin typeface="Cambria Math" panose="02040503050406030204" pitchFamily="18" charset="0"/>
                  </a:rPr>
                  <a:t>·</a:t>
                </a:r>
                <a:r>
                  <a:rPr lang="el-GR" sz="1200" i="0" dirty="0">
                    <a:latin typeface="Cambria Math" panose="02040503050406030204" pitchFamily="18" charset="0"/>
                  </a:rPr>
                  <a:t>" 〖</a:t>
                </a:r>
                <a:r>
                  <a:rPr lang="en-US" sz="1200" b="0" i="0" dirty="0">
                    <a:latin typeface="Cambria Math" panose="02040503050406030204" pitchFamily="18" charset="0"/>
                  </a:rPr>
                  <a:t>𝑃𝑜𝑠𝑡</a:t>
                </a:r>
                <a:r>
                  <a:rPr lang="el-GR" sz="1200" b="0" i="0" dirty="0">
                    <a:latin typeface="Cambria Math" panose="02040503050406030204" pitchFamily="18" charset="0"/>
                  </a:rPr>
                  <a:t>〗_</a:t>
                </a:r>
                <a:r>
                  <a:rPr lang="en-US" sz="1200" b="0" i="0" dirty="0">
                    <a:latin typeface="Cambria Math" panose="02040503050406030204" pitchFamily="18" charset="0"/>
                  </a:rPr>
                  <a:t>𝑖𝑡</a:t>
                </a:r>
                <a:r>
                  <a:rPr lang="en-US" dirty="0"/>
                  <a:t>)</a:t>
                </a:r>
                <a:r>
                  <a:rPr lang="en-US" baseline="0" dirty="0"/>
                  <a:t> + </a:t>
                </a:r>
                <a:r>
                  <a:rPr lang="el-GR" sz="1200" i="0"/>
                  <a:t>"ϵ</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𝑖,𝑡</a:t>
                </a:r>
                <a:r>
                  <a:rPr lang="el-GR" sz="1200" i="0" dirty="0">
                    <a:latin typeface="Cambria Math" panose="02040503050406030204" pitchFamily="18" charset="0"/>
                  </a:rPr>
                  <a:t>)</a:t>
                </a:r>
                <a:r>
                  <a:rPr lang="en-US" dirty="0"/>
                  <a:t>, where  </a:t>
                </a:r>
                <a:r>
                  <a:rPr lang="en-US" sz="1200" i="0">
                    <a:latin typeface="Cambria Math" panose="02040503050406030204" pitchFamily="18" charset="0"/>
                    <a:ea typeface="Cambria Math" panose="02040503050406030204" pitchFamily="18" charset="0"/>
                  </a:rPr>
                  <a:t>𝛽_</a:t>
                </a:r>
                <a:r>
                  <a:rPr lang="en-US" sz="1200" i="0">
                    <a:latin typeface="Cambria Math" panose="02040503050406030204" pitchFamily="18" charset="0"/>
                  </a:rPr>
                  <a:t>1</a:t>
                </a:r>
                <a:r>
                  <a:rPr lang="en-US" dirty="0"/>
                  <a:t> is exactly the </a:t>
                </a:r>
                <a:r>
                  <a:rPr lang="en-US" dirty="0" err="1"/>
                  <a:t>DiD</a:t>
                </a:r>
                <a:r>
                  <a:rPr lang="en-US" dirty="0"/>
                  <a:t> formula above</a:t>
                </a:r>
                <a:r>
                  <a:rPr lang="en-US" baseline="0" dirty="0"/>
                  <a:t> (also the full regression expands to include the individual Treated and Post variables).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All </a:t>
                </a:r>
                <a:r>
                  <a:rPr lang="en-US" baseline="0" dirty="0" err="1"/>
                  <a:t>DiD</a:t>
                </a:r>
                <a:r>
                  <a:rPr lang="en-US" baseline="0" dirty="0"/>
                  <a:t> is doing is comparing how much outcomes move over time for treated vs. untreated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2. TWFE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latin typeface="Cambria Math" panose="02040503050406030204" pitchFamily="18" charset="0"/>
                  </a:rPr>
                  <a:t>𝑌_𝑖𝑡=</a:t>
                </a:r>
                <a:r>
                  <a:rPr lang="en-US" sz="1200" i="0">
                    <a:latin typeface="Cambria Math" panose="02040503050406030204" pitchFamily="18" charset="0"/>
                    <a:ea typeface="Cambria Math" panose="02040503050406030204" pitchFamily="18" charset="0"/>
                  </a:rPr>
                  <a:t>𝛽_</a:t>
                </a:r>
                <a:r>
                  <a:rPr lang="en-US" sz="1200" i="0">
                    <a:latin typeface="Cambria Math" panose="02040503050406030204" pitchFamily="18" charset="0"/>
                  </a:rPr>
                  <a:t>1</a:t>
                </a:r>
                <a:r>
                  <a:rPr lang="en-US" sz="1200" b="0" i="0">
                    <a:latin typeface="Cambria Math" panose="02040503050406030204" pitchFamily="18" charset="0"/>
                  </a:rPr>
                  <a:t> (</a:t>
                </a:r>
                <a:r>
                  <a:rPr lang="en-US" sz="1200" i="0">
                    <a:latin typeface="Cambria Math" panose="02040503050406030204" pitchFamily="18" charset="0"/>
                  </a:rPr>
                  <a:t>〖</a:t>
                </a:r>
                <a:r>
                  <a:rPr lang="en-US" sz="1200" b="0" i="0">
                    <a:latin typeface="Cambria Math" panose="02040503050406030204" pitchFamily="18" charset="0"/>
                  </a:rPr>
                  <a:t>𝑇𝑟𝑒𝑎𝑡𝑒𝑑〗_𝑖 "</a:t>
                </a:r>
                <a:r>
                  <a:rPr lang="en-US" sz="1200" i="0">
                    <a:latin typeface="Cambria Math" panose="02040503050406030204" pitchFamily="18" charset="0"/>
                  </a:rPr>
                  <a:t>·</a:t>
                </a:r>
                <a:r>
                  <a:rPr lang="el-GR" sz="1200" i="0" dirty="0">
                    <a:latin typeface="Cambria Math" panose="02040503050406030204" pitchFamily="18" charset="0"/>
                  </a:rPr>
                  <a:t>" 〖</a:t>
                </a:r>
                <a:r>
                  <a:rPr lang="en-US" sz="1200" b="0" i="0" dirty="0">
                    <a:latin typeface="Cambria Math" panose="02040503050406030204" pitchFamily="18" charset="0"/>
                  </a:rPr>
                  <a:t>𝑃𝑜𝑠𝑡</a:t>
                </a:r>
                <a:r>
                  <a:rPr lang="el-GR" sz="1200" b="0" i="0" dirty="0">
                    <a:latin typeface="Cambria Math" panose="02040503050406030204" pitchFamily="18" charset="0"/>
                  </a:rPr>
                  <a:t>〗_</a:t>
                </a:r>
                <a:r>
                  <a:rPr lang="en-US" sz="1200" b="0" i="0" dirty="0">
                    <a:latin typeface="Cambria Math" panose="02040503050406030204" pitchFamily="18" charset="0"/>
                  </a:rPr>
                  <a:t>𝑖𝑡</a:t>
                </a:r>
                <a:r>
                  <a:rPr lang="en-US" sz="1200" dirty="0"/>
                  <a:t>)</a:t>
                </a:r>
                <a:r>
                  <a:rPr lang="el-GR" sz="1200" dirty="0"/>
                  <a:t> </a:t>
                </a:r>
                <a:r>
                  <a:rPr lang="en-US" sz="1200" dirty="0"/>
                  <a:t>+ </a:t>
                </a:r>
                <a:r>
                  <a:rPr lang="en-US" sz="1200" i="0" dirty="0">
                    <a:latin typeface="Cambria Math" panose="02040503050406030204" pitchFamily="18" charset="0"/>
                  </a:rPr>
                  <a:t>𝑎</a:t>
                </a:r>
                <a:r>
                  <a:rPr lang="el-GR" sz="1200" i="0" dirty="0">
                    <a:latin typeface="Cambria Math" panose="02040503050406030204" pitchFamily="18" charset="0"/>
                  </a:rPr>
                  <a:t>_(</a:t>
                </a:r>
                <a:r>
                  <a:rPr lang="en-US" sz="1200" i="0" dirty="0">
                    <a:latin typeface="Cambria Math" panose="02040503050406030204" pitchFamily="18" charset="0"/>
                  </a:rPr>
                  <a:t>𝑖 </a:t>
                </a:r>
                <a:r>
                  <a:rPr lang="el-GR" sz="1200" i="0" dirty="0">
                    <a:latin typeface="Cambria Math" panose="02040503050406030204" pitchFamily="18" charset="0"/>
                  </a:rPr>
                  <a:t>)</a:t>
                </a:r>
                <a:r>
                  <a:rPr lang="en-US" sz="1200" i="0" dirty="0">
                    <a:latin typeface="Cambria Math" panose="02040503050406030204" pitchFamily="18" charset="0"/>
                  </a:rPr>
                  <a:t>+</a:t>
                </a:r>
                <a:r>
                  <a:rPr lang="el-GR" sz="1200" i="0" dirty="0">
                    <a:latin typeface="Cambria Math" panose="02040503050406030204" pitchFamily="18" charset="0"/>
                  </a:rPr>
                  <a:t>〖</a:t>
                </a:r>
                <a:r>
                  <a:rPr lang="el-GR" sz="1200" i="0">
                    <a:latin typeface="Cambria Math" panose="02040503050406030204" pitchFamily="18" charset="0"/>
                  </a:rPr>
                  <a:t>"</a:t>
                </a:r>
                <a:r>
                  <a:rPr lang="el-GR" sz="1200" i="0"/>
                  <a:t> ω</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𝑡+</a:t>
                </a:r>
                <a:r>
                  <a:rPr lang="el-GR" sz="1200" i="0"/>
                  <a:t>"ϵ</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𝑖,𝑡</a:t>
                </a:r>
                <a:r>
                  <a:rPr lang="el-GR" sz="1200" i="0" dirty="0">
                    <a:latin typeface="Cambria Math" panose="02040503050406030204" pitchFamily="18" charset="0"/>
                  </a:rPr>
                  <a:t>)</a:t>
                </a: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Unit FE subtracts off each unit’s usual level (its LR mean): this is what the first “difference” does in </a:t>
                </a:r>
                <a:r>
                  <a:rPr lang="en-US" dirty="0" err="1"/>
                  <a:t>DiD</a:t>
                </a:r>
                <a:r>
                  <a:rPr lang="en-US" dirty="0"/>
                  <a:t>: you’re looking at changes over time within a unit, not its raw level.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Time FE subtracts off each period’s overall mean: this is what the second “difference” does: you remove common shocks that hit everyone in a given period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removing both, the regression is effectively run on residuals that are “demeaned” by unit and time. On these residuals, the only remaining systematic pattern is: are units that become treated in the post period, above or below what you’d expect, relative to the units that stay untreated?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is exactly the </a:t>
                </a:r>
                <a:r>
                  <a:rPr lang="en-US" dirty="0" err="1"/>
                  <a:t>DiD</a:t>
                </a:r>
                <a:r>
                  <a:rPr lang="en-US" dirty="0"/>
                  <a:t> idea: </a:t>
                </a:r>
                <a:r>
                  <a:rPr lang="en-US" b="1" dirty="0"/>
                  <a:t>extra movement for treated units beyond what controls and time trends can explain.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Sports example: </a:t>
                </a:r>
                <a:r>
                  <a:rPr lang="en-US" sz="1200" i="0">
                    <a:latin typeface="Cambria Math" panose="02040503050406030204" pitchFamily="18" charset="0"/>
                  </a:rPr>
                  <a:t>〖</a:t>
                </a:r>
                <a:r>
                  <a:rPr lang="en-US" sz="1200" b="0" i="0">
                    <a:latin typeface="Cambria Math" panose="02040503050406030204" pitchFamily="18" charset="0"/>
                  </a:rPr>
                  <a:t>𝑙𝑛𝑍𝐻𝑉𝐼〗_𝑖𝑡=</a:t>
                </a:r>
                <a:r>
                  <a:rPr lang="en-US" sz="1200" i="0">
                    <a:latin typeface="Cambria Math" panose="02040503050406030204" pitchFamily="18" charset="0"/>
                    <a:ea typeface="Cambria Math" panose="02040503050406030204" pitchFamily="18" charset="0"/>
                  </a:rPr>
                  <a:t>𝛽_</a:t>
                </a:r>
                <a:r>
                  <a:rPr lang="en-US" sz="1200" i="0">
                    <a:latin typeface="Cambria Math" panose="02040503050406030204" pitchFamily="18" charset="0"/>
                  </a:rPr>
                  <a:t>1</a:t>
                </a:r>
                <a:r>
                  <a:rPr lang="en-US" sz="1200" b="0" i="0">
                    <a:latin typeface="Cambria Math" panose="02040503050406030204" pitchFamily="18" charset="0"/>
                  </a:rPr>
                  <a:t> (</a:t>
                </a:r>
                <a:r>
                  <a:rPr lang="en-US" sz="1200" i="0">
                    <a:latin typeface="Cambria Math" panose="02040503050406030204" pitchFamily="18" charset="0"/>
                  </a:rPr>
                  <a:t>〖</a:t>
                </a:r>
                <a:r>
                  <a:rPr lang="en-US" sz="1200" b="0" i="0">
                    <a:latin typeface="Cambria Math" panose="02040503050406030204" pitchFamily="18" charset="0"/>
                  </a:rPr>
                  <a:t>𝑇𝑟𝑒𝑎𝑡𝑒𝑑〗_𝑖 "</a:t>
                </a:r>
                <a:r>
                  <a:rPr lang="en-US" sz="1200" i="0">
                    <a:latin typeface="Cambria Math" panose="02040503050406030204" pitchFamily="18" charset="0"/>
                  </a:rPr>
                  <a:t>·</a:t>
                </a:r>
                <a:r>
                  <a:rPr lang="el-GR" sz="1200" i="0" dirty="0">
                    <a:latin typeface="Cambria Math" panose="02040503050406030204" pitchFamily="18" charset="0"/>
                  </a:rPr>
                  <a:t>" 〖</a:t>
                </a:r>
                <a:r>
                  <a:rPr lang="en-US" sz="1200" b="0" i="0" dirty="0">
                    <a:latin typeface="Cambria Math" panose="02040503050406030204" pitchFamily="18" charset="0"/>
                  </a:rPr>
                  <a:t>𝑃𝑜𝑠𝑡</a:t>
                </a:r>
                <a:r>
                  <a:rPr lang="el-GR" sz="1200" b="0" i="0" dirty="0">
                    <a:latin typeface="Cambria Math" panose="02040503050406030204" pitchFamily="18" charset="0"/>
                  </a:rPr>
                  <a:t>〗_</a:t>
                </a:r>
                <a:r>
                  <a:rPr lang="en-US" sz="1200" b="0" i="0" dirty="0">
                    <a:latin typeface="Cambria Math" panose="02040503050406030204" pitchFamily="18" charset="0"/>
                  </a:rPr>
                  <a:t>𝑖𝑡</a:t>
                </a:r>
                <a:r>
                  <a:rPr lang="en-US" sz="1200" dirty="0"/>
                  <a:t>)</a:t>
                </a:r>
                <a:r>
                  <a:rPr lang="el-GR" sz="1200" dirty="0"/>
                  <a:t> </a:t>
                </a:r>
                <a:r>
                  <a:rPr lang="en-US" sz="1200" dirty="0"/>
                  <a:t>+ </a:t>
                </a:r>
                <a:r>
                  <a:rPr lang="en-US" sz="1200" i="0" dirty="0">
                    <a:latin typeface="Cambria Math" panose="02040503050406030204" pitchFamily="18" charset="0"/>
                  </a:rPr>
                  <a:t>𝑎</a:t>
                </a:r>
                <a:r>
                  <a:rPr lang="el-GR" sz="1200" i="0" dirty="0">
                    <a:latin typeface="Cambria Math" panose="02040503050406030204" pitchFamily="18" charset="0"/>
                  </a:rPr>
                  <a:t>_(</a:t>
                </a:r>
                <a:r>
                  <a:rPr lang="en-US" sz="1200" i="0" dirty="0">
                    <a:latin typeface="Cambria Math" panose="02040503050406030204" pitchFamily="18" charset="0"/>
                  </a:rPr>
                  <a:t>𝑖 </a:t>
                </a:r>
                <a:r>
                  <a:rPr lang="el-GR" sz="1200" i="0" dirty="0">
                    <a:latin typeface="Cambria Math" panose="02040503050406030204" pitchFamily="18" charset="0"/>
                  </a:rPr>
                  <a:t>)</a:t>
                </a:r>
                <a:r>
                  <a:rPr lang="en-US" sz="1200" i="0" dirty="0">
                    <a:latin typeface="Cambria Math" panose="02040503050406030204" pitchFamily="18" charset="0"/>
                  </a:rPr>
                  <a:t>+</a:t>
                </a:r>
                <a:r>
                  <a:rPr lang="el-GR" sz="1200" i="0" dirty="0">
                    <a:latin typeface="Cambria Math" panose="02040503050406030204" pitchFamily="18" charset="0"/>
                  </a:rPr>
                  <a:t>〖</a:t>
                </a:r>
                <a:r>
                  <a:rPr lang="el-GR" sz="1200" i="0">
                    <a:latin typeface="Cambria Math" panose="02040503050406030204" pitchFamily="18" charset="0"/>
                  </a:rPr>
                  <a:t>"</a:t>
                </a:r>
                <a:r>
                  <a:rPr lang="el-GR" sz="1200" i="0"/>
                  <a:t> ω</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𝑡+</a:t>
                </a:r>
                <a:r>
                  <a:rPr lang="el-GR" sz="1200" i="0"/>
                  <a:t>"ϵ</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𝑖,𝑡</a:t>
                </a:r>
                <a:r>
                  <a:rPr lang="el-GR" sz="1200" i="0" dirty="0">
                    <a:latin typeface="Cambria Math" panose="02040503050406030204" pitchFamily="18" charset="0"/>
                  </a:rPr>
                  <a:t>)</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all metros are treated and treatment occurs at difference times.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Metro FEs subtracts each metro’s usual level, and month FEs subtract each month’s overall housing market level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what’s left, </a:t>
                </a:r>
                <a:r>
                  <a:rPr lang="en-US" sz="1200" i="0">
                    <a:latin typeface="Cambria Math" panose="02040503050406030204" pitchFamily="18" charset="0"/>
                    <a:ea typeface="Cambria Math" panose="02040503050406030204" pitchFamily="18" charset="0"/>
                  </a:rPr>
                  <a:t>𝛽</a:t>
                </a:r>
                <a:r>
                  <a:rPr lang="en-US" dirty="0"/>
                  <a:t> picks up whether treated metros, in the months</a:t>
                </a:r>
                <a:r>
                  <a:rPr lang="en-US" baseline="0" dirty="0"/>
                  <a:t> after their opening (post period), grow more than never-treated metros (and not-yet-treated metros)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Mathematically, </a:t>
                </a:r>
                <a:r>
                  <a:rPr lang="en-US" sz="1200" i="0">
                    <a:latin typeface="Cambria Math" panose="02040503050406030204" pitchFamily="18" charset="0"/>
                    <a:ea typeface="Cambria Math" panose="02040503050406030204" pitchFamily="18" charset="0"/>
                  </a:rPr>
                  <a:t>𝛽</a:t>
                </a:r>
                <a:r>
                  <a:rPr lang="en-US" dirty="0"/>
                  <a:t> is a weighted average of</a:t>
                </a:r>
                <a:r>
                  <a:rPr lang="en-US" baseline="0" dirty="0"/>
                  <a:t> a bunch of 2x2 </a:t>
                </a:r>
                <a:r>
                  <a:rPr lang="en-US" baseline="0" dirty="0" err="1"/>
                  <a:t>DiDs</a:t>
                </a:r>
                <a:r>
                  <a:rPr lang="en-US" baseline="0" dirty="0"/>
                  <a:t>: “early treated vs. never treated,” “late treated vs never treated,” sometimes “early treated vs later treated,” etc.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TWFE Is a generalization of </a:t>
                </a:r>
                <a:r>
                  <a:rPr lang="en-US" baseline="0" dirty="0" err="1"/>
                  <a:t>DiD</a:t>
                </a:r>
                <a:r>
                  <a:rPr lang="en-US" baseline="0" dirty="0"/>
                  <a:t> because in the simple case (1 treated, 1 control, 2 periods), TWFE = </a:t>
                </a:r>
                <a:r>
                  <a:rPr lang="en-US" baseline="0" dirty="0" err="1"/>
                  <a:t>DiD</a:t>
                </a:r>
                <a:r>
                  <a:rPr lang="en-US" baseline="0" dirty="0"/>
                  <a:t>. However in the big panel case, TWFE = many </a:t>
                </a:r>
                <a:r>
                  <a:rPr lang="en-US" baseline="0" dirty="0" err="1"/>
                  <a:t>DiD</a:t>
                </a:r>
                <a:r>
                  <a:rPr lang="en-US" baseline="0" dirty="0"/>
                  <a:t> comparisons stitched together in one regression.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Our example is nice </a:t>
                </a:r>
                <a:r>
                  <a:rPr lang="en-US" baseline="0" dirty="0" err="1"/>
                  <a:t>becaue</a:t>
                </a:r>
                <a:r>
                  <a:rPr lang="en-US" baseline="0" dirty="0"/>
                  <a:t> many metros are never treated and we only keep the first opening per metro, so most of the comparisons are clean “treated vs. never-treated” differences In growth, which is very close to the textbook </a:t>
                </a:r>
                <a:r>
                  <a:rPr lang="en-US" baseline="0" dirty="0" err="1"/>
                  <a:t>DiD</a:t>
                </a:r>
                <a:r>
                  <a:rPr lang="en-US" baseline="0" dirty="0"/>
                  <a:t> logic.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171450" indent="-171450">
                  <a:buFontTx/>
                  <a:buChar char="-"/>
                </a:pPr>
                <a:endParaRPr lang="en-US" dirty="0"/>
              </a:p>
              <a:p>
                <a:endParaRPr lang="en-US" dirty="0"/>
              </a:p>
              <a:p>
                <a:br>
                  <a:rPr lang="en-US" dirty="0"/>
                </a:br>
                <a:endParaRPr lang="en-US" dirty="0"/>
              </a:p>
            </p:txBody>
          </p:sp>
        </mc:Fallback>
      </mc:AlternateContent>
      <p:sp>
        <p:nvSpPr>
          <p:cNvPr id="4" name="Slide Number Placeholder 3"/>
          <p:cNvSpPr>
            <a:spLocks noGrp="1"/>
          </p:cNvSpPr>
          <p:nvPr>
            <p:ph type="sldNum" sz="quarter" idx="5"/>
          </p:nvPr>
        </p:nvSpPr>
        <p:spPr/>
        <p:txBody>
          <a:bodyPr/>
          <a:lstStyle/>
          <a:p>
            <a:fld id="{4EEF4DFB-297D-1045-A3AB-C5A7AFD16437}" type="slidenum">
              <a:rPr lang="en-US" smtClean="0"/>
              <a:t>13</a:t>
            </a:fld>
            <a:endParaRPr lang="en-US"/>
          </a:p>
        </p:txBody>
      </p:sp>
    </p:spTree>
    <p:extLst>
      <p:ext uri="{BB962C8B-B14F-4D97-AF65-F5344CB8AC3E}">
        <p14:creationId xmlns:p14="http://schemas.microsoft.com/office/powerpoint/2010/main" val="4112601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TWFE takes the </a:t>
                </a:r>
                <a:r>
                  <a:rPr lang="en-US" sz="1200" b="1" kern="1200" dirty="0" err="1">
                    <a:solidFill>
                      <a:schemeClr val="tx1"/>
                    </a:solidFill>
                    <a:effectLst/>
                    <a:latin typeface="+mn-lt"/>
                    <a:ea typeface="+mn-ea"/>
                    <a:cs typeface="+mn-cs"/>
                  </a:rPr>
                  <a:t>DiD</a:t>
                </a:r>
                <a:r>
                  <a:rPr lang="en-US" sz="1200" b="1" kern="1200" dirty="0">
                    <a:solidFill>
                      <a:schemeClr val="tx1"/>
                    </a:solidFill>
                    <a:effectLst/>
                    <a:latin typeface="+mn-lt"/>
                    <a:ea typeface="+mn-ea"/>
                    <a:cs typeface="+mn-cs"/>
                  </a:rPr>
                  <a:t> idea (“compare changes for treated vs control”) and applies it over and over across many units and many periods, after stripping out unit averages and time averages. That’s why it’s the natural generalization of </a:t>
                </a:r>
                <a:r>
                  <a:rPr lang="en-US" sz="1200" b="1" kern="1200" dirty="0" err="1">
                    <a:solidFill>
                      <a:schemeClr val="tx1"/>
                    </a:solidFill>
                    <a:effectLst/>
                    <a:latin typeface="+mn-lt"/>
                    <a:ea typeface="+mn-ea"/>
                    <a:cs typeface="+mn-cs"/>
                  </a:rPr>
                  <a:t>DiD</a:t>
                </a:r>
                <a:r>
                  <a:rPr lang="en-US" sz="1200" b="1" kern="1200" dirty="0">
                    <a:solidFill>
                      <a:schemeClr val="tx1"/>
                    </a:solidFill>
                    <a:effectLst/>
                    <a:latin typeface="+mn-lt"/>
                    <a:ea typeface="+mn-ea"/>
                    <a:cs typeface="+mn-cs"/>
                  </a:rPr>
                  <a:t> to panel data.</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“On average, by how much did home prices in treated metros change because of the venue opening, beyond what would have happened over time and beyond normal differences between metros?”</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b="0" dirty="0"/>
              </a:p>
              <a:p>
                <a:endParaRPr lang="en-US" dirty="0"/>
              </a:p>
            </p:txBody>
          </p:sp>
        </mc:Choice>
        <mc:Fallback xmlns="">
          <p:sp>
            <p:nvSpPr>
              <p:cNvPr id="3" name="Notes Placeholder 2"/>
              <p:cNvSpPr>
                <a:spLocks noGrp="1"/>
              </p:cNvSpPr>
              <p:nvPr>
                <p:ph type="body" idx="1"/>
              </p:nvPr>
            </p:nvSpPr>
            <p:spPr/>
            <p:txBody>
              <a:bodyPr/>
              <a:lstStyle/>
              <a:p>
                <a:r>
                  <a:rPr lang="en-US" b="1" dirty="0"/>
                  <a:t>1. The core problem (in plain English)</a:t>
                </a:r>
                <a:endParaRPr lang="en-US" dirty="0"/>
              </a:p>
              <a:p>
                <a:r>
                  <a:rPr lang="en-US" sz="1200" kern="1200" dirty="0">
                    <a:solidFill>
                      <a:schemeClr val="tx1"/>
                    </a:solidFill>
                    <a:effectLst/>
                    <a:latin typeface="+mn-lt"/>
                    <a:ea typeface="+mn-ea"/>
                    <a:cs typeface="+mn-cs"/>
                  </a:rPr>
                  <a:t>“Does getting a new stadium/arena change home prices in a city?”</a:t>
                </a:r>
              </a:p>
              <a:p>
                <a:endParaRPr lang="en-US" dirty="0"/>
              </a:p>
              <a:p>
                <a:r>
                  <a:rPr lang="en-US" dirty="0"/>
                  <a:t>But cities are </a:t>
                </a:r>
                <a:r>
                  <a:rPr lang="en-US" b="1" dirty="0"/>
                  <a:t>already different</a:t>
                </a:r>
                <a:r>
                  <a:rPr lang="en-US" dirty="0"/>
                  <a:t> from each other, and </a:t>
                </a:r>
                <a:r>
                  <a:rPr lang="en-US" b="1" dirty="0"/>
                  <a:t>time periods</a:t>
                </a:r>
                <a:r>
                  <a:rPr lang="en-US" dirty="0"/>
                  <a:t> are already different from each other:</a:t>
                </a:r>
              </a:p>
              <a:p>
                <a:r>
                  <a:rPr lang="en-US" dirty="0"/>
                  <a:t>Charlotte vs San Francisco vs Detroit</a:t>
                </a:r>
              </a:p>
              <a:p>
                <a:r>
                  <a:rPr lang="en-US" dirty="0"/>
                  <a:t>2002 vs 2008 housing crash vs 2021 COVID boom</a:t>
                </a:r>
              </a:p>
              <a:p>
                <a:br>
                  <a:rPr lang="en-US" dirty="0"/>
                </a:br>
                <a:endParaRPr lang="en-US" dirty="0"/>
              </a:p>
              <a:p>
                <a:r>
                  <a:rPr lang="en-US" dirty="0"/>
                  <a:t>If you don’t control for those differences, you’ll mix up:</a:t>
                </a:r>
              </a:p>
              <a:p>
                <a:r>
                  <a:rPr lang="en-US" dirty="0"/>
                  <a:t>“Effect of the stadium” with the “Effect of being a rich/growing city” or the “Effect of a national housing boom/crash”</a:t>
                </a:r>
              </a:p>
              <a:p>
                <a:br>
                  <a:rPr lang="en-US" b="0" dirty="0"/>
                </a:br>
                <a:r>
                  <a:rPr lang="en-US" b="0" dirty="0"/>
                  <a:t>Fixed effects are just a systematic way to soak up those background differences so we don’t blame them on the stadium.</a:t>
                </a:r>
              </a:p>
              <a:p>
                <a:endParaRPr lang="en-US" b="0" dirty="0"/>
              </a:p>
              <a:p>
                <a:r>
                  <a:rPr lang="en-US" b="0" dirty="0"/>
                  <a:t>2. Metro fixed effects “each city gets its own baseline”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Idea:</a:t>
                </a:r>
                <a:r>
                  <a:rPr lang="en-US" dirty="0"/>
                  <a:t> give each metro its own </a:t>
                </a:r>
                <a:r>
                  <a:rPr lang="en-US" b="1" dirty="0"/>
                  <a:t>average level</a:t>
                </a:r>
                <a:r>
                  <a:rPr lang="en-US" dirty="0"/>
                  <a:t> of prices that we treat as “built in” and not caused by the stadium.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“Charlotte is a Charlotte-type city, San Francisco is a San-Francisco-type city, and that doesn’t change over our sample.”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They have different long-run average home-price levels because of amenities, job markets, geography, etc.</a:t>
                </a:r>
              </a:p>
              <a:p>
                <a:r>
                  <a:rPr lang="en-US" sz="1200" kern="1200" dirty="0">
                    <a:solidFill>
                      <a:schemeClr val="tx1"/>
                    </a:solidFill>
                    <a:effectLst/>
                    <a:latin typeface="+mn-lt"/>
                    <a:ea typeface="+mn-ea"/>
                    <a:cs typeface="+mn-cs"/>
                  </a:rPr>
                  <a:t>We don’t want to confuse those permanent differences with the effect of building a stadium.</a:t>
                </a:r>
              </a:p>
              <a:p>
                <a:endParaRPr lang="en-US" b="0" dirty="0"/>
              </a:p>
              <a:p>
                <a:r>
                  <a:rPr lang="en-US" sz="1200" kern="1200" dirty="0">
                    <a:solidFill>
                      <a:schemeClr val="tx1"/>
                    </a:solidFill>
                    <a:effectLst/>
                    <a:latin typeface="+mn-lt"/>
                    <a:ea typeface="+mn-ea"/>
                    <a:cs typeface="+mn-cs"/>
                  </a:rPr>
                  <a:t>“After the stadium, do </a:t>
                </a:r>
                <a:r>
                  <a:rPr lang="en-US" sz="1200" b="1" kern="1200" dirty="0">
                    <a:solidFill>
                      <a:schemeClr val="tx1"/>
                    </a:solidFill>
                    <a:effectLst/>
                    <a:latin typeface="+mn-lt"/>
                    <a:ea typeface="+mn-ea"/>
                    <a:cs typeface="+mn-cs"/>
                  </a:rPr>
                  <a:t>Charlotte’s</a:t>
                </a:r>
                <a:r>
                  <a:rPr lang="en-US" sz="1200" kern="1200" dirty="0">
                    <a:solidFill>
                      <a:schemeClr val="tx1"/>
                    </a:solidFill>
                    <a:effectLst/>
                    <a:latin typeface="+mn-lt"/>
                    <a:ea typeface="+mn-ea"/>
                    <a:cs typeface="+mn-cs"/>
                  </a:rPr>
                  <a:t> prices rise relative to what </a:t>
                </a:r>
                <a:r>
                  <a:rPr lang="en-US" sz="1200" b="1" kern="1200" dirty="0">
                    <a:solidFill>
                      <a:schemeClr val="tx1"/>
                    </a:solidFill>
                    <a:effectLst/>
                    <a:latin typeface="+mn-lt"/>
                    <a:ea typeface="+mn-ea"/>
                    <a:cs typeface="+mn-cs"/>
                  </a:rPr>
                  <a:t>Charlotte</a:t>
                </a:r>
                <a:r>
                  <a:rPr lang="en-US" sz="1200" kern="1200" dirty="0">
                    <a:solidFill>
                      <a:schemeClr val="tx1"/>
                    </a:solidFill>
                    <a:effectLst/>
                    <a:latin typeface="+mn-lt"/>
                    <a:ea typeface="+mn-ea"/>
                    <a:cs typeface="+mn-cs"/>
                  </a:rPr>
                  <a:t> looked like before?</a:t>
                </a:r>
              </a:p>
              <a:p>
                <a:r>
                  <a:rPr lang="en-US" sz="1200" kern="1200" dirty="0">
                    <a:solidFill>
                      <a:schemeClr val="tx1"/>
                    </a:solidFill>
                    <a:effectLst/>
                    <a:latin typeface="+mn-lt"/>
                    <a:ea typeface="+mn-ea"/>
                    <a:cs typeface="+mn-cs"/>
                  </a:rPr>
                  <a:t>And do </a:t>
                </a:r>
                <a:r>
                  <a:rPr lang="en-US" sz="1200" b="1" kern="1200" dirty="0">
                    <a:solidFill>
                      <a:schemeClr val="tx1"/>
                    </a:solidFill>
                    <a:effectLst/>
                    <a:latin typeface="+mn-lt"/>
                    <a:ea typeface="+mn-ea"/>
                    <a:cs typeface="+mn-cs"/>
                  </a:rPr>
                  <a:t>SF’s</a:t>
                </a:r>
                <a:r>
                  <a:rPr lang="en-US" sz="1200" kern="1200" dirty="0">
                    <a:solidFill>
                      <a:schemeClr val="tx1"/>
                    </a:solidFill>
                    <a:effectLst/>
                    <a:latin typeface="+mn-lt"/>
                    <a:ea typeface="+mn-ea"/>
                    <a:cs typeface="+mn-cs"/>
                  </a:rPr>
                  <a:t> prices rise relative to what </a:t>
                </a:r>
                <a:r>
                  <a:rPr lang="en-US" sz="1200" b="1" kern="1200" dirty="0">
                    <a:solidFill>
                      <a:schemeClr val="tx1"/>
                    </a:solidFill>
                    <a:effectLst/>
                    <a:latin typeface="+mn-lt"/>
                    <a:ea typeface="+mn-ea"/>
                    <a:cs typeface="+mn-cs"/>
                  </a:rPr>
                  <a:t>SF</a:t>
                </a:r>
                <a:r>
                  <a:rPr lang="en-US" sz="1200" kern="1200" dirty="0">
                    <a:solidFill>
                      <a:schemeClr val="tx1"/>
                    </a:solidFill>
                    <a:effectLst/>
                    <a:latin typeface="+mn-lt"/>
                    <a:ea typeface="+mn-ea"/>
                    <a:cs typeface="+mn-cs"/>
                  </a:rPr>
                  <a:t> looked like before?”</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“Metro fixed effects mean: </a:t>
                </a:r>
                <a:r>
                  <a:rPr lang="en-US" sz="1200" i="1" kern="1200" dirty="0">
                    <a:solidFill>
                      <a:schemeClr val="tx1"/>
                    </a:solidFill>
                    <a:effectLst/>
                    <a:latin typeface="+mn-lt"/>
                    <a:ea typeface="+mn-ea"/>
                    <a:cs typeface="+mn-cs"/>
                  </a:rPr>
                  <a:t>compare each city to itself over time</a:t>
                </a:r>
                <a:r>
                  <a:rPr lang="en-US" sz="1200" kern="1200" dirty="0">
                    <a:solidFill>
                      <a:schemeClr val="tx1"/>
                    </a:solidFill>
                    <a:effectLst/>
                    <a:latin typeface="+mn-lt"/>
                    <a:ea typeface="+mn-ea"/>
                    <a:cs typeface="+mn-cs"/>
                  </a:rPr>
                  <a:t>, not to some other city that started from a totally different level.”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3. Month Fixed effects “each month gets its own national shock”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Idea:</a:t>
                </a:r>
                <a:r>
                  <a:rPr lang="en-US" dirty="0"/>
                  <a:t> give every calendar month its own effect that is </a:t>
                </a:r>
                <a:r>
                  <a:rPr lang="en-US" b="1" dirty="0"/>
                  <a:t>common to all metros</a:t>
                </a:r>
                <a:r>
                  <a:rPr lang="en-US" dirty="0"/>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“Month fixed effects mean we’re always comparing Charlotte to other cities in the </a:t>
                </a:r>
                <a:r>
                  <a:rPr lang="en-US" sz="1200" b="1" kern="1200" dirty="0">
                    <a:solidFill>
                      <a:schemeClr val="tx1"/>
                    </a:solidFill>
                    <a:effectLst/>
                    <a:latin typeface="+mn-lt"/>
                    <a:ea typeface="+mn-ea"/>
                    <a:cs typeface="+mn-cs"/>
                  </a:rPr>
                  <a:t>same month</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So if there’s a big national boom or crash, that is absorbed by the month effect, not by the stadium variable.”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4. We subtract each metro’s usual self (its average level), we subtract each month’s usual self (the common national shock),</a:t>
                </a:r>
                <a:r>
                  <a:rPr lang="en-US" sz="1200" kern="1200" baseline="0" dirty="0">
                    <a:solidFill>
                      <a:schemeClr val="tx1"/>
                    </a:solidFill>
                    <a:effectLst/>
                    <a:latin typeface="+mn-lt"/>
                    <a:ea typeface="+mn-ea"/>
                    <a:cs typeface="+mn-cs"/>
                  </a:rPr>
                  <a:t> a</a:t>
                </a:r>
                <a:r>
                  <a:rPr lang="en-US" sz="1200" kern="1200" dirty="0">
                    <a:solidFill>
                      <a:schemeClr val="tx1"/>
                    </a:solidFill>
                    <a:effectLst/>
                    <a:latin typeface="+mn-lt"/>
                    <a:ea typeface="+mn-ea"/>
                    <a:cs typeface="+mn-cs"/>
                  </a:rPr>
                  <a:t>nd </a:t>
                </a:r>
                <a:r>
                  <a:rPr lang="en-US" i="0">
                    <a:latin typeface="Cambria Math" panose="02040503050406030204" pitchFamily="18" charset="0"/>
                    <a:ea typeface="Cambria Math" panose="02040503050406030204" pitchFamily="18" charset="0"/>
                  </a:rPr>
                  <a:t>𝛽_</a:t>
                </a:r>
                <a:r>
                  <a:rPr lang="en-US" i="0">
                    <a:latin typeface="Cambria Math" panose="02040503050406030204" pitchFamily="18" charset="0"/>
                  </a:rPr>
                  <a:t>1</a:t>
                </a:r>
                <a:r>
                  <a:rPr lang="en-US" sz="1200" kern="1200" dirty="0">
                    <a:solidFill>
                      <a:schemeClr val="tx1"/>
                    </a:solidFill>
                    <a:effectLst/>
                    <a:latin typeface="+mn-lt"/>
                    <a:ea typeface="+mn-ea"/>
                    <a:cs typeface="+mn-cs"/>
                  </a:rPr>
                  <a:t> tells us </a:t>
                </a:r>
                <a:r>
                  <a:rPr lang="en-US" sz="1200" b="1" kern="1200" dirty="0">
                    <a:solidFill>
                      <a:schemeClr val="tx1"/>
                    </a:solidFill>
                    <a:effectLst/>
                    <a:latin typeface="+mn-lt"/>
                    <a:ea typeface="+mn-ea"/>
                    <a:cs typeface="+mn-cs"/>
                  </a:rPr>
                  <a:t>how much higher or lower ln(ZHVI) tends to be in post months relative to non-post months</a:t>
                </a:r>
                <a:r>
                  <a:rPr lang="en-US" sz="1200" kern="1200" dirty="0">
                    <a:solidFill>
                      <a:schemeClr val="tx1"/>
                    </a:solidFill>
                    <a:effectLst/>
                    <a:latin typeface="+mn-lt"/>
                    <a:ea typeface="+mn-ea"/>
                    <a:cs typeface="+mn-cs"/>
                  </a:rPr>
                  <a:t>, on average, for treated metros compared to never-treated/not-yet-treated metros.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b="0" dirty="0"/>
              </a:p>
              <a:p>
                <a:endParaRPr lang="en-US" dirty="0"/>
              </a:p>
            </p:txBody>
          </p:sp>
        </mc:Fallback>
      </mc:AlternateContent>
      <p:sp>
        <p:nvSpPr>
          <p:cNvPr id="4" name="Slide Number Placeholder 3"/>
          <p:cNvSpPr>
            <a:spLocks noGrp="1"/>
          </p:cNvSpPr>
          <p:nvPr>
            <p:ph type="sldNum" sz="quarter" idx="5"/>
          </p:nvPr>
        </p:nvSpPr>
        <p:spPr/>
        <p:txBody>
          <a:bodyPr/>
          <a:lstStyle/>
          <a:p>
            <a:fld id="{4EEF4DFB-297D-1045-A3AB-C5A7AFD16437}" type="slidenum">
              <a:rPr lang="en-US" smtClean="0"/>
              <a:t>14</a:t>
            </a:fld>
            <a:endParaRPr lang="en-US"/>
          </a:p>
        </p:txBody>
      </p:sp>
    </p:spTree>
    <p:extLst>
      <p:ext uri="{BB962C8B-B14F-4D97-AF65-F5344CB8AC3E}">
        <p14:creationId xmlns:p14="http://schemas.microsoft.com/office/powerpoint/2010/main" val="4057690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Model</a:t>
            </a:r>
          </a:p>
          <a:p>
            <a:pPr marL="285750" indent="-285750">
              <a:buFont typeface="Arial" panose="020B0604020202020204" pitchFamily="34" charset="0"/>
              <a:buChar char="•"/>
            </a:pPr>
            <a:r>
              <a:rPr lang="en-US" sz="1400" b="1" dirty="0"/>
              <a:t>Outcome: </a:t>
            </a:r>
            <a:r>
              <a:rPr lang="en-US" sz="1400" b="0" dirty="0"/>
              <a:t>ln(ZHVI)_it so coefficients are in approximate percent terms</a:t>
            </a:r>
          </a:p>
          <a:p>
            <a:pPr marL="285750" indent="-285750">
              <a:buFont typeface="Arial" panose="020B0604020202020204" pitchFamily="34" charset="0"/>
              <a:buChar char="•"/>
            </a:pPr>
            <a:r>
              <a:rPr lang="en-US" sz="1400" b="0" dirty="0"/>
              <a:t>Treatment indicator: </a:t>
            </a:r>
            <a:r>
              <a:rPr lang="en-US" sz="1400" b="0" dirty="0" err="1"/>
              <a:t>post_it</a:t>
            </a:r>
            <a:r>
              <a:rPr lang="en-US" sz="1400" b="0" dirty="0"/>
              <a:t> = 1 starting in the opening month (</a:t>
            </a:r>
            <a:r>
              <a:rPr lang="en-US" sz="1400" b="0" dirty="0" err="1"/>
              <a:t>open_ym</a:t>
            </a:r>
            <a:r>
              <a:rPr lang="en-US" sz="1400" b="0" dirty="0"/>
              <a:t>) for that metro and every month after; 0 beforehand. Metros that never open a new venue in 2000–2025 stay at 0.</a:t>
            </a:r>
          </a:p>
          <a:p>
            <a:pPr marL="285750" indent="-285750">
              <a:buFont typeface="Arial" panose="020B0604020202020204" pitchFamily="34" charset="0"/>
              <a:buChar char="•"/>
            </a:pPr>
            <a:r>
              <a:rPr lang="en-US" sz="1400" b="1" dirty="0"/>
              <a:t>Metro FE </a:t>
            </a:r>
            <a:r>
              <a:rPr lang="en-US" sz="1400" b="0" dirty="0"/>
              <a:t>remove time-invariant differences across metros (size, amenities, long-run level of prices).</a:t>
            </a:r>
          </a:p>
          <a:p>
            <a:pPr marL="285750" indent="-285750">
              <a:buFont typeface="Arial" panose="020B0604020202020204" pitchFamily="34" charset="0"/>
              <a:buChar char="•"/>
            </a:pPr>
            <a:r>
              <a:rPr lang="en-US" sz="1400" b="1" dirty="0"/>
              <a:t>Month FE </a:t>
            </a:r>
            <a:r>
              <a:rPr lang="en-US" sz="1400" b="0" dirty="0"/>
              <a:t>remove nationwide/statewide housing cycles and shocks like interest rates, COVID, etc. that are common to all metros.</a:t>
            </a:r>
          </a:p>
          <a:p>
            <a:pPr marL="285750" indent="-285750">
              <a:buFont typeface="Arial" panose="020B0604020202020204" pitchFamily="34" charset="0"/>
              <a:buChar char="•"/>
            </a:pPr>
            <a:r>
              <a:rPr lang="en-US" sz="1400" b="1" dirty="0"/>
              <a:t>Cluster by metro </a:t>
            </a:r>
            <a:r>
              <a:rPr lang="en-US" sz="1400" b="0" dirty="0"/>
              <a:t>(entity): lets residuals be serially correlated within the same metro over time (very common in housing data). </a:t>
            </a:r>
          </a:p>
          <a:p>
            <a:pPr marL="285750" indent="-285750">
              <a:buFont typeface="Arial" panose="020B0604020202020204" pitchFamily="34" charset="0"/>
              <a:buChar char="•"/>
            </a:pPr>
            <a:r>
              <a:rPr lang="en-US" sz="1400" b="1" dirty="0"/>
              <a:t>Cluster by month </a:t>
            </a:r>
            <a:r>
              <a:rPr lang="en-US" sz="1400" b="0" dirty="0"/>
              <a:t>(time): but even with month fixed effects, residuals can still be correlated across metros within the same month (shared shocks not fully captured). To allow that cross-sectional (same-time) correlation we also cluster by time.</a:t>
            </a:r>
          </a:p>
          <a:p>
            <a:pPr marL="285750" indent="-285750">
              <a:buFont typeface="Arial" panose="020B0604020202020204" pitchFamily="34" charset="0"/>
              <a:buChar char="•"/>
            </a:pPr>
            <a:endParaRPr lang="en-US" sz="1400" dirty="0"/>
          </a:p>
          <a:p>
            <a:r>
              <a:rPr lang="en-US" sz="1400" b="1" dirty="0"/>
              <a:t>Results:</a:t>
            </a:r>
          </a:p>
          <a:p>
            <a:pPr marL="285750" indent="-285750">
              <a:buFont typeface="Arial" panose="020B0604020202020204" pitchFamily="34" charset="0"/>
              <a:buChar char="•"/>
            </a:pPr>
            <a:r>
              <a:rPr lang="en-US" sz="1400" b="0" dirty="0"/>
              <a:t>For a metro once its venue opens, its average ZHVI level in the months after opening is about 3.9% higher than its own pre-opening level relative to the same-month evolution in metros that haven’t opened yet (or never open).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t>It’s an average over all post-opening months and across treated metros (early openers contribute more post months, so slightly more weight).</a:t>
            </a:r>
          </a:p>
          <a:p>
            <a:pPr marL="285750" lvl="0" indent="-285750">
              <a:buFont typeface="Arial" panose="020B0604020202020204" pitchFamily="34" charset="0"/>
              <a:buChar char="•"/>
            </a:pPr>
            <a:r>
              <a:rPr lang="en-US" sz="1400" b="0" dirty="0"/>
              <a:t>Not significant at the 5% level, but yes at the 10% level (p ≈ 0.054).</a:t>
            </a:r>
          </a:p>
          <a:p>
            <a:pPr marL="285750" lvl="0" indent="-285750">
              <a:buFont typeface="Arial" panose="020B0604020202020204" pitchFamily="34" charset="0"/>
              <a:buChar char="•"/>
            </a:pPr>
            <a:r>
              <a:rPr lang="en-US" sz="1400" b="0" dirty="0"/>
              <a:t>Entities = 377, Time periods = 309, </a:t>
            </a:r>
            <a:r>
              <a:rPr lang="en-US" sz="1400" b="0" dirty="0" err="1"/>
              <a:t>Obs</a:t>
            </a:r>
            <a:r>
              <a:rPr lang="en-US" sz="1400" b="0" dirty="0"/>
              <a:t> ≈ 105,824.</a:t>
            </a:r>
          </a:p>
          <a:p>
            <a:pPr marL="285750" lvl="0" indent="-285750">
              <a:buFont typeface="Arial" panose="020B0604020202020204" pitchFamily="34" charset="0"/>
              <a:buChar char="•"/>
            </a:pPr>
            <a:r>
              <a:rPr lang="en-US" sz="1400" b="0" dirty="0"/>
              <a:t>R² (within) is tiny. Normal here: with fixed effects and a single step-function regressor, most variation is absorbed by FE and idiosyncratic shocks.</a:t>
            </a:r>
          </a:p>
          <a:p>
            <a:endParaRPr lang="en-US" sz="1400" b="1" dirty="0"/>
          </a:p>
          <a:p>
            <a:r>
              <a:rPr lang="en-US" sz="1400" b="1" dirty="0"/>
              <a:t>What this result does and does not say</a:t>
            </a:r>
          </a:p>
          <a:p>
            <a:pPr marL="285750" indent="-285750">
              <a:buFont typeface="Arial" panose="020B0604020202020204" pitchFamily="34" charset="0"/>
              <a:buChar char="•"/>
            </a:pPr>
            <a:r>
              <a:rPr lang="en-US" sz="1400" b="0" dirty="0"/>
              <a:t>It’s a pooled average “step” effect that treats all post-months the same. If effects phase in (construction/anticipation) or fade out, this spec blends them.</a:t>
            </a:r>
          </a:p>
          <a:p>
            <a:pPr marL="285750" indent="-285750">
              <a:buFont typeface="Arial" panose="020B0604020202020204" pitchFamily="34" charset="0"/>
              <a:buChar char="•"/>
            </a:pPr>
            <a:r>
              <a:rPr lang="en-US" sz="1400" b="0" dirty="0"/>
              <a:t>It does not control for any local time-varying confounders (e.g., coincident transit expansions, downtown revitalization). If venue timing is correlated with local booms, B can be biased.</a:t>
            </a:r>
          </a:p>
          <a:p>
            <a:pPr marL="285750" indent="-285750">
              <a:buFont typeface="Arial" panose="020B0604020202020204" pitchFamily="34" charset="0"/>
              <a:buChar char="•"/>
            </a:pPr>
            <a:r>
              <a:rPr lang="en-US" sz="1400" b="0" dirty="0"/>
              <a:t>It uses the first opening only per metro (by how we built the panel), and it doesn’t use cost or public share—just a binary “venue opened.”</a:t>
            </a:r>
          </a:p>
          <a:p>
            <a:pPr marL="285750" indent="-285750">
              <a:buFont typeface="Arial" panose="020B0604020202020204" pitchFamily="34" charset="0"/>
              <a:buChar char="•"/>
            </a:pPr>
            <a:r>
              <a:rPr lang="en-US" sz="1400" b="0" dirty="0"/>
              <a:t>Caveats: </a:t>
            </a:r>
            <a:r>
              <a:rPr lang="en-US" sz="1400" dirty="0"/>
              <a:t>Causality depends on parallel trends: in the absence of a venue opening, do the treated metros follow the same month-to-month pattern as the non-treated metros</a:t>
            </a:r>
          </a:p>
          <a:p>
            <a:endParaRPr lang="en-US" sz="1600" dirty="0"/>
          </a:p>
          <a:p>
            <a:endParaRPr lang="en-US" sz="1600" dirty="0"/>
          </a:p>
          <a:p>
            <a:r>
              <a:rPr lang="en-US" sz="1600" b="1" dirty="0"/>
              <a:t>Beta is the “Average after-opening shift, pooling all post months”</a:t>
            </a:r>
          </a:p>
          <a:p>
            <a:endParaRPr lang="en-US" sz="1600" b="1" dirty="0"/>
          </a:p>
          <a:p>
            <a:r>
              <a:rPr lang="en-US" sz="1600" b="1" dirty="0"/>
              <a:t>1. Within each metro, compare “after vs. before.”</a:t>
            </a:r>
            <a:endParaRPr lang="en-US" sz="1600" dirty="0"/>
          </a:p>
          <a:p>
            <a:r>
              <a:rPr lang="en-US" sz="1600" b="0" dirty="0"/>
              <a:t>Metro fixed effects remove each metro’s average level, so what’s left is how that metro moves relative to its own baseline when the venue switches on.</a:t>
            </a:r>
          </a:p>
          <a:p>
            <a:endParaRPr lang="en-US" sz="1600" dirty="0"/>
          </a:p>
          <a:p>
            <a:r>
              <a:rPr lang="en-US" sz="1600" b="1" dirty="0"/>
              <a:t>2. In each month, compare to metros that haven’t opened yet (and never-treated).</a:t>
            </a:r>
            <a:endParaRPr lang="en-US" sz="1600" dirty="0"/>
          </a:p>
          <a:p>
            <a:r>
              <a:rPr lang="en-US" sz="1600" b="0" dirty="0"/>
              <a:t>Month fixed effects remove nationwide housing shocks that hit everyone (rates, COVID, etc.). That forces the “after vs. before” change to be judged relative to other metros in the same month that are still untreated (plus any never-treated metros).</a:t>
            </a:r>
          </a:p>
          <a:p>
            <a:endParaRPr lang="en-US" sz="1600" dirty="0"/>
          </a:p>
          <a:p>
            <a:r>
              <a:rPr lang="en-US" sz="1600" b="1" dirty="0"/>
              <a:t>3. Average those post-opening differences across all post months and metros, with weights.</a:t>
            </a:r>
            <a:endParaRPr lang="en-US" sz="1600" dirty="0"/>
          </a:p>
          <a:p>
            <a:r>
              <a:rPr lang="en-US" sz="1600" b="0" dirty="0"/>
              <a:t>Every treated post observation contributes to the estimate. Metros that opened earlier simply have more post months, so they get more weight. Also, units with a longer </a:t>
            </a:r>
            <a:r>
              <a:rPr lang="en-US" sz="1600" b="0" dirty="0" err="1"/>
              <a:t>pre+post</a:t>
            </a:r>
            <a:r>
              <a:rPr lang="en-US" sz="1600" b="0" dirty="0"/>
              <a:t> (i.e., more within-metro variation in the “venue” indicator) get a bit more leverage.</a:t>
            </a:r>
          </a:p>
          <a:p>
            <a:endParaRPr lang="en-US" sz="1600" dirty="0"/>
          </a:p>
          <a:p>
            <a:r>
              <a:rPr lang="en-US" sz="1600" b="1" dirty="0"/>
              <a:t>Why timing matters (the weighting intuition)</a:t>
            </a:r>
          </a:p>
          <a:p>
            <a:pPr marL="285750" indent="-285750">
              <a:buFont typeface="Arial" panose="020B0604020202020204" pitchFamily="34" charset="0"/>
              <a:buChar char="•"/>
            </a:pPr>
            <a:r>
              <a:rPr lang="en-US" sz="1600" b="0" dirty="0"/>
              <a:t>Early openers: more months with venue=1 ⇒ more post observations ⇒ more weight.</a:t>
            </a:r>
          </a:p>
          <a:p>
            <a:pPr marL="285750" indent="-285750">
              <a:buFont typeface="Arial" panose="020B0604020202020204" pitchFamily="34" charset="0"/>
              <a:buChar char="•"/>
            </a:pPr>
            <a:r>
              <a:rPr lang="en-US" sz="1600" b="0" dirty="0"/>
              <a:t>If true effects build over time (small early, larger later), </a:t>
            </a:r>
            <a:r>
              <a:rPr lang="el-GR" sz="1600" b="0" dirty="0"/>
              <a:t>β </a:t>
            </a:r>
            <a:r>
              <a:rPr lang="en-US" sz="1600" b="0" dirty="0"/>
              <a:t>mixes early and late post months into one number.</a:t>
            </a:r>
          </a:p>
          <a:p>
            <a:pPr marL="285750" indent="-285750">
              <a:buFont typeface="Arial" panose="020B0604020202020204" pitchFamily="34" charset="0"/>
              <a:buChar char="•"/>
            </a:pPr>
            <a:r>
              <a:rPr lang="en-US" sz="1600" b="0" dirty="0"/>
              <a:t>If they fade out, </a:t>
            </a:r>
            <a:r>
              <a:rPr lang="el-GR" sz="1600" b="0" dirty="0"/>
              <a:t>β </a:t>
            </a:r>
            <a:r>
              <a:rPr lang="en-US" sz="1600" b="0" dirty="0"/>
              <a:t>mixes the bigger early impacts with smaller later ones.</a:t>
            </a:r>
          </a:p>
          <a:p>
            <a:pPr marL="285750" indent="-285750">
              <a:buFont typeface="Arial" panose="020B0604020202020204" pitchFamily="34" charset="0"/>
              <a:buChar char="•"/>
            </a:pPr>
            <a:r>
              <a:rPr lang="en-US" sz="1600" b="0" dirty="0"/>
              <a:t>That’s why an event study (leads/lags) is the right follow-up: it shows the shape rather than the one-number average.</a:t>
            </a:r>
          </a:p>
          <a:p>
            <a:pPr marL="285750" indent="-285750">
              <a:buFont typeface="Arial" panose="020B0604020202020204" pitchFamily="34" charset="0"/>
              <a:buChar char="•"/>
            </a:pPr>
            <a:endParaRPr lang="en-US" sz="1600" dirty="0"/>
          </a:p>
          <a:p>
            <a:r>
              <a:rPr lang="en-US" sz="1600" b="1" dirty="0"/>
              <a:t>Takeaway:</a:t>
            </a:r>
            <a:r>
              <a:rPr lang="en-US" sz="1600" dirty="0"/>
              <a:t> Beta is a weighted average of after-minus-before changes, with the most weight on treated-metro months where the post indicator is most “unexpected” after removing metro and month averages—typically early post months for adopters, relative to same-month controls.</a:t>
            </a:r>
          </a:p>
          <a:p>
            <a:endParaRPr lang="en-US" sz="1600" dirty="0"/>
          </a:p>
          <a:p>
            <a:endParaRPr lang="en-US" sz="1600" dirty="0"/>
          </a:p>
          <a:p>
            <a:endParaRPr lang="en-US" sz="1600" dirty="0"/>
          </a:p>
        </p:txBody>
      </p:sp>
      <p:sp>
        <p:nvSpPr>
          <p:cNvPr id="4" name="Slide Number Placeholder 3"/>
          <p:cNvSpPr>
            <a:spLocks noGrp="1"/>
          </p:cNvSpPr>
          <p:nvPr>
            <p:ph type="sldNum" sz="quarter" idx="5"/>
          </p:nvPr>
        </p:nvSpPr>
        <p:spPr/>
        <p:txBody>
          <a:bodyPr/>
          <a:lstStyle/>
          <a:p>
            <a:fld id="{4EEF4DFB-297D-1045-A3AB-C5A7AFD16437}" type="slidenum">
              <a:rPr lang="en-US" smtClean="0"/>
              <a:t>15</a:t>
            </a:fld>
            <a:endParaRPr lang="en-US"/>
          </a:p>
        </p:txBody>
      </p:sp>
    </p:spTree>
    <p:extLst>
      <p:ext uri="{BB962C8B-B14F-4D97-AF65-F5344CB8AC3E}">
        <p14:creationId xmlns:p14="http://schemas.microsoft.com/office/powerpoint/2010/main" val="700725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17</a:t>
            </a:fld>
            <a:endParaRPr lang="en-US"/>
          </a:p>
        </p:txBody>
      </p:sp>
    </p:spTree>
    <p:extLst>
      <p:ext uri="{BB962C8B-B14F-4D97-AF65-F5344CB8AC3E}">
        <p14:creationId xmlns:p14="http://schemas.microsoft.com/office/powerpoint/2010/main" val="37444844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18</a:t>
            </a:fld>
            <a:endParaRPr lang="en-US"/>
          </a:p>
        </p:txBody>
      </p:sp>
    </p:spTree>
    <p:extLst>
      <p:ext uri="{BB962C8B-B14F-4D97-AF65-F5344CB8AC3E}">
        <p14:creationId xmlns:p14="http://schemas.microsoft.com/office/powerpoint/2010/main" val="608893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Up to now, we’ve been estimating a staggered difference-in-differences regression</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first model tells us the average change in log ZHVI for metros that get a new stadium or arena, comparing the pre- and post-opening periods, after controlling for metro and month fixed effects. The next two models add interactions with total construction cost and whether there’s any public financing, so they tell us whether more expensive or more publicly funded projects are associated with larger price changes.</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are useful, but they have a big limitation: they treat the entire post-opening period as one block. We only get one coefficient that averages together month 1 and month 60. So we don’t learn </a:t>
            </a:r>
            <a:r>
              <a:rPr lang="en-US" sz="1200" i="1" kern="1200" dirty="0">
                <a:solidFill>
                  <a:schemeClr val="tx1"/>
                </a:solidFill>
                <a:effectLst/>
                <a:latin typeface="+mn-lt"/>
                <a:ea typeface="+mn-ea"/>
                <a:cs typeface="+mn-cs"/>
              </a:rPr>
              <a:t>when</a:t>
            </a:r>
            <a:r>
              <a:rPr lang="en-US" sz="1200" kern="1200" dirty="0">
                <a:solidFill>
                  <a:schemeClr val="tx1"/>
                </a:solidFill>
                <a:effectLst/>
                <a:latin typeface="+mn-lt"/>
                <a:ea typeface="+mn-ea"/>
                <a:cs typeface="+mn-cs"/>
              </a:rPr>
              <a:t> prices start to move, how quickly the effect builds, or whether it fades out. And we also can’t clearly see whether treated metros were already on different trends before the opening.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answer those questions, I move to an </a:t>
            </a:r>
            <a:r>
              <a:rPr lang="en-US" sz="1200" b="1" kern="1200" dirty="0">
                <a:solidFill>
                  <a:schemeClr val="tx1"/>
                </a:solidFill>
                <a:effectLst/>
                <a:latin typeface="+mn-lt"/>
                <a:ea typeface="+mn-ea"/>
                <a:cs typeface="+mn-cs"/>
              </a:rPr>
              <a:t>event study</a:t>
            </a:r>
            <a:r>
              <a:rPr lang="en-US" sz="1200" kern="1200" dirty="0">
                <a:solidFill>
                  <a:schemeClr val="tx1"/>
                </a:solidFill>
                <a:effectLst/>
                <a:latin typeface="+mn-lt"/>
                <a:ea typeface="+mn-ea"/>
                <a:cs typeface="+mn-cs"/>
              </a:rPr>
              <a:t>. Instead of a single post dummy, I create separate indicators for each month or quarter relative to the opening. That lets me trace out a time path of effects and visually check for pre-trends.”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When TWFE </a:t>
            </a:r>
            <a:r>
              <a:rPr lang="en-US" sz="1200" b="1" i="0" kern="1200" dirty="0" err="1">
                <a:solidFill>
                  <a:schemeClr val="tx1"/>
                </a:solidFill>
                <a:effectLst/>
                <a:latin typeface="+mn-lt"/>
                <a:ea typeface="+mn-ea"/>
                <a:cs typeface="+mn-cs"/>
              </a:rPr>
              <a:t>DiD</a:t>
            </a:r>
            <a:r>
              <a:rPr lang="en-US" sz="1200" b="1" i="0" kern="1200" dirty="0">
                <a:solidFill>
                  <a:schemeClr val="tx1"/>
                </a:solidFill>
                <a:effectLst/>
                <a:latin typeface="+mn-lt"/>
                <a:ea typeface="+mn-ea"/>
                <a:cs typeface="+mn-cs"/>
              </a:rPr>
              <a:t> can be problematic</a:t>
            </a:r>
          </a:p>
          <a:p>
            <a:pPr marL="171450" indent="-171450">
              <a:buFontTx/>
              <a:buChar char="-"/>
            </a:pPr>
            <a:r>
              <a:rPr lang="en-US" sz="1200" b="1" i="0" kern="1200" dirty="0">
                <a:solidFill>
                  <a:schemeClr val="tx1"/>
                </a:solidFill>
                <a:effectLst/>
                <a:latin typeface="+mn-lt"/>
                <a:ea typeface="+mn-ea"/>
                <a:cs typeface="+mn-cs"/>
              </a:rPr>
              <a:t>Staggered treatment:</a:t>
            </a:r>
            <a:r>
              <a:rPr lang="en-US" sz="1200" b="0" i="0" kern="1200" dirty="0">
                <a:solidFill>
                  <a:schemeClr val="tx1"/>
                </a:solidFill>
                <a:effectLst/>
                <a:latin typeface="+mn-lt"/>
                <a:ea typeface="+mn-ea"/>
                <a:cs typeface="+mn-cs"/>
              </a:rPr>
              <a:t> TWFE is often biased when different units receive the treatment at different times, a situation known as staggered adoption.</a:t>
            </a:r>
          </a:p>
          <a:p>
            <a:pPr marL="171450" indent="-171450">
              <a:buFontTx/>
              <a:buChar char="-"/>
            </a:pPr>
            <a:r>
              <a:rPr lang="en-US" sz="1200" b="1" i="0" kern="1200" dirty="0">
                <a:solidFill>
                  <a:schemeClr val="tx1"/>
                </a:solidFill>
                <a:effectLst/>
                <a:latin typeface="+mn-lt"/>
                <a:ea typeface="+mn-ea"/>
                <a:cs typeface="+mn-cs"/>
              </a:rPr>
              <a:t>Heterogeneous treatment effects:</a:t>
            </a:r>
            <a:r>
              <a:rPr lang="en-US" sz="1200" b="0" i="0" kern="1200" dirty="0">
                <a:solidFill>
                  <a:schemeClr val="tx1"/>
                </a:solidFill>
                <a:effectLst/>
                <a:latin typeface="+mn-lt"/>
                <a:ea typeface="+mn-ea"/>
                <a:cs typeface="+mn-cs"/>
              </a:rPr>
              <a:t> If the effect of the treatment is different for different units or at different points in time, TWFE can produce a misleading average.</a:t>
            </a:r>
          </a:p>
          <a:p>
            <a:pPr marL="171450" indent="-171450">
              <a:buFontTx/>
              <a:buChar char="-"/>
            </a:pPr>
            <a:r>
              <a:rPr lang="en-US" sz="1200" b="1" i="0" kern="1200" dirty="0">
                <a:solidFill>
                  <a:schemeClr val="tx1"/>
                </a:solidFill>
                <a:effectLst/>
                <a:latin typeface="+mn-lt"/>
                <a:ea typeface="+mn-ea"/>
                <a:cs typeface="+mn-cs"/>
              </a:rPr>
              <a:t>Bias:</a:t>
            </a:r>
            <a:r>
              <a:rPr lang="en-US" sz="1200" b="0" i="0" kern="1200" dirty="0">
                <a:solidFill>
                  <a:schemeClr val="tx1"/>
                </a:solidFill>
                <a:effectLst/>
                <a:latin typeface="+mn-lt"/>
                <a:ea typeface="+mn-ea"/>
                <a:cs typeface="+mn-cs"/>
              </a:rPr>
              <a:t> In situations with staggered treatments, TWFE can incorrectly use already-treated groups as a control for other groups, leading to biased estimates. </a:t>
            </a:r>
          </a:p>
          <a:p>
            <a:pPr marL="171450" indent="-171450">
              <a:buFontTx/>
              <a:buChar char="-"/>
            </a:pPr>
            <a:r>
              <a:rPr lang="en-US" dirty="0"/>
              <a:t>Alternative: </a:t>
            </a:r>
            <a:r>
              <a:rPr lang="en-US" sz="1200" b="1" i="0" kern="1200" dirty="0">
                <a:solidFill>
                  <a:schemeClr val="tx1"/>
                </a:solidFill>
                <a:effectLst/>
                <a:latin typeface="+mn-lt"/>
                <a:ea typeface="+mn-ea"/>
                <a:cs typeface="+mn-cs"/>
              </a:rPr>
              <a:t>Event-time specification:</a:t>
            </a:r>
            <a:r>
              <a:rPr lang="en-US" sz="1200" b="0" i="0" kern="1200" dirty="0">
                <a:solidFill>
                  <a:schemeClr val="tx1"/>
                </a:solidFill>
                <a:effectLst/>
                <a:latin typeface="+mn-lt"/>
                <a:ea typeface="+mn-ea"/>
                <a:cs typeface="+mn-cs"/>
              </a:rPr>
              <a:t> Using an event-time specification can help avoid some of the bias in TWFE, especially if treatment effects are heterogeneous. </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br>
              <a:rPr lang="en-US" sz="1200" b="0" i="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19</a:t>
            </a:fld>
            <a:endParaRPr lang="en-US"/>
          </a:p>
        </p:txBody>
      </p:sp>
    </p:spTree>
    <p:extLst>
      <p:ext uri="{BB962C8B-B14F-4D97-AF65-F5344CB8AC3E}">
        <p14:creationId xmlns:p14="http://schemas.microsoft.com/office/powerpoint/2010/main" val="3905740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As TWFE </a:t>
                </a:r>
                <a:r>
                  <a:rPr lang="en-US" dirty="0" err="1"/>
                  <a:t>DiD</a:t>
                </a:r>
                <a:r>
                  <a:rPr lang="en-US" dirty="0"/>
                  <a:t> generalizes the classic 2x2 </a:t>
                </a:r>
                <a:r>
                  <a:rPr lang="en-US" dirty="0" err="1"/>
                  <a:t>DiD</a:t>
                </a:r>
                <a:r>
                  <a:rPr lang="en-US" dirty="0"/>
                  <a:t>, an Event Study generalizes the TWFE </a:t>
                </a:r>
                <a:r>
                  <a:rPr lang="en-US" dirty="0" err="1"/>
                  <a:t>DiD</a:t>
                </a:r>
                <a:r>
                  <a:rPr lang="en-US" dirty="0"/>
                  <a:t> specification, by letting the treatment effect vary by event time instead of being one constant post effect.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fact, if you force all pre coefficients to equal 0 and all post coefficients to be equal, then the event-study collapses back to the simple TWFE </a:t>
                </a:r>
                <a:r>
                  <a:rPr lang="en-US" dirty="0" err="1"/>
                  <a:t>DiD</a:t>
                </a:r>
                <a:r>
                  <a:rPr lang="en-US" dirty="0"/>
                  <a:t> with a single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a:t>
                </a:r>
              </a:p>
            </p:txBody>
          </p:sp>
        </mc:Choice>
        <mc:Fallback xmlns="">
          <p:sp>
            <p:nvSpPr>
              <p:cNvPr id="3" name="Notes Placeholder 2"/>
              <p:cNvSpPr>
                <a:spLocks noGrp="1"/>
              </p:cNvSpPr>
              <p:nvPr>
                <p:ph type="body" idx="1"/>
              </p:nvPr>
            </p:nvSpPr>
            <p:spPr/>
            <p:txBody>
              <a:bodyPr/>
              <a:lstStyle/>
              <a:p>
                <a:r>
                  <a:rPr lang="en-US" dirty="0"/>
                  <a:t>As TWFE </a:t>
                </a:r>
                <a:r>
                  <a:rPr lang="en-US" dirty="0" err="1"/>
                  <a:t>DiD</a:t>
                </a:r>
                <a:r>
                  <a:rPr lang="en-US" dirty="0"/>
                  <a:t> generalizes the classic 2x2 </a:t>
                </a:r>
                <a:r>
                  <a:rPr lang="en-US" dirty="0" err="1"/>
                  <a:t>DiD</a:t>
                </a:r>
                <a:r>
                  <a:rPr lang="en-US" dirty="0"/>
                  <a:t>, an Event Study generalizes the TWFE </a:t>
                </a:r>
                <a:r>
                  <a:rPr lang="en-US" dirty="0" err="1"/>
                  <a:t>DiD</a:t>
                </a:r>
                <a:r>
                  <a:rPr lang="en-US" dirty="0"/>
                  <a:t> specification, by letting the treatment effect vary by event time instead of being one constant post effect.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fact, if you force all pre coefficients to equal 0 and all post coefficients to be equal, then the event-study collapses back to the simple TWFE </a:t>
                </a:r>
                <a:r>
                  <a:rPr lang="en-US" dirty="0" err="1"/>
                  <a:t>DiD</a:t>
                </a:r>
                <a:r>
                  <a:rPr lang="en-US" dirty="0"/>
                  <a:t> with a single </a:t>
                </a:r>
                <a:r>
                  <a:rPr lang="en-US" i="0">
                    <a:latin typeface="Cambria Math" panose="02040503050406030204" pitchFamily="18" charset="0"/>
                    <a:ea typeface="Cambria Math" panose="02040503050406030204" pitchFamily="18" charset="0"/>
                  </a:rPr>
                  <a:t>𝛽</a:t>
                </a:r>
                <a:r>
                  <a:rPr lang="en-US" dirty="0"/>
                  <a:t>.</a:t>
                </a:r>
              </a:p>
            </p:txBody>
          </p:sp>
        </mc:Fallback>
      </mc:AlternateContent>
      <p:sp>
        <p:nvSpPr>
          <p:cNvPr id="4" name="Slide Number Placeholder 3"/>
          <p:cNvSpPr>
            <a:spLocks noGrp="1"/>
          </p:cNvSpPr>
          <p:nvPr>
            <p:ph type="sldNum" sz="quarter" idx="5"/>
          </p:nvPr>
        </p:nvSpPr>
        <p:spPr/>
        <p:txBody>
          <a:bodyPr/>
          <a:lstStyle/>
          <a:p>
            <a:fld id="{4EEF4DFB-297D-1045-A3AB-C5A7AFD16437}" type="slidenum">
              <a:rPr lang="en-US" smtClean="0"/>
              <a:t>20</a:t>
            </a:fld>
            <a:endParaRPr lang="en-US"/>
          </a:p>
        </p:txBody>
      </p:sp>
    </p:spTree>
    <p:extLst>
      <p:ext uri="{BB962C8B-B14F-4D97-AF65-F5344CB8AC3E}">
        <p14:creationId xmlns:p14="http://schemas.microsoft.com/office/powerpoint/2010/main" val="1276524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is an event study?</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You have panel data (metro × month) and a “big event” that happens at different times for different units: a new stadium opening, a policy change, a merger, etc.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 event study asks: </a:t>
                </a:r>
                <a:r>
                  <a:rPr lang="en-US" sz="1200" kern="1200" dirty="0">
                    <a:solidFill>
                      <a:schemeClr val="tx1"/>
                    </a:solidFill>
                    <a:effectLst/>
                    <a:latin typeface="+mn-lt"/>
                    <a:ea typeface="+mn-ea"/>
                    <a:cs typeface="+mn-cs"/>
                  </a:rPr>
                  <a:t>“On average, how does Y (here, log home values) evolve </a:t>
                </a:r>
                <a:r>
                  <a:rPr lang="en-US" sz="1200" i="1" kern="1200" dirty="0">
                    <a:solidFill>
                      <a:schemeClr val="tx1"/>
                    </a:solidFill>
                    <a:effectLst/>
                    <a:latin typeface="+mn-lt"/>
                    <a:ea typeface="+mn-ea"/>
                    <a:cs typeface="+mn-cs"/>
                  </a:rPr>
                  <a:t>before and after</a:t>
                </a:r>
                <a:r>
                  <a:rPr lang="en-US" sz="1200" kern="1200" dirty="0">
                    <a:solidFill>
                      <a:schemeClr val="tx1"/>
                    </a:solidFill>
                    <a:effectLst/>
                    <a:latin typeface="+mn-lt"/>
                    <a:ea typeface="+mn-ea"/>
                    <a:cs typeface="+mn-cs"/>
                  </a:rPr>
                  <a:t> the event, compared to places that haven’t had the event yet (or never have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2 key features: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Time relative to the event</a:t>
                </a:r>
                <a:r>
                  <a:rPr lang="en-US" dirty="0"/>
                  <a:t> (event time: months or quarters since opening)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Dynamic effects:</a:t>
                </a:r>
                <a:r>
                  <a:rPr lang="en-US" dirty="0"/>
                  <a:t> instead of one “post” dummy, we estimate a separate effect for each lead/lag k time (e.g. 12 months before, 6 months after, 24 months after, etc.).</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So it’s like a </a:t>
                </a:r>
                <a:r>
                  <a:rPr lang="en-US" i="1" dirty="0"/>
                  <a:t>difference-in-differences with many time dummies around the event</a:t>
                </a:r>
                <a:r>
                  <a:rPr lang="en-US"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Variables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i</a:t>
                </a:r>
                <a:r>
                  <a:rPr lang="en-US" dirty="0"/>
                  <a:t> = metro, t = month.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Y_it</a:t>
                </a:r>
                <a:r>
                  <a:rPr lang="en-US" dirty="0"/>
                  <a:t> = ln(</a:t>
                </a:r>
                <a:r>
                  <a:rPr lang="en-US" dirty="0" err="1"/>
                  <a:t>ZHVI_it</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Open_month_i</a:t>
                </a:r>
                <a:r>
                  <a:rPr lang="en-US" dirty="0"/>
                  <a:t> be the first opening month in metro 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k_it</a:t>
                </a:r>
                <a:r>
                  <a:rPr lang="en-US" dirty="0"/>
                  <a:t> = t – </a:t>
                </a:r>
                <a:r>
                  <a:rPr lang="en-US" dirty="0" err="1"/>
                  <a:t>open_month_i</a:t>
                </a:r>
                <a:endParaRPr lang="en-US"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k = -12: 1 year before opening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k = 0: opening month</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K = 24: 2 years after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each k in some window say -36 to 60, we create a dummy: (</a:t>
                </a:r>
                <a:r>
                  <a:rPr lang="en-US" dirty="0" err="1"/>
                  <a:t>D_it</a:t>
                </a:r>
                <a:r>
                  <a:rPr lang="en-US" dirty="0"/>
                  <a:t>)^k = 1 when </a:t>
                </a:r>
                <a:r>
                  <a:rPr lang="en-US" dirty="0" err="1"/>
                  <a:t>k_it</a:t>
                </a:r>
                <a:r>
                  <a:rPr lang="en-US" dirty="0"/>
                  <a:t> = k and 0 </a:t>
                </a:r>
                <a:r>
                  <a:rPr lang="en-US" dirty="0" err="1"/>
                  <a:t>o.w</a:t>
                </a:r>
                <a:r>
                  <a:rPr lang="en-US" dirty="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Units that never get a stadium always have these D’s = 0. They still matter as they help pin down the month fixed effects and serve as extra controls.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choose a reference period e.g. k = -1: the month before opening and do not create a dummy for it as it will get dropped from the regression and be the baseline we compare everything to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Model: TWFE event study (From above)</a:t>
                </a:r>
              </a:p>
              <a:p>
                <a:pPr marL="171450" marR="0" lvl="0" indent="-171450" algn="l" defTabSz="914400" rtl="0" eaLnBrk="1" fontAlgn="auto" latinLnBrk="0" hangingPunct="1">
                  <a:lnSpc>
                    <a:spcPct val="100000"/>
                  </a:lnSpc>
                  <a:spcBef>
                    <a:spcPts val="0"/>
                  </a:spcBef>
                  <a:spcAft>
                    <a:spcPts val="0"/>
                  </a:spcAft>
                  <a:buClrTx/>
                  <a:buSzTx/>
                  <a:buFontTx/>
                  <a:buChar char="-"/>
                  <a:tabLst/>
                  <a:defRPr/>
                </a:pPr>
                <a14:m>
                  <m:oMath xmlns:m="http://schemas.openxmlformats.org/officeDocument/2006/math">
                    <m:sSub>
                      <m:sSubPr>
                        <m:ctrlPr>
                          <a:rPr lang="el-GR" sz="1200" i="1" dirty="0" smtClean="0">
                            <a:latin typeface="Cambria Math" panose="02040503050406030204" pitchFamily="18" charset="0"/>
                          </a:rPr>
                        </m:ctrlPr>
                      </m:sSubPr>
                      <m:e>
                        <m:r>
                          <a:rPr lang="en-US" sz="1200" i="1" dirty="0">
                            <a:latin typeface="Cambria Math" panose="02040503050406030204" pitchFamily="18" charset="0"/>
                          </a:rPr>
                          <m:t>𝑎</m:t>
                        </m:r>
                      </m:e>
                      <m:sub>
                        <m:r>
                          <a:rPr lang="en-US" sz="1200" i="1" dirty="0">
                            <a:latin typeface="Cambria Math" panose="02040503050406030204" pitchFamily="18" charset="0"/>
                          </a:rPr>
                          <m:t>𝑖</m:t>
                        </m:r>
                        <m:r>
                          <a:rPr lang="en-US" sz="1200" i="1" dirty="0">
                            <a:latin typeface="Cambria Math" panose="02040503050406030204" pitchFamily="18" charset="0"/>
                          </a:rPr>
                          <m:t> </m:t>
                        </m:r>
                      </m:sub>
                    </m:sSub>
                  </m:oMath>
                </a14:m>
                <a:r>
                  <a:rPr lang="en-US" dirty="0"/>
                  <a:t>metro fixed effects to control for time invariant differences</a:t>
                </a:r>
                <a:r>
                  <a:rPr lang="en-US" baseline="0" dirty="0"/>
                  <a:t> across metros (size, long run price level)</a:t>
                </a:r>
                <a:endParaRPr lang="en-US" sz="1200" i="1" dirty="0">
                  <a:latin typeface="Cambria Math" panose="02040503050406030204" pitchFamily="18"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14:m>
                  <m:oMath xmlns:m="http://schemas.openxmlformats.org/officeDocument/2006/math">
                    <m:sSub>
                      <m:sSubPr>
                        <m:ctrlPr>
                          <a:rPr lang="el-GR" sz="1200" i="1" dirty="0" smtClean="0">
                            <a:latin typeface="Cambria Math" panose="02040503050406030204" pitchFamily="18" charset="0"/>
                          </a:rPr>
                        </m:ctrlPr>
                      </m:sSubPr>
                      <m:e>
                        <m:r>
                          <m:rPr>
                            <m:nor/>
                          </m:rPr>
                          <a:rPr lang="el-GR" sz="1200"/>
                          <m:t> </m:t>
                        </m:r>
                        <m:r>
                          <m:rPr>
                            <m:nor/>
                          </m:rPr>
                          <a:rPr lang="el-GR" sz="1200"/>
                          <m:t>ω</m:t>
                        </m:r>
                      </m:e>
                      <m:sub>
                        <m:r>
                          <a:rPr lang="en-US" sz="1200" i="1" dirty="0">
                            <a:latin typeface="Cambria Math" panose="02040503050406030204" pitchFamily="18" charset="0"/>
                          </a:rPr>
                          <m:t>𝑡</m:t>
                        </m:r>
                      </m:sub>
                    </m:sSub>
                  </m:oMath>
                </a14:m>
                <a:r>
                  <a:rPr lang="en-US" dirty="0"/>
                  <a:t> month</a:t>
                </a:r>
                <a:r>
                  <a:rPr lang="en-US" baseline="0" dirty="0"/>
                  <a:t> fixed effects to control for shocks common to all metros in a month (national housing cycle, seasonal cycle, interest rates)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14:m>
                  <m:oMath xmlns:m="http://schemas.openxmlformats.org/officeDocument/2006/math">
                    <m:sSubSup>
                      <m:sSubSupPr>
                        <m:ctrlPr>
                          <a:rPr lang="en-US" sz="1200" b="0" i="1" dirty="0" smtClean="0">
                            <a:latin typeface="Cambria Math" panose="02040503050406030204" pitchFamily="18" charset="0"/>
                          </a:rPr>
                        </m:ctrlPr>
                      </m:sSubSupPr>
                      <m:e>
                        <m:r>
                          <a:rPr lang="en-US" sz="1200" b="0" i="1" dirty="0" smtClean="0">
                            <a:latin typeface="Cambria Math" panose="02040503050406030204" pitchFamily="18" charset="0"/>
                          </a:rPr>
                          <m:t>𝐷</m:t>
                        </m:r>
                      </m:e>
                      <m:sub>
                        <m:r>
                          <a:rPr lang="en-US" sz="1200" b="0" i="1" dirty="0" smtClean="0">
                            <a:latin typeface="Cambria Math" panose="02040503050406030204" pitchFamily="18" charset="0"/>
                          </a:rPr>
                          <m:t>𝑖𝑡</m:t>
                        </m:r>
                      </m:sub>
                      <m:sup>
                        <m:r>
                          <a:rPr lang="en-US" sz="1200" b="0" i="1" dirty="0" smtClean="0">
                            <a:latin typeface="Cambria Math" panose="02040503050406030204" pitchFamily="18" charset="0"/>
                          </a:rPr>
                          <m:t>𝑘</m:t>
                        </m:r>
                      </m:sup>
                    </m:sSubSup>
                  </m:oMath>
                </a14:m>
                <a:r>
                  <a:rPr lang="en-US" baseline="0" dirty="0"/>
                  <a:t> is the set of dummy for being k periods from opening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14:m>
                  <m:oMath xmlns:m="http://schemas.openxmlformats.org/officeDocument/2006/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ea typeface="Cambria Math" panose="02040503050406030204" pitchFamily="18" charset="0"/>
                          </a:rPr>
                          <m:t>𝛽</m:t>
                        </m:r>
                      </m:e>
                      <m:sub>
                        <m:r>
                          <a:rPr lang="en-US" sz="1200" b="0" i="1" dirty="0" smtClean="0">
                            <a:latin typeface="Cambria Math" panose="02040503050406030204" pitchFamily="18" charset="0"/>
                          </a:rPr>
                          <m:t>𝑘</m:t>
                        </m:r>
                      </m:sub>
                    </m:sSub>
                  </m:oMath>
                </a14:m>
                <a:r>
                  <a:rPr lang="en-US" baseline="0" dirty="0"/>
                  <a:t> is the dynamic effect at time k relative to the reference period</a:t>
                </a:r>
              </a:p>
              <a:p>
                <a:pPr marL="628650" marR="0" lvl="1" indent="-171450" algn="l" defTabSz="914400" rtl="0" eaLnBrk="1" fontAlgn="auto" latinLnBrk="0" hangingPunct="1">
                  <a:lnSpc>
                    <a:spcPct val="100000"/>
                  </a:lnSpc>
                  <a:spcBef>
                    <a:spcPts val="0"/>
                  </a:spcBef>
                  <a:spcAft>
                    <a:spcPts val="0"/>
                  </a:spcAft>
                  <a:buClrTx/>
                  <a:buSzTx/>
                  <a:buFontTx/>
                  <a:buChar char="-"/>
                  <a:tabLst/>
                  <a:defRPr/>
                </a:pPr>
                <a14:m>
                  <m:oMath xmlns:m="http://schemas.openxmlformats.org/officeDocument/2006/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ea typeface="Cambria Math" panose="02040503050406030204" pitchFamily="18" charset="0"/>
                          </a:rPr>
                          <m:t>𝛽</m:t>
                        </m:r>
                      </m:e>
                      <m:sub>
                        <m:r>
                          <a:rPr lang="en-US" sz="1200" b="0" i="1" dirty="0" smtClean="0">
                            <a:latin typeface="Cambria Math" panose="02040503050406030204" pitchFamily="18" charset="0"/>
                          </a:rPr>
                          <m:t>𝑘</m:t>
                        </m:r>
                      </m:sub>
                    </m:sSub>
                  </m:oMath>
                </a14:m>
                <a:r>
                  <a:rPr lang="en-US" baseline="0" dirty="0"/>
                  <a:t> </a:t>
                </a:r>
                <a:r>
                  <a:rPr lang="en-US" sz="1200" kern="1200" dirty="0">
                    <a:solidFill>
                      <a:schemeClr val="tx1"/>
                    </a:solidFill>
                    <a:effectLst/>
                    <a:latin typeface="+mn-lt"/>
                    <a:ea typeface="+mn-ea"/>
                    <a:cs typeface="+mn-cs"/>
                  </a:rPr>
                  <a:t>is the average difference in log ZHVI k</a:t>
                </a:r>
                <a:r>
                  <a:rPr lang="en-US" sz="1200" b="1" kern="1200" dirty="0">
                    <a:solidFill>
                      <a:schemeClr val="tx1"/>
                    </a:solidFill>
                    <a:effectLst/>
                    <a:latin typeface="+mn-lt"/>
                    <a:ea typeface="+mn-ea"/>
                    <a:cs typeface="+mn-cs"/>
                  </a:rPr>
                  <a:t> months from opening vs the reference period</a:t>
                </a:r>
                <a:r>
                  <a:rPr lang="en-US" sz="1200" kern="1200" dirty="0">
                    <a:solidFill>
                      <a:schemeClr val="tx1"/>
                    </a:solidFill>
                    <a:effectLst/>
                    <a:latin typeface="+mn-lt"/>
                    <a:ea typeface="+mn-ea"/>
                    <a:cs typeface="+mn-cs"/>
                  </a:rPr>
                  <a:t> (month just before opening), after controlling for metro FE and month FE.</a:t>
                </a:r>
                <a:endParaRPr lang="en-US" baseline="0"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Intuition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baseline="0" dirty="0"/>
                  <a:t>Line up time around the event: </a:t>
                </a:r>
                <a:r>
                  <a:rPr lang="en-US" dirty="0"/>
                  <a:t>For each metro, we re-label months not as “Jan 2018, Feb 2018…”, but as “12 months before opening, 11 months before… 0 (opening)… 1 month after, etc.”</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Compare to a baseline: We pick one period as our comparison point – here, the k = -1 (one month) right before the stadium opens. We don’t estimate a coefficient for that period; that becomes our “zero” base-line.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Add fixed effects to clean out noise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Estimate a separate effect for each event time: </a:t>
                </a:r>
                <a:r>
                  <a:rPr lang="en-US" sz="1200" kern="1200" dirty="0">
                    <a:solidFill>
                      <a:schemeClr val="tx1"/>
                    </a:solidFill>
                    <a:effectLst/>
                    <a:latin typeface="+mn-lt"/>
                    <a:ea typeface="+mn-ea"/>
                    <a:cs typeface="+mn-cs"/>
                  </a:rPr>
                  <a:t>The regression tells us, for each month/quarter relative to the opening, how much higher or lower home values are </a:t>
                </a:r>
                <a:r>
                  <a:rPr lang="en-US" sz="1200" i="1" kern="1200" dirty="0">
                    <a:solidFill>
                      <a:schemeClr val="tx1"/>
                    </a:solidFill>
                    <a:effectLst/>
                    <a:latin typeface="+mn-lt"/>
                    <a:ea typeface="+mn-ea"/>
                    <a:cs typeface="+mn-cs"/>
                  </a:rPr>
                  <a:t>compared to that pre-period</a:t>
                </a:r>
                <a:r>
                  <a:rPr lang="en-US" sz="1200" kern="1200" dirty="0">
                    <a:solidFill>
                      <a:schemeClr val="tx1"/>
                    </a:solidFill>
                    <a:effectLst/>
                    <a:latin typeface="+mn-lt"/>
                    <a:ea typeface="+mn-ea"/>
                    <a:cs typeface="+mn-cs"/>
                  </a:rPr>
                  <a:t>, after controlling for all those fixed effects.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Plot the coefficients as an event-study graph: </a:t>
                </a:r>
                <a:r>
                  <a:rPr lang="en-US" sz="1200" kern="1200" dirty="0">
                    <a:solidFill>
                      <a:schemeClr val="tx1"/>
                    </a:solidFill>
                    <a:effectLst/>
                    <a:latin typeface="+mn-lt"/>
                    <a:ea typeface="+mn-ea"/>
                    <a:cs typeface="+mn-cs"/>
                  </a:rPr>
                  <a:t>We plot the </a:t>
                </a:r>
                <a14:m>
                  <m:oMath xmlns:m="http://schemas.openxmlformats.org/officeDocument/2006/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ea typeface="Cambria Math" panose="02040503050406030204" pitchFamily="18" charset="0"/>
                          </a:rPr>
                          <m:t>𝛽</m:t>
                        </m:r>
                      </m:e>
                      <m:sub>
                        <m:r>
                          <a:rPr lang="en-US" sz="1200" b="0" i="1" dirty="0" smtClean="0">
                            <a:latin typeface="Cambria Math" panose="02040503050406030204" pitchFamily="18" charset="0"/>
                          </a:rPr>
                          <m:t>𝑘</m:t>
                        </m:r>
                      </m:sub>
                    </m:sSub>
                  </m:oMath>
                </a14:m>
                <a:r>
                  <a:rPr lang="en-US" baseline="0" dirty="0"/>
                  <a:t> </a:t>
                </a:r>
                <a:r>
                  <a:rPr lang="en-US" sz="1200" kern="1200" dirty="0">
                    <a:solidFill>
                      <a:schemeClr val="tx1"/>
                    </a:solidFill>
                    <a:effectLst/>
                    <a:latin typeface="+mn-lt"/>
                    <a:ea typeface="+mn-ea"/>
                    <a:cs typeface="+mn-cs"/>
                  </a:rPr>
                  <a:t>on the y-axis and event time k on the x-axis.</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dirty="0">
                    <a:solidFill>
                      <a:schemeClr val="tx1"/>
                    </a:solidFill>
                    <a:effectLst/>
                    <a:latin typeface="+mn-lt"/>
                    <a:ea typeface="+mn-ea"/>
                    <a:cs typeface="+mn-cs"/>
                  </a:rPr>
                  <a:t>If the pre-event coefficients (negative k) are all around zero → </a:t>
                </a:r>
                <a:r>
                  <a:rPr lang="en-US" sz="1200" b="1" kern="1200" dirty="0">
                    <a:solidFill>
                      <a:schemeClr val="tx1"/>
                    </a:solidFill>
                    <a:effectLst/>
                    <a:latin typeface="+mn-lt"/>
                    <a:ea typeface="+mn-ea"/>
                    <a:cs typeface="+mn-cs"/>
                  </a:rPr>
                  <a:t>no pre-trend</a:t>
                </a:r>
                <a:r>
                  <a:rPr lang="en-US" sz="1200" kern="1200" dirty="0">
                    <a:solidFill>
                      <a:schemeClr val="tx1"/>
                    </a:solidFill>
                    <a:effectLst/>
                    <a:latin typeface="+mn-lt"/>
                    <a:ea typeface="+mn-ea"/>
                    <a:cs typeface="+mn-cs"/>
                  </a:rPr>
                  <a:t> → supports the idea that treatment and control metros were on parallel paths.</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dirty="0">
                    <a:solidFill>
                      <a:schemeClr val="tx1"/>
                    </a:solidFill>
                    <a:effectLst/>
                    <a:latin typeface="+mn-lt"/>
                    <a:ea typeface="+mn-ea"/>
                    <a:cs typeface="+mn-cs"/>
                  </a:rPr>
                  <a:t>The post-event coefficients show how the effect builds over time: is there an immediate jump? A slow ramp-up? Does it fade?</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dirty="0">
                    <a:solidFill>
                      <a:schemeClr val="tx1"/>
                    </a:solidFill>
                    <a:effectLst/>
                    <a:latin typeface="+mn-lt"/>
                    <a:ea typeface="+mn-ea"/>
                    <a:cs typeface="+mn-cs"/>
                  </a:rPr>
                  <a:t>“Each dot is a regression coefficient for one month or bin of months relative to the opening, and the shaded band is its confidence interval. The zero line is the month right before the stadium opens.”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b="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endParaRPr lang="en-US" dirty="0"/>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is an event study?</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You have panel data (metro × month) and a “big event” that happens at different times for different units: a new stadium opening, a policy change, a merger, etc.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 event study asks: </a:t>
                </a:r>
                <a:r>
                  <a:rPr lang="en-US" sz="1200" kern="1200" dirty="0">
                    <a:solidFill>
                      <a:schemeClr val="tx1"/>
                    </a:solidFill>
                    <a:effectLst/>
                    <a:latin typeface="+mn-lt"/>
                    <a:ea typeface="+mn-ea"/>
                    <a:cs typeface="+mn-cs"/>
                  </a:rPr>
                  <a:t>“On average, how does Y (here, log home values) evolve </a:t>
                </a:r>
                <a:r>
                  <a:rPr lang="en-US" sz="1200" i="1" kern="1200" dirty="0">
                    <a:solidFill>
                      <a:schemeClr val="tx1"/>
                    </a:solidFill>
                    <a:effectLst/>
                    <a:latin typeface="+mn-lt"/>
                    <a:ea typeface="+mn-ea"/>
                    <a:cs typeface="+mn-cs"/>
                  </a:rPr>
                  <a:t>before and after</a:t>
                </a:r>
                <a:r>
                  <a:rPr lang="en-US" sz="1200" kern="1200" dirty="0">
                    <a:solidFill>
                      <a:schemeClr val="tx1"/>
                    </a:solidFill>
                    <a:effectLst/>
                    <a:latin typeface="+mn-lt"/>
                    <a:ea typeface="+mn-ea"/>
                    <a:cs typeface="+mn-cs"/>
                  </a:rPr>
                  <a:t> the event, compared to places that haven’t had the event yet (or never have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2 key features: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Time relative to the event</a:t>
                </a:r>
                <a:r>
                  <a:rPr lang="en-US" dirty="0"/>
                  <a:t> (event time: months or quarters since opening)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Dynamic effects:</a:t>
                </a:r>
                <a:r>
                  <a:rPr lang="en-US" dirty="0"/>
                  <a:t> instead of one “post” dummy, we estimate a separate effect for each lead/lag k time (e.g. 12 months before, 6 months after, 24 months after, etc.).</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So it’s like a </a:t>
                </a:r>
                <a:r>
                  <a:rPr lang="en-US" i="1" dirty="0"/>
                  <a:t>difference-in-differences with many time dummies around the event</a:t>
                </a:r>
                <a:r>
                  <a:rPr lang="en-US"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Variables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i</a:t>
                </a:r>
                <a:r>
                  <a:rPr lang="en-US" dirty="0"/>
                  <a:t> = metro, t = month.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Y_it</a:t>
                </a:r>
                <a:r>
                  <a:rPr lang="en-US" dirty="0"/>
                  <a:t> = ln(</a:t>
                </a:r>
                <a:r>
                  <a:rPr lang="en-US" dirty="0" err="1"/>
                  <a:t>ZHVI_it</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Open_month_i</a:t>
                </a:r>
                <a:r>
                  <a:rPr lang="en-US" dirty="0"/>
                  <a:t> be the first opening month in metro 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k_it</a:t>
                </a:r>
                <a:r>
                  <a:rPr lang="en-US" dirty="0"/>
                  <a:t> = t – </a:t>
                </a:r>
                <a:r>
                  <a:rPr lang="en-US" dirty="0" err="1"/>
                  <a:t>open_month_i</a:t>
                </a:r>
                <a:endParaRPr lang="en-US"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k = -12: 1 year before opening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k = 0: opening month</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K = 24: 2 years after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each k in some window say -36 to 60, we create a dummy: (</a:t>
                </a:r>
                <a:r>
                  <a:rPr lang="en-US" dirty="0" err="1"/>
                  <a:t>D_it</a:t>
                </a:r>
                <a:r>
                  <a:rPr lang="en-US" dirty="0"/>
                  <a:t>)^k = 1 when </a:t>
                </a:r>
                <a:r>
                  <a:rPr lang="en-US" dirty="0" err="1"/>
                  <a:t>k_it</a:t>
                </a:r>
                <a:r>
                  <a:rPr lang="en-US" dirty="0"/>
                  <a:t> = k and 0 </a:t>
                </a:r>
                <a:r>
                  <a:rPr lang="en-US" dirty="0" err="1"/>
                  <a:t>o.w</a:t>
                </a:r>
                <a:r>
                  <a:rPr lang="en-US" dirty="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Units that never get a stadium always have these D’s = 0. They still matter as they help pin down the month fixed effects and serve as extra controls.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choose a reference period e.g. k = -1: the month before opening and do not create a dummy for it as it will get dropped from the regression and be the baseline we compare everything to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Model: TWFE event study (From above)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i="0" dirty="0">
                    <a:latin typeface="Cambria Math" panose="02040503050406030204" pitchFamily="18" charset="0"/>
                  </a:rPr>
                  <a:t>𝑎</a:t>
                </a:r>
                <a:r>
                  <a:rPr lang="el-GR" sz="1200" i="0" dirty="0">
                    <a:latin typeface="Cambria Math" panose="02040503050406030204" pitchFamily="18" charset="0"/>
                  </a:rPr>
                  <a:t>_(</a:t>
                </a:r>
                <a:r>
                  <a:rPr lang="en-US" sz="1200" i="0" dirty="0">
                    <a:latin typeface="Cambria Math" panose="02040503050406030204" pitchFamily="18" charset="0"/>
                  </a:rPr>
                  <a:t>𝑖 </a:t>
                </a:r>
                <a:r>
                  <a:rPr lang="el-GR" sz="1200" i="0" dirty="0">
                    <a:latin typeface="Cambria Math" panose="02040503050406030204" pitchFamily="18" charset="0"/>
                  </a:rPr>
                  <a:t>)</a:t>
                </a:r>
                <a:r>
                  <a:rPr lang="en-US" dirty="0"/>
                  <a:t>metro fixed effects to control for time invariant differences</a:t>
                </a:r>
                <a:r>
                  <a:rPr lang="en-US" baseline="0" dirty="0"/>
                  <a:t> across metros (size, long run price level)</a:t>
                </a:r>
                <a:endParaRPr lang="en-US" sz="1200" i="1" dirty="0">
                  <a:latin typeface="Cambria Math" panose="02040503050406030204" pitchFamily="18"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l-GR" sz="1200" i="0" dirty="0">
                    <a:latin typeface="Cambria Math" panose="02040503050406030204" pitchFamily="18" charset="0"/>
                  </a:rPr>
                  <a:t>〖</a:t>
                </a:r>
                <a:r>
                  <a:rPr lang="el-GR" sz="1200" i="0">
                    <a:latin typeface="Cambria Math" panose="02040503050406030204" pitchFamily="18" charset="0"/>
                  </a:rPr>
                  <a:t>"</a:t>
                </a:r>
                <a:r>
                  <a:rPr lang="el-GR" sz="1200" i="0"/>
                  <a:t> ω</a:t>
                </a:r>
                <a:r>
                  <a:rPr lang="el-GR" sz="1200" i="0">
                    <a:latin typeface="Cambria Math" panose="02040503050406030204" pitchFamily="18" charset="0"/>
                  </a:rPr>
                  <a:t>" </a:t>
                </a:r>
                <a:r>
                  <a:rPr lang="el-GR" sz="1200" i="0" dirty="0">
                    <a:latin typeface="Cambria Math" panose="02040503050406030204" pitchFamily="18" charset="0"/>
                  </a:rPr>
                  <a:t>〗_</a:t>
                </a:r>
                <a:r>
                  <a:rPr lang="en-US" sz="1200" i="0" dirty="0">
                    <a:latin typeface="Cambria Math" panose="02040503050406030204" pitchFamily="18" charset="0"/>
                  </a:rPr>
                  <a:t>𝑡</a:t>
                </a:r>
                <a:r>
                  <a:rPr lang="en-US" dirty="0"/>
                  <a:t> month</a:t>
                </a:r>
                <a:r>
                  <a:rPr lang="en-US" baseline="0" dirty="0"/>
                  <a:t> fixed effects to control for shocks common to all metros in a month (national housing cycle, seasonal cycle, interest rates)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i="0" dirty="0">
                    <a:latin typeface="Cambria Math" panose="02040503050406030204" pitchFamily="18" charset="0"/>
                  </a:rPr>
                  <a:t>𝐷_𝑖𝑡^𝑘</a:t>
                </a:r>
                <a:r>
                  <a:rPr lang="en-US" baseline="0" dirty="0"/>
                  <a:t> is the set of dummy for being k periods from opening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l-GR" sz="1200" i="0">
                    <a:latin typeface="Cambria Math" panose="02040503050406030204" pitchFamily="18" charset="0"/>
                    <a:ea typeface="Cambria Math" panose="02040503050406030204" pitchFamily="18" charset="0"/>
                  </a:rPr>
                  <a:t>Κ</a:t>
                </a:r>
                <a:r>
                  <a:rPr lang="en-US" sz="1200" b="0" i="0">
                    <a:latin typeface="Cambria Math" panose="02040503050406030204" pitchFamily="18" charset="0"/>
                    <a:ea typeface="Cambria Math" panose="02040503050406030204" pitchFamily="18" charset="0"/>
                  </a:rPr>
                  <a:t> </a:t>
                </a:r>
                <a:r>
                  <a:rPr lang="en-US" baseline="0" dirty="0"/>
                  <a:t>is the set of event times (-36, .. , +60)</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i="0" dirty="0">
                    <a:latin typeface="Cambria Math" panose="02040503050406030204" pitchFamily="18" charset="0"/>
                    <a:ea typeface="Cambria Math" panose="02040503050406030204" pitchFamily="18" charset="0"/>
                  </a:rPr>
                  <a:t>𝛽_</a:t>
                </a:r>
                <a:r>
                  <a:rPr lang="en-US" sz="1200" b="0" i="0" dirty="0">
                    <a:latin typeface="Cambria Math" panose="02040503050406030204" pitchFamily="18" charset="0"/>
                  </a:rPr>
                  <a:t>𝑘</a:t>
                </a:r>
                <a:r>
                  <a:rPr lang="en-US" baseline="0" dirty="0"/>
                  <a:t> is the dynamic effect at time k relative to the reference period</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i="0" dirty="0">
                    <a:latin typeface="Cambria Math" panose="02040503050406030204" pitchFamily="18" charset="0"/>
                    <a:ea typeface="Cambria Math" panose="02040503050406030204" pitchFamily="18" charset="0"/>
                  </a:rPr>
                  <a:t>𝛽_</a:t>
                </a:r>
                <a:r>
                  <a:rPr lang="en-US" sz="1200" b="0" i="0" dirty="0">
                    <a:latin typeface="Cambria Math" panose="02040503050406030204" pitchFamily="18" charset="0"/>
                  </a:rPr>
                  <a:t>𝑘</a:t>
                </a:r>
                <a:r>
                  <a:rPr lang="en-US" baseline="0" dirty="0"/>
                  <a:t> </a:t>
                </a:r>
                <a:r>
                  <a:rPr lang="en-US" sz="1200" kern="1200" dirty="0">
                    <a:solidFill>
                      <a:schemeClr val="tx1"/>
                    </a:solidFill>
                    <a:effectLst/>
                    <a:latin typeface="+mn-lt"/>
                    <a:ea typeface="+mn-ea"/>
                    <a:cs typeface="+mn-cs"/>
                  </a:rPr>
                  <a:t>is the average difference in log ZHVI k</a:t>
                </a:r>
                <a:r>
                  <a:rPr lang="en-US" sz="1200" b="1" kern="1200" dirty="0">
                    <a:solidFill>
                      <a:schemeClr val="tx1"/>
                    </a:solidFill>
                    <a:effectLst/>
                    <a:latin typeface="+mn-lt"/>
                    <a:ea typeface="+mn-ea"/>
                    <a:cs typeface="+mn-cs"/>
                  </a:rPr>
                  <a:t> months from opening vs the reference period</a:t>
                </a:r>
                <a:r>
                  <a:rPr lang="en-US" sz="1200" kern="1200" dirty="0">
                    <a:solidFill>
                      <a:schemeClr val="tx1"/>
                    </a:solidFill>
                    <a:effectLst/>
                    <a:latin typeface="+mn-lt"/>
                    <a:ea typeface="+mn-ea"/>
                    <a:cs typeface="+mn-cs"/>
                  </a:rPr>
                  <a:t> (month just before opening), after controlling for metro FE and month FE.</a:t>
                </a:r>
              </a:p>
              <a:p>
                <a:pPr marL="628650" marR="0" lvl="1" indent="-171450" algn="l" defTabSz="914400" rtl="0" eaLnBrk="1" fontAlgn="auto" latinLnBrk="0" hangingPunct="1">
                  <a:lnSpc>
                    <a:spcPct val="100000"/>
                  </a:lnSpc>
                  <a:spcBef>
                    <a:spcPts val="0"/>
                  </a:spcBef>
                  <a:spcAft>
                    <a:spcPts val="0"/>
                  </a:spcAft>
                  <a:buClrTx/>
                  <a:buSzTx/>
                  <a:buFontTx/>
                  <a:buChar char="-"/>
                  <a:tabLst/>
                  <a:defRPr/>
                </a:pPr>
                <a:endParaRPr lang="en-US" baseline="0"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Intuition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baseline="0" dirty="0"/>
                  <a:t>Line up time around the event: </a:t>
                </a:r>
                <a:r>
                  <a:rPr lang="en-US" dirty="0"/>
                  <a:t>For each metro, we re-label months not as “Jan 2018, Feb 2018…”, but as “12 months before opening, 11 months before… 0 (opening)… 1 month after, etc.”</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Compare to a baseline: We pick one period as our comparison point – here, the k = -1 (one month) right before the stadium opens. We don’t estimate a coefficient for that period; that becomes our “zero” base-line.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Add fixed effects to clean out noise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Estimate a separate effect for each event time: </a:t>
                </a:r>
                <a:r>
                  <a:rPr lang="en-US" sz="1200" kern="1200" dirty="0">
                    <a:solidFill>
                      <a:schemeClr val="tx1"/>
                    </a:solidFill>
                    <a:effectLst/>
                    <a:latin typeface="+mn-lt"/>
                    <a:ea typeface="+mn-ea"/>
                    <a:cs typeface="+mn-cs"/>
                  </a:rPr>
                  <a:t>The regression tells us, for each month/quarter relative to the opening, how much higher or lower home values are </a:t>
                </a:r>
                <a:r>
                  <a:rPr lang="en-US" sz="1200" i="1" kern="1200" dirty="0">
                    <a:solidFill>
                      <a:schemeClr val="tx1"/>
                    </a:solidFill>
                    <a:effectLst/>
                    <a:latin typeface="+mn-lt"/>
                    <a:ea typeface="+mn-ea"/>
                    <a:cs typeface="+mn-cs"/>
                  </a:rPr>
                  <a:t>compared to that pre-period</a:t>
                </a:r>
                <a:r>
                  <a:rPr lang="en-US" sz="1200" kern="1200" dirty="0">
                    <a:solidFill>
                      <a:schemeClr val="tx1"/>
                    </a:solidFill>
                    <a:effectLst/>
                    <a:latin typeface="+mn-lt"/>
                    <a:ea typeface="+mn-ea"/>
                    <a:cs typeface="+mn-cs"/>
                  </a:rPr>
                  <a:t>, after controlling for all those fixed effects.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Plot the coefficients as an event-study graph: </a:t>
                </a:r>
                <a:r>
                  <a:rPr lang="en-US" sz="1200" kern="1200" dirty="0">
                    <a:solidFill>
                      <a:schemeClr val="tx1"/>
                    </a:solidFill>
                    <a:effectLst/>
                    <a:latin typeface="+mn-lt"/>
                    <a:ea typeface="+mn-ea"/>
                    <a:cs typeface="+mn-cs"/>
                  </a:rPr>
                  <a:t>We plot the </a:t>
                </a:r>
                <a:r>
                  <a:rPr lang="en-US" sz="1200" b="0" i="0" dirty="0">
                    <a:latin typeface="Cambria Math" panose="02040503050406030204" pitchFamily="18" charset="0"/>
                    <a:ea typeface="Cambria Math" panose="02040503050406030204" pitchFamily="18" charset="0"/>
                  </a:rPr>
                  <a:t>𝛽_</a:t>
                </a:r>
                <a:r>
                  <a:rPr lang="en-US" sz="1200" b="0" i="0" dirty="0">
                    <a:latin typeface="Cambria Math" panose="02040503050406030204" pitchFamily="18" charset="0"/>
                  </a:rPr>
                  <a:t>𝑘</a:t>
                </a:r>
                <a:r>
                  <a:rPr lang="en-US" baseline="0" dirty="0"/>
                  <a:t> </a:t>
                </a:r>
                <a:r>
                  <a:rPr lang="en-US" sz="1200" kern="1200" dirty="0">
                    <a:solidFill>
                      <a:schemeClr val="tx1"/>
                    </a:solidFill>
                    <a:effectLst/>
                    <a:latin typeface="+mn-lt"/>
                    <a:ea typeface="+mn-ea"/>
                    <a:cs typeface="+mn-cs"/>
                  </a:rPr>
                  <a:t>on the y-axis and event time k on the x-axis.</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dirty="0">
                    <a:solidFill>
                      <a:schemeClr val="tx1"/>
                    </a:solidFill>
                    <a:effectLst/>
                    <a:latin typeface="+mn-lt"/>
                    <a:ea typeface="+mn-ea"/>
                    <a:cs typeface="+mn-cs"/>
                  </a:rPr>
                  <a:t>If the pre-event coefficients (negative k) are all around zero → </a:t>
                </a:r>
                <a:r>
                  <a:rPr lang="en-US" sz="1200" b="1" kern="1200" dirty="0">
                    <a:solidFill>
                      <a:schemeClr val="tx1"/>
                    </a:solidFill>
                    <a:effectLst/>
                    <a:latin typeface="+mn-lt"/>
                    <a:ea typeface="+mn-ea"/>
                    <a:cs typeface="+mn-cs"/>
                  </a:rPr>
                  <a:t>no pre-trend</a:t>
                </a:r>
                <a:r>
                  <a:rPr lang="en-US" sz="1200" kern="1200" dirty="0">
                    <a:solidFill>
                      <a:schemeClr val="tx1"/>
                    </a:solidFill>
                    <a:effectLst/>
                    <a:latin typeface="+mn-lt"/>
                    <a:ea typeface="+mn-ea"/>
                    <a:cs typeface="+mn-cs"/>
                  </a:rPr>
                  <a:t> → supports the idea that treatment and control metros were on parallel paths.</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dirty="0">
                    <a:solidFill>
                      <a:schemeClr val="tx1"/>
                    </a:solidFill>
                    <a:effectLst/>
                    <a:latin typeface="+mn-lt"/>
                    <a:ea typeface="+mn-ea"/>
                    <a:cs typeface="+mn-cs"/>
                  </a:rPr>
                  <a:t>The post-event coefficients show how the effect builds over time: is there an immediate jump? A slow ramp-up? Does it fade?</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dirty="0">
                    <a:solidFill>
                      <a:schemeClr val="tx1"/>
                    </a:solidFill>
                    <a:effectLst/>
                    <a:latin typeface="+mn-lt"/>
                    <a:ea typeface="+mn-ea"/>
                    <a:cs typeface="+mn-cs"/>
                  </a:rPr>
                  <a:t>“Each dot is a regression coefficient for one month or bin of months relative to the opening, and the shaded band is its confidence interval. The zero line is the month right before the stadium opens.”</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dirty="0">
                  <a:solidFill>
                    <a:schemeClr val="tx1"/>
                  </a:solidFill>
                  <a:effectLst/>
                  <a:latin typeface="+mn-lt"/>
                  <a:ea typeface="+mn-ea"/>
                  <a:cs typeface="+mn-cs"/>
                </a:endParaRP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b="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4EEF4DFB-297D-1045-A3AB-C5A7AFD16437}" type="slidenum">
              <a:rPr lang="en-US" smtClean="0"/>
              <a:t>21</a:t>
            </a:fld>
            <a:endParaRPr lang="en-US"/>
          </a:p>
        </p:txBody>
      </p:sp>
    </p:spTree>
    <p:extLst>
      <p:ext uri="{BB962C8B-B14F-4D97-AF65-F5344CB8AC3E}">
        <p14:creationId xmlns:p14="http://schemas.microsoft.com/office/powerpoint/2010/main" val="932935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is </a:t>
            </a:r>
            <a:r>
              <a:rPr lang="en-US" b="1" dirty="0"/>
              <a:t>no dot at k = −1</a:t>
            </a:r>
            <a:r>
              <a:rPr lang="en-US" dirty="0"/>
              <a:t> because we never estimate a coefficient for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b="1" dirty="0"/>
              <a:t>horizontal 0% line</a:t>
            </a:r>
            <a:r>
              <a:rPr lang="en-US" dirty="0"/>
              <a:t> is literally “no change relative to k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 point on the curve is “% change in ln(ZHVI) in month k </a:t>
            </a:r>
            <a:r>
              <a:rPr lang="en-US" b="1" dirty="0"/>
              <a:t>compared to the month before opening</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a:t>
            </a:r>
            <a:r>
              <a:rPr lang="en-US" b="1" dirty="0"/>
              <a:t>k = −1 is the invisible zero</a:t>
            </a:r>
            <a:r>
              <a:rPr lang="en-US" dirty="0"/>
              <a:t> that everything else is measured against, and it’s encoded by the fact that the y-axis is “change vs month before opening (%)” and the 0% line is that baseline.</a:t>
            </a:r>
          </a:p>
          <a:p>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22</a:t>
            </a:fld>
            <a:endParaRPr lang="en-US"/>
          </a:p>
        </p:txBody>
      </p:sp>
    </p:spTree>
    <p:extLst>
      <p:ext uri="{BB962C8B-B14F-4D97-AF65-F5344CB8AC3E}">
        <p14:creationId xmlns:p14="http://schemas.microsoft.com/office/powerpoint/2010/main" val="824401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t>
            </a:r>
            <a:r>
              <a:rPr lang="en-US" b="1" dirty="0"/>
              <a:t>−2</a:t>
            </a:r>
            <a:r>
              <a:rPr lang="en-US" dirty="0"/>
              <a:t> (months −6 to −4): estimate is about </a:t>
            </a:r>
            <a:r>
              <a:rPr lang="en-US" b="1" dirty="0"/>
              <a:t>−1.6%</a:t>
            </a:r>
            <a:r>
              <a:rPr lang="en-US" dirty="0"/>
              <a:t> vs the quarter −1.</a:t>
            </a:r>
          </a:p>
          <a:p>
            <a:r>
              <a:rPr lang="en-US" dirty="0"/>
              <a:t>At </a:t>
            </a:r>
            <a:r>
              <a:rPr lang="en-US" b="1" dirty="0"/>
              <a:t>0</a:t>
            </a:r>
            <a:r>
              <a:rPr lang="en-US" dirty="0"/>
              <a:t> (opening quarter): estimate is about </a:t>
            </a:r>
            <a:r>
              <a:rPr lang="en-US" b="1" dirty="0"/>
              <a:t>+0.2%</a:t>
            </a:r>
            <a:r>
              <a:rPr lang="en-US" dirty="0"/>
              <a:t> vs the quarter −1.</a:t>
            </a:r>
          </a:p>
          <a:p>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23</a:t>
            </a:fld>
            <a:endParaRPr lang="en-US"/>
          </a:p>
        </p:txBody>
      </p:sp>
    </p:spTree>
    <p:extLst>
      <p:ext uri="{BB962C8B-B14F-4D97-AF65-F5344CB8AC3E}">
        <p14:creationId xmlns:p14="http://schemas.microsoft.com/office/powerpoint/2010/main" val="2148713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EF4DFB-297D-1045-A3AB-C5A7AFD16437}" type="slidenum">
              <a:rPr lang="en-US" smtClean="0"/>
              <a:t>24</a:t>
            </a:fld>
            <a:endParaRPr lang="en-US"/>
          </a:p>
        </p:txBody>
      </p:sp>
    </p:spTree>
    <p:extLst>
      <p:ext uri="{BB962C8B-B14F-4D97-AF65-F5344CB8AC3E}">
        <p14:creationId xmlns:p14="http://schemas.microsoft.com/office/powerpoint/2010/main" val="781956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4755C-FA34-EADB-E258-F17DF3B4E2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869EA7-B5BC-6765-95AC-45BEF6F9F6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DEF7C8-6882-9BC9-5953-9A8F01552E15}"/>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5" name="Footer Placeholder 4">
            <a:extLst>
              <a:ext uri="{FF2B5EF4-FFF2-40B4-BE49-F238E27FC236}">
                <a16:creationId xmlns:a16="http://schemas.microsoft.com/office/drawing/2014/main" id="{18F896DC-DF74-9129-95B9-E44F631056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7366EC-BAA9-82FB-997C-F22A4068C612}"/>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2808460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401F-FD2A-968E-E97C-529614B793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444B5A-BAA0-8155-2191-49D1DCB5B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CC68BC-8BC2-B6A8-F0D8-8D1B3A835DBC}"/>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5" name="Footer Placeholder 4">
            <a:extLst>
              <a:ext uri="{FF2B5EF4-FFF2-40B4-BE49-F238E27FC236}">
                <a16:creationId xmlns:a16="http://schemas.microsoft.com/office/drawing/2014/main" id="{E301B6EF-20E5-D198-D6BE-6C505A198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D41D3B-FBB1-D151-E078-7ADF273574D9}"/>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633187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9AD45-9897-800F-33E5-9D9F7E00C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F12FDF-0346-4B1E-968F-F54B32E5C6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04AD05-04D6-0FC1-07B6-1CD21F941FFD}"/>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5" name="Footer Placeholder 4">
            <a:extLst>
              <a:ext uri="{FF2B5EF4-FFF2-40B4-BE49-F238E27FC236}">
                <a16:creationId xmlns:a16="http://schemas.microsoft.com/office/drawing/2014/main" id="{08E0BF8D-7868-97F0-2A2F-28D04B0FA9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FA362E-FB36-C0BA-FA91-B797782A0B34}"/>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3237869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AB4A7-2D4E-569A-1DE0-035049B560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10F08C-D7D0-F522-B74B-38EE6586E1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D0AD4F-07C3-5AB2-0715-0FE3675214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C64242-EFBE-A314-6EEF-E55521E15558}"/>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6" name="Footer Placeholder 5">
            <a:extLst>
              <a:ext uri="{FF2B5EF4-FFF2-40B4-BE49-F238E27FC236}">
                <a16:creationId xmlns:a16="http://schemas.microsoft.com/office/drawing/2014/main" id="{22BB7EAA-CC70-2901-B844-E03FE0D473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1F0AA9-C424-06C0-3818-6238A0B1DCCE}"/>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1604405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BE2F-58FA-2C00-684A-38C92AE09E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0BADF8-C679-4607-A8FA-0E751197BB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E3FD7B-7ACE-88FC-1885-CE2F677BA5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4E4D9E-1217-5BF7-E95D-3458714936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2F0B54-D366-E1BC-B7FD-20F98CFDE7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3BCBFE-8412-C497-4FAE-8E6E2CC0B9C5}"/>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8" name="Footer Placeholder 7">
            <a:extLst>
              <a:ext uri="{FF2B5EF4-FFF2-40B4-BE49-F238E27FC236}">
                <a16:creationId xmlns:a16="http://schemas.microsoft.com/office/drawing/2014/main" id="{CAF2FEBD-45E9-14AE-E1B2-4C8471BF43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25E1CC-6DD0-7739-5885-90866504C1B9}"/>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1566098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859CB-2E90-6F9C-92CB-27631918F1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B45D4B-3F3E-36F3-A0F6-93F59FB13096}"/>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4" name="Footer Placeholder 3">
            <a:extLst>
              <a:ext uri="{FF2B5EF4-FFF2-40B4-BE49-F238E27FC236}">
                <a16:creationId xmlns:a16="http://schemas.microsoft.com/office/drawing/2014/main" id="{D7CE3040-543E-EF3A-CFA2-A6A6F81D45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130B4B-AD6A-D51A-64AA-4B3AD4AF1764}"/>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56821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44ED2-0DBC-9623-F350-E8733BD5C76A}"/>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3" name="Footer Placeholder 2">
            <a:extLst>
              <a:ext uri="{FF2B5EF4-FFF2-40B4-BE49-F238E27FC236}">
                <a16:creationId xmlns:a16="http://schemas.microsoft.com/office/drawing/2014/main" id="{07C2BEA5-4F5A-E5F9-1175-14A68A4312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D085CA-DD0E-871B-A06A-409DA59A58E2}"/>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350880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1D76-F2B5-37E5-A50D-06215EF878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9BFD90-71B8-26BB-6212-D9E31596B0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6FF4BF-DA71-023E-00BB-1CEB957BEA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680D5A-F827-178B-3444-CB182C55D7F3}"/>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6" name="Footer Placeholder 5">
            <a:extLst>
              <a:ext uri="{FF2B5EF4-FFF2-40B4-BE49-F238E27FC236}">
                <a16:creationId xmlns:a16="http://schemas.microsoft.com/office/drawing/2014/main" id="{37AE97D0-3C7A-AEE7-D19C-72A29E32C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4ABA3A-F903-1AAA-0366-12F576181307}"/>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913436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9BE3B-E120-7365-7536-88977D23E5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F2FBF4-6051-D26F-0E84-73558803E9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F61546-5D71-FDD6-4516-F28AB747E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DF9579-D08D-6D42-A87D-13994FC4A7BC}"/>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6" name="Footer Placeholder 5">
            <a:extLst>
              <a:ext uri="{FF2B5EF4-FFF2-40B4-BE49-F238E27FC236}">
                <a16:creationId xmlns:a16="http://schemas.microsoft.com/office/drawing/2014/main" id="{CDF1E115-0D6F-9B14-5D69-F60F23DC30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967160-B910-E965-8B9A-8AD70988C94E}"/>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1025828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F5F9C-B3F1-683F-48E7-6CD9BD4453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FF3F35-D3EC-B7E7-82A8-2BE210EFF1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A6870F-D5AC-000D-5162-4AEFE0FF0FF0}"/>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5" name="Footer Placeholder 4">
            <a:extLst>
              <a:ext uri="{FF2B5EF4-FFF2-40B4-BE49-F238E27FC236}">
                <a16:creationId xmlns:a16="http://schemas.microsoft.com/office/drawing/2014/main" id="{DE55FAC2-4E7A-01FE-750E-F15DE970F5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7AC3B4-B4E9-EB27-67A3-9142700A3E97}"/>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3663350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CA6AF2-0868-155C-B1F1-CC8A55ECB4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121BB3-A271-BCE3-A7BC-FDBF35DD0E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DE5202-1E91-C84E-0BFC-377398D1111C}"/>
              </a:ext>
            </a:extLst>
          </p:cNvPr>
          <p:cNvSpPr>
            <a:spLocks noGrp="1"/>
          </p:cNvSpPr>
          <p:nvPr>
            <p:ph type="dt" sz="half" idx="10"/>
          </p:nvPr>
        </p:nvSpPr>
        <p:spPr/>
        <p:txBody>
          <a:bodyPr/>
          <a:lstStyle/>
          <a:p>
            <a:fld id="{9998D98A-05B5-9D40-9BD6-0FA3D31495EA}" type="datetimeFigureOut">
              <a:rPr lang="en-US" smtClean="0"/>
              <a:t>12/2/25</a:t>
            </a:fld>
            <a:endParaRPr lang="en-US"/>
          </a:p>
        </p:txBody>
      </p:sp>
      <p:sp>
        <p:nvSpPr>
          <p:cNvPr id="5" name="Footer Placeholder 4">
            <a:extLst>
              <a:ext uri="{FF2B5EF4-FFF2-40B4-BE49-F238E27FC236}">
                <a16:creationId xmlns:a16="http://schemas.microsoft.com/office/drawing/2014/main" id="{4FDF0C44-66D0-58A8-1EDB-3E90A5F3F6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C16DA5-D22C-B154-BAD6-529FDCA7A98D}"/>
              </a:ext>
            </a:extLst>
          </p:cNvPr>
          <p:cNvSpPr>
            <a:spLocks noGrp="1"/>
          </p:cNvSpPr>
          <p:nvPr>
            <p:ph type="sldNum" sz="quarter" idx="12"/>
          </p:nvPr>
        </p:nvSpPr>
        <p:spPr/>
        <p:txBody>
          <a:bodyPr/>
          <a:lstStyle/>
          <a:p>
            <a:fld id="{9FD38EAD-E08B-824D-8EE2-A7586DF562EB}" type="slidenum">
              <a:rPr lang="en-US" smtClean="0"/>
              <a:t>‹#›</a:t>
            </a:fld>
            <a:endParaRPr lang="en-US"/>
          </a:p>
        </p:txBody>
      </p:sp>
    </p:spTree>
    <p:extLst>
      <p:ext uri="{BB962C8B-B14F-4D97-AF65-F5344CB8AC3E}">
        <p14:creationId xmlns:p14="http://schemas.microsoft.com/office/powerpoint/2010/main" val="4285279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05FC9B-9560-9C40-505A-F4DF66F611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560000-F727-A3D5-154E-9A6FED7914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52F7A7-CD4F-CD80-8C7E-F51D59E94F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98D98A-05B5-9D40-9BD6-0FA3D31495EA}" type="datetimeFigureOut">
              <a:rPr lang="en-US" smtClean="0"/>
              <a:t>12/2/25</a:t>
            </a:fld>
            <a:endParaRPr lang="en-US"/>
          </a:p>
        </p:txBody>
      </p:sp>
      <p:sp>
        <p:nvSpPr>
          <p:cNvPr id="5" name="Footer Placeholder 4">
            <a:extLst>
              <a:ext uri="{FF2B5EF4-FFF2-40B4-BE49-F238E27FC236}">
                <a16:creationId xmlns:a16="http://schemas.microsoft.com/office/drawing/2014/main" id="{CD720A59-937A-D690-F22C-65DAD2614F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156449-ECE8-68A8-250E-C7FE8CCDAF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38EAD-E08B-824D-8EE2-A7586DF562EB}" type="slidenum">
              <a:rPr lang="en-US" smtClean="0"/>
              <a:t>‹#›</a:t>
            </a:fld>
            <a:endParaRPr lang="en-US"/>
          </a:p>
        </p:txBody>
      </p:sp>
    </p:spTree>
    <p:extLst>
      <p:ext uri="{BB962C8B-B14F-4D97-AF65-F5344CB8AC3E}">
        <p14:creationId xmlns:p14="http://schemas.microsoft.com/office/powerpoint/2010/main" val="3137577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gif"/><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1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Freeform: Shape 2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CAD15B-48D6-9974-91CA-EA293E7EDE11}"/>
              </a:ext>
            </a:extLst>
          </p:cNvPr>
          <p:cNvSpPr>
            <a:spLocks noGrp="1"/>
          </p:cNvSpPr>
          <p:nvPr>
            <p:ph type="ctrTitle"/>
          </p:nvPr>
        </p:nvSpPr>
        <p:spPr>
          <a:xfrm>
            <a:off x="1524000" y="1165198"/>
            <a:ext cx="9144000" cy="2764028"/>
          </a:xfrm>
        </p:spPr>
        <p:txBody>
          <a:bodyPr anchor="ctr">
            <a:normAutofit/>
          </a:bodyPr>
          <a:lstStyle/>
          <a:p>
            <a:r>
              <a:rPr lang="en-US" sz="3400" b="1" i="0" dirty="0">
                <a:effectLst/>
              </a:rPr>
              <a:t>Sports Impact Study: </a:t>
            </a:r>
            <a:r>
              <a:rPr lang="en-US" sz="3400" b="1" dirty="0"/>
              <a:t>Do New Sports Venues Raise Local House Prices? Evidence from U.S. Metro-Level Housing Data</a:t>
            </a:r>
            <a:br>
              <a:rPr lang="en-US" sz="3400" dirty="0"/>
            </a:br>
            <a:endParaRPr lang="en-US" sz="3400" dirty="0"/>
          </a:p>
        </p:txBody>
      </p:sp>
      <p:sp>
        <p:nvSpPr>
          <p:cNvPr id="3" name="Subtitle 2">
            <a:extLst>
              <a:ext uri="{FF2B5EF4-FFF2-40B4-BE49-F238E27FC236}">
                <a16:creationId xmlns:a16="http://schemas.microsoft.com/office/drawing/2014/main" id="{F61FCE2B-004A-624E-053C-69956377FAA4}"/>
              </a:ext>
            </a:extLst>
          </p:cNvPr>
          <p:cNvSpPr>
            <a:spLocks noGrp="1"/>
          </p:cNvSpPr>
          <p:nvPr>
            <p:ph type="subTitle" idx="1"/>
          </p:nvPr>
        </p:nvSpPr>
        <p:spPr>
          <a:xfrm>
            <a:off x="1966912" y="3340315"/>
            <a:ext cx="8258176" cy="1757378"/>
          </a:xfrm>
        </p:spPr>
        <p:txBody>
          <a:bodyPr anchor="ctr">
            <a:noAutofit/>
          </a:bodyPr>
          <a:lstStyle/>
          <a:p>
            <a:r>
              <a:rPr lang="en-US" dirty="0"/>
              <a:t>Quan Nguyen &amp; Michael Zhang</a:t>
            </a:r>
          </a:p>
          <a:p>
            <a:r>
              <a:rPr lang="en-US" dirty="0"/>
              <a:t>ECON 4200: Senior Seminar</a:t>
            </a:r>
          </a:p>
          <a:p>
            <a:r>
              <a:rPr lang="en-US" dirty="0"/>
              <a:t>Dr. John Connaughton</a:t>
            </a:r>
          </a:p>
          <a:p>
            <a:r>
              <a:rPr lang="en-US" dirty="0"/>
              <a:t>November 24, 2025</a:t>
            </a:r>
          </a:p>
        </p:txBody>
      </p:sp>
      <p:sp>
        <p:nvSpPr>
          <p:cNvPr id="23" name="Rectangle 2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28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474C4-2CD3-C0BF-157D-228B9A2DB425}"/>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36A7E88F-81D4-E05B-4993-5B1CC974A725}"/>
              </a:ext>
            </a:extLst>
          </p:cNvPr>
          <p:cNvSpPr>
            <a:spLocks noGrp="1"/>
          </p:cNvSpPr>
          <p:nvPr>
            <p:ph idx="1"/>
          </p:nvPr>
        </p:nvSpPr>
        <p:spPr/>
        <p:txBody>
          <a:bodyPr/>
          <a:lstStyle/>
          <a:p>
            <a:r>
              <a:rPr lang="en-US" dirty="0"/>
              <a:t>Do metros that get a new venue (stadium/arena) see higher home values than those that don’t?</a:t>
            </a:r>
          </a:p>
          <a:p>
            <a:endParaRPr lang="en-US" dirty="0"/>
          </a:p>
          <a:p>
            <a:r>
              <a:rPr lang="en-US" dirty="0"/>
              <a:t>Do home prices jump at opening, or build gradually over time?</a:t>
            </a:r>
          </a:p>
          <a:p>
            <a:endParaRPr lang="en-US" dirty="0"/>
          </a:p>
          <a:p>
            <a:r>
              <a:rPr lang="en-US" dirty="0"/>
              <a:t>Do costlier projects have larger effects on home prices?</a:t>
            </a:r>
          </a:p>
          <a:p>
            <a:pPr marL="0" indent="0">
              <a:buNone/>
            </a:pP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97315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646D3-CDF9-D0B0-E136-EEB77492A5DD}"/>
              </a:ext>
            </a:extLst>
          </p:cNvPr>
          <p:cNvSpPr>
            <a:spLocks noGrp="1"/>
          </p:cNvSpPr>
          <p:nvPr>
            <p:ph type="title"/>
          </p:nvPr>
        </p:nvSpPr>
        <p:spPr/>
        <p:txBody>
          <a:bodyPr/>
          <a:lstStyle/>
          <a:p>
            <a:r>
              <a:rPr lang="en-US" dirty="0"/>
              <a:t>Why do we care?</a:t>
            </a:r>
          </a:p>
        </p:txBody>
      </p:sp>
      <p:sp>
        <p:nvSpPr>
          <p:cNvPr id="3" name="Content Placeholder 2">
            <a:extLst>
              <a:ext uri="{FF2B5EF4-FFF2-40B4-BE49-F238E27FC236}">
                <a16:creationId xmlns:a16="http://schemas.microsoft.com/office/drawing/2014/main" id="{BF817D1B-874E-E8C7-960D-77E2186E90F9}"/>
              </a:ext>
            </a:extLst>
          </p:cNvPr>
          <p:cNvSpPr>
            <a:spLocks noGrp="1"/>
          </p:cNvSpPr>
          <p:nvPr>
            <p:ph idx="1"/>
          </p:nvPr>
        </p:nvSpPr>
        <p:spPr>
          <a:xfrm>
            <a:off x="838200" y="1690688"/>
            <a:ext cx="10515600" cy="4351338"/>
          </a:xfrm>
        </p:spPr>
        <p:txBody>
          <a:bodyPr>
            <a:normAutofit lnSpcReduction="10000"/>
          </a:bodyPr>
          <a:lstStyle/>
          <a:p>
            <a:r>
              <a:rPr lang="en-US" dirty="0"/>
              <a:t>Cities spend millions, if not billions on new venues, often with public money and tax breaks. We should know if local residents actually gain or not.</a:t>
            </a:r>
          </a:p>
          <a:p>
            <a:endParaRPr lang="en-US" dirty="0"/>
          </a:p>
          <a:p>
            <a:r>
              <a:rPr lang="en-US" dirty="0"/>
              <a:t>Our study gives evidence for voters and policymakers on whether these big projects show up in the housing market at all, and on what time scale.</a:t>
            </a:r>
            <a:br>
              <a:rPr lang="en-US" dirty="0"/>
            </a:br>
            <a:br>
              <a:rPr lang="en-US" dirty="0"/>
            </a:br>
            <a:br>
              <a:rPr lang="en-US" dirty="0"/>
            </a:br>
            <a:br>
              <a:rPr lang="en-US" dirty="0"/>
            </a:br>
            <a:endParaRPr lang="en-US" dirty="0"/>
          </a:p>
          <a:p>
            <a:endParaRPr lang="en-US" dirty="0"/>
          </a:p>
        </p:txBody>
      </p:sp>
    </p:spTree>
    <p:extLst>
      <p:ext uri="{BB962C8B-B14F-4D97-AF65-F5344CB8AC3E}">
        <p14:creationId xmlns:p14="http://schemas.microsoft.com/office/powerpoint/2010/main" val="4151005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F4A6BC5B-9A99-470D-A298-8EDE82D801A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Content Placeholder 3">
            <a:extLst>
              <a:ext uri="{FF2B5EF4-FFF2-40B4-BE49-F238E27FC236}">
                <a16:creationId xmlns:a16="http://schemas.microsoft.com/office/drawing/2014/main" id="{642ED10E-B449-AC9C-D574-3A222FE73C15}"/>
              </a:ext>
            </a:extLst>
          </p:cNvPr>
          <p:cNvGraphicFramePr>
            <a:graphicFrameLocks/>
          </p:cNvGraphicFramePr>
          <p:nvPr>
            <p:extLst>
              <p:ext uri="{D42A27DB-BD31-4B8C-83A1-F6EECF244321}">
                <p14:modId xmlns:p14="http://schemas.microsoft.com/office/powerpoint/2010/main" val="3252680065"/>
              </p:ext>
            </p:extLst>
          </p:nvPr>
        </p:nvGraphicFramePr>
        <p:xfrm>
          <a:off x="1076871" y="269981"/>
          <a:ext cx="10038257" cy="6318038"/>
        </p:xfrm>
        <a:graphic>
          <a:graphicData uri="http://schemas.openxmlformats.org/drawingml/2006/table">
            <a:tbl>
              <a:tblPr firstRow="1" bandRow="1"/>
              <a:tblGrid>
                <a:gridCol w="2832640">
                  <a:extLst>
                    <a:ext uri="{9D8B030D-6E8A-4147-A177-3AD203B41FA5}">
                      <a16:colId xmlns:a16="http://schemas.microsoft.com/office/drawing/2014/main" val="3310503073"/>
                    </a:ext>
                  </a:extLst>
                </a:gridCol>
                <a:gridCol w="1653449">
                  <a:extLst>
                    <a:ext uri="{9D8B030D-6E8A-4147-A177-3AD203B41FA5}">
                      <a16:colId xmlns:a16="http://schemas.microsoft.com/office/drawing/2014/main" val="1044999400"/>
                    </a:ext>
                  </a:extLst>
                </a:gridCol>
                <a:gridCol w="2108035">
                  <a:extLst>
                    <a:ext uri="{9D8B030D-6E8A-4147-A177-3AD203B41FA5}">
                      <a16:colId xmlns:a16="http://schemas.microsoft.com/office/drawing/2014/main" val="238370147"/>
                    </a:ext>
                  </a:extLst>
                </a:gridCol>
                <a:gridCol w="2506869">
                  <a:extLst>
                    <a:ext uri="{9D8B030D-6E8A-4147-A177-3AD203B41FA5}">
                      <a16:colId xmlns:a16="http://schemas.microsoft.com/office/drawing/2014/main" val="245749031"/>
                    </a:ext>
                  </a:extLst>
                </a:gridCol>
                <a:gridCol w="937264">
                  <a:extLst>
                    <a:ext uri="{9D8B030D-6E8A-4147-A177-3AD203B41FA5}">
                      <a16:colId xmlns:a16="http://schemas.microsoft.com/office/drawing/2014/main" val="1677777366"/>
                    </a:ext>
                  </a:extLst>
                </a:gridCol>
              </a:tblGrid>
              <a:tr h="229735">
                <a:tc>
                  <a:txBody>
                    <a:bodyPr/>
                    <a:lstStyle/>
                    <a:p>
                      <a:pPr>
                        <a:buNone/>
                      </a:pPr>
                      <a:r>
                        <a:rPr lang="en-US" sz="1600" b="0" dirty="0"/>
                        <a:t>Study</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BEBEB"/>
                    </a:solidFill>
                  </a:tcPr>
                </a:tc>
                <a:tc>
                  <a:txBody>
                    <a:bodyPr/>
                    <a:lstStyle/>
                    <a:p>
                      <a:pPr>
                        <a:buNone/>
                      </a:pPr>
                      <a:r>
                        <a:rPr lang="en-US" sz="1600" b="0"/>
                        <a:t>Location</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BEBEB"/>
                    </a:solidFill>
                  </a:tcPr>
                </a:tc>
                <a:tc>
                  <a:txBody>
                    <a:bodyPr/>
                    <a:lstStyle/>
                    <a:p>
                      <a:pPr>
                        <a:buNone/>
                      </a:pPr>
                      <a:r>
                        <a:rPr lang="en-US" sz="1600" b="0"/>
                        <a:t>Method</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BEBEB"/>
                    </a:solidFill>
                  </a:tcPr>
                </a:tc>
                <a:tc>
                  <a:txBody>
                    <a:bodyPr/>
                    <a:lstStyle/>
                    <a:p>
                      <a:pPr>
                        <a:buNone/>
                      </a:pPr>
                      <a:r>
                        <a:rPr lang="en-US" sz="1600" b="0"/>
                        <a:t>Main Finding</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BEBEB"/>
                    </a:solidFill>
                  </a:tcPr>
                </a:tc>
                <a:tc>
                  <a:txBody>
                    <a:bodyPr/>
                    <a:lstStyle/>
                    <a:p>
                      <a:pPr>
                        <a:buNone/>
                      </a:pPr>
                      <a:r>
                        <a:rPr lang="en-US" sz="1600" b="0" dirty="0"/>
                        <a:t>Effects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BEBEB"/>
                    </a:solidFill>
                  </a:tcPr>
                </a:tc>
                <a:extLst>
                  <a:ext uri="{0D108BD9-81ED-4DB2-BD59-A6C34878D82A}">
                    <a16:rowId xmlns:a16="http://schemas.microsoft.com/office/drawing/2014/main" val="2924354453"/>
                  </a:ext>
                </a:extLst>
              </a:tr>
              <a:tr h="563896">
                <a:tc>
                  <a:txBody>
                    <a:bodyPr/>
                    <a:lstStyle/>
                    <a:p>
                      <a:pPr>
                        <a:buNone/>
                      </a:pPr>
                      <a:r>
                        <a:rPr lang="en-US" sz="1600" b="1" dirty="0"/>
                        <a:t>Dehring, </a:t>
                      </a:r>
                      <a:r>
                        <a:rPr lang="en-US" sz="1600" b="1" dirty="0" err="1"/>
                        <a:t>Depken</a:t>
                      </a:r>
                      <a:r>
                        <a:rPr lang="en-US" sz="1600" b="1" dirty="0"/>
                        <a:t> &amp; Ward (2006)</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a:t>Dallas–Fort Worth, USA</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dirty="0"/>
                        <a:t>Event Study</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dirty="0"/>
                        <a:t>−1.5% in property value after announcement; tax burden effect</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dirty="0"/>
                        <a:t>Negative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417323875"/>
                  </a:ext>
                </a:extLst>
              </a:tr>
              <a:tr h="404332">
                <a:tc>
                  <a:txBody>
                    <a:bodyPr/>
                    <a:lstStyle/>
                    <a:p>
                      <a:pPr>
                        <a:buNone/>
                      </a:pPr>
                      <a:r>
                        <a:rPr lang="en-US" sz="1600" b="0" dirty="0" err="1"/>
                        <a:t>Ahlfeldt</a:t>
                      </a:r>
                      <a:r>
                        <a:rPr lang="en-US" sz="1600" b="0" dirty="0"/>
                        <a:t> &amp; </a:t>
                      </a:r>
                      <a:r>
                        <a:rPr lang="en-US" sz="1600" b="0" dirty="0" err="1"/>
                        <a:t>Maennig</a:t>
                      </a:r>
                      <a:r>
                        <a:rPr lang="en-US" sz="1600" b="0" dirty="0"/>
                        <a:t> (2010)</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Berlin, Germany</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Hedonic</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+3% land value within 3 km radius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Positive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47496961"/>
                  </a:ext>
                </a:extLst>
              </a:tr>
              <a:tr h="730976">
                <a:tc>
                  <a:txBody>
                    <a:bodyPr/>
                    <a:lstStyle/>
                    <a:p>
                      <a:pPr>
                        <a:buNone/>
                      </a:pPr>
                      <a:r>
                        <a:rPr lang="en-US" sz="1600" b="0" dirty="0"/>
                        <a:t>Coates &amp; Humphreys (2008)</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r>
                        <a:rPr lang="en-US" sz="1600" dirty="0"/>
                        <a:t>U.S. cities (multiple)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dirty="0"/>
                        <a:t>Literature Review / Synthesis of Empirical Studies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r>
                        <a:rPr lang="en-US" sz="1600" b="0" dirty="0"/>
                        <a:t>Most careful studies find little or no net economic gain from stadiums and mega-events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dirty="0"/>
                        <a:t>Mixed-Negative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203529147"/>
                  </a:ext>
                </a:extLst>
              </a:tr>
              <a:tr h="953558">
                <a:tc>
                  <a:txBody>
                    <a:bodyPr/>
                    <a:lstStyle/>
                    <a:p>
                      <a:pPr>
                        <a:buNone/>
                      </a:pPr>
                      <a:r>
                        <a:rPr lang="en-US" sz="1600" b="1" dirty="0"/>
                        <a:t>Coates &amp; Humphreys (2012)</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dirty="0"/>
                        <a:t>Multi-City U.S.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dirty="0"/>
                        <a:t>Spatial Hedonic</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r>
                        <a:rPr lang="en-US" sz="1600" b="1" dirty="0"/>
                        <a:t>New facilities do not consistently revitalize nearby neighborhoods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dirty="0"/>
                        <a:t>Mixed</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38949367"/>
                  </a:ext>
                </a:extLst>
              </a:tr>
              <a:tr h="404332">
                <a:tc>
                  <a:txBody>
                    <a:bodyPr/>
                    <a:lstStyle/>
                    <a:p>
                      <a:pPr>
                        <a:buNone/>
                      </a:pPr>
                      <a:r>
                        <a:rPr lang="en-US" sz="1600" b="0"/>
                        <a:t>Chikish, Humphreys &amp; Nowak (2019)</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Oklahoma City, USA</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Hedonic + Repeat Sales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Significant gains post-arena and team arrival</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Positive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904531203"/>
                  </a:ext>
                </a:extLst>
              </a:tr>
              <a:tr h="396815">
                <a:tc>
                  <a:txBody>
                    <a:bodyPr/>
                    <a:lstStyle/>
                    <a:p>
                      <a:pPr>
                        <a:buNone/>
                      </a:pPr>
                      <a:r>
                        <a:rPr lang="en-US" sz="1600" b="0"/>
                        <a:t>Propheter (2023)</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San Francisco, USA</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Relocation Analysis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Prices rose near new site, fell near old site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Mixed</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572227678"/>
                  </a:ext>
                </a:extLst>
              </a:tr>
              <a:tr h="396815">
                <a:tc>
                  <a:txBody>
                    <a:bodyPr/>
                    <a:lstStyle/>
                    <a:p>
                      <a:pPr>
                        <a:buNone/>
                      </a:pPr>
                      <a:r>
                        <a:rPr lang="en-US" sz="1600" b="0"/>
                        <a:t>Cobb County (2022)</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Atlanta, USA</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Synthetic Control</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No post-opening increase in assessments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0"/>
                        <a:t>Neutral</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73879719"/>
                  </a:ext>
                </a:extLst>
              </a:tr>
              <a:tr h="563896">
                <a:tc>
                  <a:txBody>
                    <a:bodyPr/>
                    <a:lstStyle/>
                    <a:p>
                      <a:pPr>
                        <a:buNone/>
                      </a:pPr>
                      <a:r>
                        <a:rPr lang="en-US" sz="1600" b="1"/>
                        <a:t>Funahashi &amp; Cardazzi (2025)</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dirty="0"/>
                        <a:t>Japan (27 sites)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a:t>Difference-in-Differences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a:t>Nearby properties gained; strongest for team-based stadiums</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buNone/>
                      </a:pPr>
                      <a:r>
                        <a:rPr lang="en-US" sz="1600" b="1" dirty="0"/>
                        <a:t>Positive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365102132"/>
                  </a:ext>
                </a:extLst>
              </a:tr>
            </a:tbl>
          </a:graphicData>
        </a:graphic>
      </p:graphicFrame>
    </p:spTree>
    <p:extLst>
      <p:ext uri="{BB962C8B-B14F-4D97-AF65-F5344CB8AC3E}">
        <p14:creationId xmlns:p14="http://schemas.microsoft.com/office/powerpoint/2010/main" val="3600814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0F0049-FF66-4E50-3EBD-E23C560097F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935EA86-5A04-9735-F7C7-CD87C6667BB8}"/>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Data and Summary Statistics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375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622FC-2B6E-5950-8946-119F714BDAB2}"/>
              </a:ext>
            </a:extLst>
          </p:cNvPr>
          <p:cNvSpPr>
            <a:spLocks noGrp="1"/>
          </p:cNvSpPr>
          <p:nvPr>
            <p:ph type="title"/>
          </p:nvPr>
        </p:nvSpPr>
        <p:spPr>
          <a:xfrm>
            <a:off x="839788" y="424229"/>
            <a:ext cx="4535100" cy="961870"/>
          </a:xfrm>
        </p:spPr>
        <p:txBody>
          <a:bodyPr/>
          <a:lstStyle/>
          <a:p>
            <a:r>
              <a:rPr lang="en-US" dirty="0"/>
              <a:t>Raw Data Sources</a:t>
            </a:r>
          </a:p>
        </p:txBody>
      </p:sp>
      <p:sp>
        <p:nvSpPr>
          <p:cNvPr id="3" name="Text Placeholder 2">
            <a:extLst>
              <a:ext uri="{FF2B5EF4-FFF2-40B4-BE49-F238E27FC236}">
                <a16:creationId xmlns:a16="http://schemas.microsoft.com/office/drawing/2014/main" id="{F1457502-E4FE-00C8-721B-E72A50E22EC6}"/>
              </a:ext>
            </a:extLst>
          </p:cNvPr>
          <p:cNvSpPr>
            <a:spLocks noGrp="1"/>
          </p:cNvSpPr>
          <p:nvPr>
            <p:ph type="body" idx="1"/>
          </p:nvPr>
        </p:nvSpPr>
        <p:spPr>
          <a:xfrm>
            <a:off x="862014" y="1163830"/>
            <a:ext cx="5157787" cy="823912"/>
          </a:xfrm>
        </p:spPr>
        <p:txBody>
          <a:bodyPr>
            <a:normAutofit fontScale="77500" lnSpcReduction="20000"/>
          </a:bodyPr>
          <a:lstStyle/>
          <a:p>
            <a:pPr algn="ctr"/>
            <a:r>
              <a:rPr lang="en-US" dirty="0"/>
              <a:t>Zillow Housing Data</a:t>
            </a:r>
          </a:p>
        </p:txBody>
      </p:sp>
      <p:sp>
        <p:nvSpPr>
          <p:cNvPr id="4" name="Content Placeholder 3">
            <a:extLst>
              <a:ext uri="{FF2B5EF4-FFF2-40B4-BE49-F238E27FC236}">
                <a16:creationId xmlns:a16="http://schemas.microsoft.com/office/drawing/2014/main" id="{06DF61FE-35D3-4BEE-E7F7-885C78B78594}"/>
              </a:ext>
            </a:extLst>
          </p:cNvPr>
          <p:cNvSpPr>
            <a:spLocks noGrp="1"/>
          </p:cNvSpPr>
          <p:nvPr>
            <p:ph sz="half" idx="2"/>
          </p:nvPr>
        </p:nvSpPr>
        <p:spPr/>
        <p:txBody>
          <a:bodyPr>
            <a:normAutofit/>
          </a:bodyPr>
          <a:lstStyle/>
          <a:p>
            <a:r>
              <a:rPr lang="en-US" sz="2400" dirty="0"/>
              <a:t>Includes the monthly Zillow Home Value Index (ZHVI), which is a “typical home value” measure for metropolitan and micropolitan statistical areas (MSAs &amp; MiSAs) </a:t>
            </a:r>
          </a:p>
          <a:p>
            <a:r>
              <a:rPr lang="en-US" sz="2400" dirty="0"/>
              <a:t>2000-2025 window</a:t>
            </a:r>
          </a:p>
          <a:p>
            <a:endParaRPr lang="en-US" dirty="0"/>
          </a:p>
          <a:p>
            <a:endParaRPr lang="en-US" dirty="0"/>
          </a:p>
        </p:txBody>
      </p:sp>
      <p:sp>
        <p:nvSpPr>
          <p:cNvPr id="5" name="Text Placeholder 4">
            <a:extLst>
              <a:ext uri="{FF2B5EF4-FFF2-40B4-BE49-F238E27FC236}">
                <a16:creationId xmlns:a16="http://schemas.microsoft.com/office/drawing/2014/main" id="{7D3F6747-F11A-F197-9EE6-FEE816F27DDA}"/>
              </a:ext>
            </a:extLst>
          </p:cNvPr>
          <p:cNvSpPr>
            <a:spLocks noGrp="1"/>
          </p:cNvSpPr>
          <p:nvPr>
            <p:ph type="body" sz="quarter" idx="3"/>
          </p:nvPr>
        </p:nvSpPr>
        <p:spPr/>
        <p:txBody>
          <a:bodyPr>
            <a:normAutofit fontScale="77500" lnSpcReduction="20000"/>
          </a:bodyPr>
          <a:lstStyle/>
          <a:p>
            <a:pPr algn="ctr"/>
            <a:r>
              <a:rPr lang="en-US" i="1" dirty="0"/>
              <a:t>US Major-League Sports Stadium and Arena Construction Costs (1909–2026) </a:t>
            </a:r>
            <a:r>
              <a:rPr lang="en-US" dirty="0"/>
              <a:t>dataset by </a:t>
            </a:r>
            <a:r>
              <a:rPr lang="en-US" i="1" dirty="0"/>
              <a:t>Bradbury, Coates, and Humphreys (2025).</a:t>
            </a:r>
          </a:p>
          <a:p>
            <a:endParaRPr lang="en-US" dirty="0"/>
          </a:p>
        </p:txBody>
      </p:sp>
      <p:sp>
        <p:nvSpPr>
          <p:cNvPr id="6" name="Content Placeholder 5">
            <a:extLst>
              <a:ext uri="{FF2B5EF4-FFF2-40B4-BE49-F238E27FC236}">
                <a16:creationId xmlns:a16="http://schemas.microsoft.com/office/drawing/2014/main" id="{D158F65D-287A-1628-2495-FEA5CE91230B}"/>
              </a:ext>
            </a:extLst>
          </p:cNvPr>
          <p:cNvSpPr>
            <a:spLocks noGrp="1"/>
          </p:cNvSpPr>
          <p:nvPr>
            <p:ph sz="quarter" idx="4"/>
          </p:nvPr>
        </p:nvSpPr>
        <p:spPr/>
        <p:txBody>
          <a:bodyPr>
            <a:normAutofit/>
          </a:bodyPr>
          <a:lstStyle/>
          <a:p>
            <a:pPr lvl="1"/>
            <a:r>
              <a:rPr lang="en-US" dirty="0"/>
              <a:t>Includes venue (stadiums + arenas) opening information across MLB/NBA/NFL/NHL</a:t>
            </a:r>
          </a:p>
          <a:p>
            <a:pPr lvl="1"/>
            <a:r>
              <a:rPr lang="en-US" dirty="0"/>
              <a:t>Includes opening year and month, venue/team names, and inflation-adjusted cost variables in  2020 $Millions</a:t>
            </a:r>
          </a:p>
        </p:txBody>
      </p:sp>
    </p:spTree>
    <p:extLst>
      <p:ext uri="{BB962C8B-B14F-4D97-AF65-F5344CB8AC3E}">
        <p14:creationId xmlns:p14="http://schemas.microsoft.com/office/powerpoint/2010/main" val="1917678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E0905-BB60-2348-00B9-B972EF9F93CF}"/>
              </a:ext>
            </a:extLst>
          </p:cNvPr>
          <p:cNvSpPr>
            <a:spLocks noGrp="1"/>
          </p:cNvSpPr>
          <p:nvPr>
            <p:ph type="title"/>
          </p:nvPr>
        </p:nvSpPr>
        <p:spPr>
          <a:xfrm>
            <a:off x="3467099" y="325369"/>
            <a:ext cx="5257800" cy="1092614"/>
          </a:xfrm>
        </p:spPr>
        <p:txBody>
          <a:bodyPr/>
          <a:lstStyle/>
          <a:p>
            <a:r>
              <a:rPr lang="en-US" dirty="0"/>
              <a:t>Cleaning and Merging</a:t>
            </a:r>
          </a:p>
        </p:txBody>
      </p:sp>
      <p:graphicFrame>
        <p:nvGraphicFramePr>
          <p:cNvPr id="4" name="Diagram 3">
            <a:extLst>
              <a:ext uri="{FF2B5EF4-FFF2-40B4-BE49-F238E27FC236}">
                <a16:creationId xmlns:a16="http://schemas.microsoft.com/office/drawing/2014/main" id="{98F11D1F-0302-1DE0-955B-54711D835761}"/>
              </a:ext>
            </a:extLst>
          </p:cNvPr>
          <p:cNvGraphicFramePr/>
          <p:nvPr>
            <p:extLst>
              <p:ext uri="{D42A27DB-BD31-4B8C-83A1-F6EECF244321}">
                <p14:modId xmlns:p14="http://schemas.microsoft.com/office/powerpoint/2010/main" val="1771173015"/>
              </p:ext>
            </p:extLst>
          </p:nvPr>
        </p:nvGraphicFramePr>
        <p:xfrm>
          <a:off x="1645478" y="1027906"/>
          <a:ext cx="8901043" cy="5778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2121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E3CD-BDED-537E-7C57-B45F56CD92A9}"/>
              </a:ext>
            </a:extLst>
          </p:cNvPr>
          <p:cNvSpPr>
            <a:spLocks noGrp="1"/>
          </p:cNvSpPr>
          <p:nvPr>
            <p:ph type="title"/>
          </p:nvPr>
        </p:nvSpPr>
        <p:spPr>
          <a:xfrm>
            <a:off x="1815217" y="213975"/>
            <a:ext cx="8561565" cy="1084738"/>
          </a:xfrm>
        </p:spPr>
        <p:txBody>
          <a:bodyPr>
            <a:normAutofit/>
          </a:bodyPr>
          <a:lstStyle/>
          <a:p>
            <a:r>
              <a:rPr lang="en-US" sz="3000" dirty="0"/>
              <a:t>January 2000 Observation for the Charlotte Metro Area</a:t>
            </a:r>
          </a:p>
        </p:txBody>
      </p:sp>
      <p:graphicFrame>
        <p:nvGraphicFramePr>
          <p:cNvPr id="4" name="Table 3">
            <a:extLst>
              <a:ext uri="{FF2B5EF4-FFF2-40B4-BE49-F238E27FC236}">
                <a16:creationId xmlns:a16="http://schemas.microsoft.com/office/drawing/2014/main" id="{5B1DC3B0-EE7E-4713-2544-BFA70ABC3E31}"/>
              </a:ext>
            </a:extLst>
          </p:cNvPr>
          <p:cNvGraphicFramePr>
            <a:graphicFrameLocks noGrp="1"/>
          </p:cNvGraphicFramePr>
          <p:nvPr>
            <p:extLst>
              <p:ext uri="{D42A27DB-BD31-4B8C-83A1-F6EECF244321}">
                <p14:modId xmlns:p14="http://schemas.microsoft.com/office/powerpoint/2010/main" val="2627550544"/>
              </p:ext>
            </p:extLst>
          </p:nvPr>
        </p:nvGraphicFramePr>
        <p:xfrm>
          <a:off x="224126" y="1858357"/>
          <a:ext cx="11743745" cy="1418018"/>
        </p:xfrm>
        <a:graphic>
          <a:graphicData uri="http://schemas.openxmlformats.org/drawingml/2006/table">
            <a:tbl>
              <a:tblPr/>
              <a:tblGrid>
                <a:gridCol w="1724204">
                  <a:extLst>
                    <a:ext uri="{9D8B030D-6E8A-4147-A177-3AD203B41FA5}">
                      <a16:colId xmlns:a16="http://schemas.microsoft.com/office/drawing/2014/main" val="1180224325"/>
                    </a:ext>
                  </a:extLst>
                </a:gridCol>
                <a:gridCol w="996207">
                  <a:extLst>
                    <a:ext uri="{9D8B030D-6E8A-4147-A177-3AD203B41FA5}">
                      <a16:colId xmlns:a16="http://schemas.microsoft.com/office/drawing/2014/main" val="2194701226"/>
                    </a:ext>
                  </a:extLst>
                </a:gridCol>
                <a:gridCol w="708839">
                  <a:extLst>
                    <a:ext uri="{9D8B030D-6E8A-4147-A177-3AD203B41FA5}">
                      <a16:colId xmlns:a16="http://schemas.microsoft.com/office/drawing/2014/main" val="1333833865"/>
                    </a:ext>
                  </a:extLst>
                </a:gridCol>
                <a:gridCol w="1858309">
                  <a:extLst>
                    <a:ext uri="{9D8B030D-6E8A-4147-A177-3AD203B41FA5}">
                      <a16:colId xmlns:a16="http://schemas.microsoft.com/office/drawing/2014/main" val="3810623635"/>
                    </a:ext>
                  </a:extLst>
                </a:gridCol>
                <a:gridCol w="938733">
                  <a:extLst>
                    <a:ext uri="{9D8B030D-6E8A-4147-A177-3AD203B41FA5}">
                      <a16:colId xmlns:a16="http://schemas.microsoft.com/office/drawing/2014/main" val="1533047521"/>
                    </a:ext>
                  </a:extLst>
                </a:gridCol>
                <a:gridCol w="1130312">
                  <a:extLst>
                    <a:ext uri="{9D8B030D-6E8A-4147-A177-3AD203B41FA5}">
                      <a16:colId xmlns:a16="http://schemas.microsoft.com/office/drawing/2014/main" val="1902011421"/>
                    </a:ext>
                  </a:extLst>
                </a:gridCol>
                <a:gridCol w="823786">
                  <a:extLst>
                    <a:ext uri="{9D8B030D-6E8A-4147-A177-3AD203B41FA5}">
                      <a16:colId xmlns:a16="http://schemas.microsoft.com/office/drawing/2014/main" val="4070769268"/>
                    </a:ext>
                  </a:extLst>
                </a:gridCol>
                <a:gridCol w="1226101">
                  <a:extLst>
                    <a:ext uri="{9D8B030D-6E8A-4147-A177-3AD203B41FA5}">
                      <a16:colId xmlns:a16="http://schemas.microsoft.com/office/drawing/2014/main" val="3187644571"/>
                    </a:ext>
                  </a:extLst>
                </a:gridCol>
                <a:gridCol w="1379363">
                  <a:extLst>
                    <a:ext uri="{9D8B030D-6E8A-4147-A177-3AD203B41FA5}">
                      <a16:colId xmlns:a16="http://schemas.microsoft.com/office/drawing/2014/main" val="2493394805"/>
                    </a:ext>
                  </a:extLst>
                </a:gridCol>
                <a:gridCol w="957891">
                  <a:extLst>
                    <a:ext uri="{9D8B030D-6E8A-4147-A177-3AD203B41FA5}">
                      <a16:colId xmlns:a16="http://schemas.microsoft.com/office/drawing/2014/main" val="3153529361"/>
                    </a:ext>
                  </a:extLst>
                </a:gridCol>
              </a:tblGrid>
              <a:tr h="709009">
                <a:tc>
                  <a:txBody>
                    <a:bodyPr/>
                    <a:lstStyle/>
                    <a:p>
                      <a:pPr>
                        <a:buNone/>
                      </a:pPr>
                      <a:r>
                        <a:rPr lang="en-US" b="1" dirty="0" err="1">
                          <a:solidFill>
                            <a:srgbClr val="000000"/>
                          </a:solidFill>
                          <a:effectLst/>
                          <a:latin typeface="Helvetica Neue" panose="02000503000000020004" pitchFamily="2" charset="0"/>
                        </a:rPr>
                        <a:t>metro_name</a:t>
                      </a:r>
                      <a:endParaRPr lang="en-US"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dirty="0" err="1">
                          <a:solidFill>
                            <a:srgbClr val="000000"/>
                          </a:solidFill>
                          <a:effectLst/>
                          <a:latin typeface="Helvetica Neue" panose="02000503000000020004" pitchFamily="2" charset="0"/>
                        </a:rPr>
                        <a:t>cbsa_code</a:t>
                      </a:r>
                      <a:endParaRPr lang="en-US"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dirty="0" err="1">
                          <a:solidFill>
                            <a:srgbClr val="000000"/>
                          </a:solidFill>
                          <a:effectLst/>
                          <a:latin typeface="Helvetica Neue" panose="02000503000000020004" pitchFamily="2" charset="0"/>
                        </a:rPr>
                        <a:t>ym</a:t>
                      </a:r>
                      <a:endParaRPr lang="en-US"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a:solidFill>
                            <a:srgbClr val="000000"/>
                          </a:solidFill>
                          <a:effectLst/>
                          <a:latin typeface="Helvetica Neue" panose="02000503000000020004" pitchFamily="2" charset="0"/>
                        </a:rPr>
                        <a:t>zhvi</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a:solidFill>
                            <a:srgbClr val="000000"/>
                          </a:solidFill>
                          <a:effectLst/>
                          <a:latin typeface="Helvetica Neue" panose="02000503000000020004" pitchFamily="2" charset="0"/>
                        </a:rPr>
                        <a:t>open_year</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a:solidFill>
                            <a:srgbClr val="000000"/>
                          </a:solidFill>
                          <a:effectLst/>
                          <a:latin typeface="Helvetica Neue" panose="02000503000000020004" pitchFamily="2" charset="0"/>
                        </a:rPr>
                        <a:t>open_month</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a:solidFill>
                            <a:srgbClr val="000000"/>
                          </a:solidFill>
                          <a:effectLst/>
                          <a:latin typeface="Helvetica Neue" panose="02000503000000020004" pitchFamily="2" charset="0"/>
                        </a:rPr>
                        <a:t>open_ym</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a:solidFill>
                            <a:srgbClr val="000000"/>
                          </a:solidFill>
                          <a:effectLst/>
                          <a:latin typeface="Helvetica Neue" panose="02000503000000020004" pitchFamily="2" charset="0"/>
                        </a:rPr>
                        <a:t>totalcost2020</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a:solidFill>
                            <a:srgbClr val="000000"/>
                          </a:solidFill>
                          <a:effectLst/>
                          <a:latin typeface="Helvetica Neue" panose="02000503000000020004" pitchFamily="2" charset="0"/>
                        </a:rPr>
                        <a:t>publiccost2020</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b="1">
                          <a:solidFill>
                            <a:srgbClr val="000000"/>
                          </a:solidFill>
                          <a:effectLst/>
                          <a:latin typeface="Helvetica Neue" panose="02000503000000020004" pitchFamily="2" charset="0"/>
                        </a:rPr>
                        <a:t>pubpct100</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3624562163"/>
                  </a:ext>
                </a:extLst>
              </a:tr>
              <a:tr h="709009">
                <a:tc>
                  <a:txBody>
                    <a:bodyPr/>
                    <a:lstStyle/>
                    <a:p>
                      <a:pPr>
                        <a:buNone/>
                      </a:pPr>
                      <a:r>
                        <a:rPr lang="en-US" b="1">
                          <a:solidFill>
                            <a:srgbClr val="000000"/>
                          </a:solidFill>
                          <a:effectLst/>
                          <a:latin typeface="Helvetica Neue" panose="02000503000000020004" pitchFamily="2" charset="0"/>
                        </a:rPr>
                        <a:t>Charlotte, NC</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a:solidFill>
                            <a:srgbClr val="000000"/>
                          </a:solidFill>
                          <a:effectLst/>
                          <a:latin typeface="Helvetica Neue" panose="02000503000000020004" pitchFamily="2" charset="0"/>
                        </a:rPr>
                        <a:t>394458</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solidFill>
                            <a:srgbClr val="000000"/>
                          </a:solidFill>
                          <a:effectLst/>
                          <a:latin typeface="Helvetica Neue" panose="02000503000000020004" pitchFamily="2" charset="0"/>
                        </a:rPr>
                        <a:t>2000-01</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dirty="0">
                          <a:solidFill>
                            <a:srgbClr val="000000"/>
                          </a:solidFill>
                          <a:effectLst/>
                          <a:latin typeface="Helvetica Neue" panose="02000503000000020004" pitchFamily="2" charset="0"/>
                        </a:rPr>
                        <a:t>144597.528</a:t>
                      </a:r>
                      <a:endParaRPr lang="en-US"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solidFill>
                            <a:srgbClr val="000000"/>
                          </a:solidFill>
                          <a:effectLst/>
                          <a:latin typeface="Helvetica Neue" panose="02000503000000020004" pitchFamily="2" charset="0"/>
                        </a:rPr>
                        <a:t>2005.0</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solidFill>
                            <a:srgbClr val="000000"/>
                          </a:solidFill>
                          <a:effectLst/>
                          <a:latin typeface="Helvetica Neue" panose="02000503000000020004" pitchFamily="2" charset="0"/>
                        </a:rPr>
                        <a:t>10.0</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solidFill>
                            <a:srgbClr val="000000"/>
                          </a:solidFill>
                          <a:effectLst/>
                          <a:latin typeface="Helvetica Neue" panose="02000503000000020004" pitchFamily="2" charset="0"/>
                        </a:rPr>
                        <a:t>2005-10</a:t>
                      </a:r>
                      <a:endParaRPr lang="en-US">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dirty="0">
                          <a:solidFill>
                            <a:srgbClr val="000000"/>
                          </a:solidFill>
                          <a:effectLst/>
                          <a:latin typeface="Helvetica Neue" panose="02000503000000020004" pitchFamily="2" charset="0"/>
                        </a:rPr>
                        <a:t>281.960</a:t>
                      </a:r>
                      <a:endParaRPr lang="en-US"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dirty="0">
                          <a:solidFill>
                            <a:srgbClr val="000000"/>
                          </a:solidFill>
                          <a:effectLst/>
                          <a:latin typeface="Helvetica Neue" panose="02000503000000020004" pitchFamily="2" charset="0"/>
                        </a:rPr>
                        <a:t>228.7560</a:t>
                      </a:r>
                      <a:endParaRPr lang="en-US"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dirty="0">
                          <a:solidFill>
                            <a:srgbClr val="000000"/>
                          </a:solidFill>
                          <a:effectLst/>
                          <a:latin typeface="Helvetica Neue" panose="02000503000000020004" pitchFamily="2" charset="0"/>
                        </a:rPr>
                        <a:t>81.132</a:t>
                      </a:r>
                      <a:endParaRPr lang="en-US"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5310213"/>
                  </a:ext>
                </a:extLst>
              </a:tr>
            </a:tbl>
          </a:graphicData>
        </a:graphic>
      </p:graphicFrame>
      <p:sp>
        <p:nvSpPr>
          <p:cNvPr id="12" name="TextBox 11">
            <a:extLst>
              <a:ext uri="{FF2B5EF4-FFF2-40B4-BE49-F238E27FC236}">
                <a16:creationId xmlns:a16="http://schemas.microsoft.com/office/drawing/2014/main" id="{6E2E56BE-B135-6F62-9028-FF2A117F8EAE}"/>
              </a:ext>
            </a:extLst>
          </p:cNvPr>
          <p:cNvSpPr txBox="1"/>
          <p:nvPr/>
        </p:nvSpPr>
        <p:spPr>
          <a:xfrm>
            <a:off x="1882185" y="3836019"/>
            <a:ext cx="8095934" cy="1477328"/>
          </a:xfrm>
          <a:prstGeom prst="rect">
            <a:avLst/>
          </a:prstGeom>
          <a:noFill/>
        </p:spPr>
        <p:txBody>
          <a:bodyPr wrap="none" rtlCol="0">
            <a:spAutoFit/>
          </a:bodyPr>
          <a:lstStyle/>
          <a:p>
            <a:pPr marL="285750" indent="-285750">
              <a:buFont typeface="Arial" panose="020B0604020202020204" pitchFamily="34" charset="0"/>
              <a:buChar char="•"/>
            </a:pPr>
            <a:r>
              <a:rPr lang="en-US" dirty="0"/>
              <a:t>The ZHVI in CLT of January 2000 was about $144,600</a:t>
            </a:r>
          </a:p>
          <a:p>
            <a:pPr marL="285750" indent="-285750">
              <a:buFont typeface="Arial" panose="020B0604020202020204" pitchFamily="34" charset="0"/>
              <a:buChar char="•"/>
            </a:pPr>
            <a:r>
              <a:rPr lang="en-US" dirty="0"/>
              <a:t>CLT saw a venue opening (Spectrum Arena) in October 2005</a:t>
            </a:r>
          </a:p>
          <a:p>
            <a:pPr marL="285750" indent="-285750">
              <a:buFont typeface="Arial" panose="020B0604020202020204" pitchFamily="34" charset="0"/>
              <a:buChar char="•"/>
            </a:pPr>
            <a:r>
              <a:rPr lang="en-US" dirty="0"/>
              <a:t>Total construction cost was about $282 Million (2020$)</a:t>
            </a:r>
          </a:p>
          <a:p>
            <a:pPr marL="285750" indent="-285750">
              <a:buFont typeface="Arial" panose="020B0604020202020204" pitchFamily="34" charset="0"/>
              <a:buChar char="•"/>
            </a:pPr>
            <a:r>
              <a:rPr lang="en-US" dirty="0"/>
              <a:t>Public financing for the project was about $229 Million (2020$)</a:t>
            </a:r>
          </a:p>
          <a:p>
            <a:pPr marL="285750" indent="-285750">
              <a:buFont typeface="Arial" panose="020B0604020202020204" pitchFamily="34" charset="0"/>
              <a:buChar char="•"/>
            </a:pPr>
            <a:r>
              <a:rPr lang="en-US" dirty="0"/>
              <a:t>Public share of funding was about 81.1%, which makes private funding 18.9%</a:t>
            </a:r>
          </a:p>
        </p:txBody>
      </p:sp>
    </p:spTree>
    <p:extLst>
      <p:ext uri="{BB962C8B-B14F-4D97-AF65-F5344CB8AC3E}">
        <p14:creationId xmlns:p14="http://schemas.microsoft.com/office/powerpoint/2010/main" val="1358433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6" name="Rectangle 15">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Content Placeholder 13" descr="A graph of different colored bars&#10;&#10;AI-generated content may be incorrect.">
            <a:extLst>
              <a:ext uri="{FF2B5EF4-FFF2-40B4-BE49-F238E27FC236}">
                <a16:creationId xmlns:a16="http://schemas.microsoft.com/office/drawing/2014/main" id="{886C764D-1080-3288-F6C0-593E31579B66}"/>
              </a:ext>
            </a:extLst>
          </p:cNvPr>
          <p:cNvPicPr>
            <a:picLocks noGrp="1" noChangeAspect="1"/>
          </p:cNvPicPr>
          <p:nvPr>
            <p:ph idx="1"/>
          </p:nvPr>
        </p:nvPicPr>
        <p:blipFill>
          <a:blip r:embed="rId2"/>
          <a:stretch>
            <a:fillRect/>
          </a:stretch>
        </p:blipFill>
        <p:spPr>
          <a:xfrm>
            <a:off x="680750" y="539814"/>
            <a:ext cx="10830500" cy="5778372"/>
          </a:xfrm>
        </p:spPr>
      </p:pic>
    </p:spTree>
    <p:extLst>
      <p:ext uri="{BB962C8B-B14F-4D97-AF65-F5344CB8AC3E}">
        <p14:creationId xmlns:p14="http://schemas.microsoft.com/office/powerpoint/2010/main" val="1606032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Rectangle 36">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0BAC18-010D-0F74-480D-870A67AE83CC}"/>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dirty="0"/>
              <a:t>Arenas vs. Stadiums</a:t>
            </a:r>
          </a:p>
        </p:txBody>
      </p:sp>
      <p:sp>
        <p:nvSpPr>
          <p:cNvPr id="39" name="Rectangle: Rounded Corners 38">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5" name="Picture 4" descr="A graph of a project cost&#10;&#10;AI-generated content may be incorrect.">
            <a:extLst>
              <a:ext uri="{FF2B5EF4-FFF2-40B4-BE49-F238E27FC236}">
                <a16:creationId xmlns:a16="http://schemas.microsoft.com/office/drawing/2014/main" id="{0AC9C8A0-6A2F-22FC-C9FA-BB5248DEC9DB}"/>
              </a:ext>
            </a:extLst>
          </p:cNvPr>
          <p:cNvPicPr>
            <a:picLocks noChangeAspect="1"/>
          </p:cNvPicPr>
          <p:nvPr/>
        </p:nvPicPr>
        <p:blipFill>
          <a:blip r:embed="rId3"/>
          <a:stretch>
            <a:fillRect/>
          </a:stretch>
        </p:blipFill>
        <p:spPr>
          <a:xfrm>
            <a:off x="385572" y="2173134"/>
            <a:ext cx="5596128" cy="4029211"/>
          </a:xfrm>
          <a:prstGeom prst="rect">
            <a:avLst/>
          </a:prstGeom>
        </p:spPr>
      </p:pic>
      <p:pic>
        <p:nvPicPr>
          <p:cNvPr id="7" name="Content Placeholder 6" descr="A graph of a number of people&#10;&#10;AI-generated content may be incorrect.">
            <a:extLst>
              <a:ext uri="{FF2B5EF4-FFF2-40B4-BE49-F238E27FC236}">
                <a16:creationId xmlns:a16="http://schemas.microsoft.com/office/drawing/2014/main" id="{EC7BD531-5999-4806-0794-CC3AA6D0F969}"/>
              </a:ext>
            </a:extLst>
          </p:cNvPr>
          <p:cNvPicPr>
            <a:picLocks noGrp="1" noChangeAspect="1"/>
          </p:cNvPicPr>
          <p:nvPr>
            <p:ph idx="1"/>
          </p:nvPr>
        </p:nvPicPr>
        <p:blipFill>
          <a:blip r:embed="rId4"/>
          <a:stretch>
            <a:fillRect/>
          </a:stretch>
        </p:blipFill>
        <p:spPr>
          <a:xfrm>
            <a:off x="6210300" y="2173133"/>
            <a:ext cx="5596128" cy="4029211"/>
          </a:xfrm>
          <a:prstGeom prst="rect">
            <a:avLst/>
          </a:prstGeom>
        </p:spPr>
      </p:pic>
    </p:spTree>
    <p:extLst>
      <p:ext uri="{BB962C8B-B14F-4D97-AF65-F5344CB8AC3E}">
        <p14:creationId xmlns:p14="http://schemas.microsoft.com/office/powerpoint/2010/main" val="987723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bar graph&#10;&#10;AI-generated content may be incorrect.">
            <a:extLst>
              <a:ext uri="{FF2B5EF4-FFF2-40B4-BE49-F238E27FC236}">
                <a16:creationId xmlns:a16="http://schemas.microsoft.com/office/drawing/2014/main" id="{17A96B0F-DA5C-57F1-1176-AA6A22FD6CE0}"/>
              </a:ext>
            </a:extLst>
          </p:cNvPr>
          <p:cNvPicPr>
            <a:picLocks noGrp="1" noChangeAspect="1"/>
          </p:cNvPicPr>
          <p:nvPr>
            <p:ph idx="1"/>
          </p:nvPr>
        </p:nvPicPr>
        <p:blipFill>
          <a:blip r:embed="rId2"/>
          <a:srcRect l="2667"/>
          <a:stretch>
            <a:fillRect/>
          </a:stretch>
        </p:blipFill>
        <p:spPr>
          <a:xfrm>
            <a:off x="1260822" y="709207"/>
            <a:ext cx="9670356" cy="5439585"/>
          </a:xfrm>
          <a:prstGeom prst="rect">
            <a:avLst/>
          </a:prstGeom>
        </p:spPr>
      </p:pic>
      <p:grpSp>
        <p:nvGrpSpPr>
          <p:cNvPr id="10" name="Group 9">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F1E2B669-8D96-F37D-7878-2BC2B1373847}"/>
              </a:ext>
            </a:extLst>
          </p:cNvPr>
          <p:cNvSpPr txBox="1"/>
          <p:nvPr/>
        </p:nvSpPr>
        <p:spPr>
          <a:xfrm>
            <a:off x="3237044" y="6152943"/>
            <a:ext cx="5717912" cy="584775"/>
          </a:xfrm>
          <a:prstGeom prst="rect">
            <a:avLst/>
          </a:prstGeom>
          <a:noFill/>
        </p:spPr>
        <p:txBody>
          <a:bodyPr wrap="none" rtlCol="0">
            <a:spAutoFit/>
          </a:bodyPr>
          <a:lstStyle/>
          <a:p>
            <a:r>
              <a:rPr lang="en-US" sz="1400" dirty="0"/>
              <a:t>Note: this plot was inspired by Bradbury, Coates and Humphreys (2023) </a:t>
            </a:r>
          </a:p>
          <a:p>
            <a:endParaRPr lang="en-US" dirty="0"/>
          </a:p>
        </p:txBody>
      </p:sp>
    </p:spTree>
    <p:extLst>
      <p:ext uri="{BB962C8B-B14F-4D97-AF65-F5344CB8AC3E}">
        <p14:creationId xmlns:p14="http://schemas.microsoft.com/office/powerpoint/2010/main" val="365113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graph&#10;&#10;AI-generated content may be incorrect.">
            <a:extLst>
              <a:ext uri="{FF2B5EF4-FFF2-40B4-BE49-F238E27FC236}">
                <a16:creationId xmlns:a16="http://schemas.microsoft.com/office/drawing/2014/main" id="{955C5011-3DAE-5B98-984B-7F471A774A4F}"/>
              </a:ext>
            </a:extLst>
          </p:cNvPr>
          <p:cNvPicPr>
            <a:picLocks noGrp="1" noChangeAspect="1"/>
          </p:cNvPicPr>
          <p:nvPr>
            <p:ph idx="1"/>
          </p:nvPr>
        </p:nvPicPr>
        <p:blipFill>
          <a:blip r:embed="rId2"/>
          <a:stretch>
            <a:fillRect/>
          </a:stretch>
        </p:blipFill>
        <p:spPr>
          <a:xfrm>
            <a:off x="643467" y="743628"/>
            <a:ext cx="10905066" cy="5370742"/>
          </a:xfrm>
          <a:prstGeom prst="rect">
            <a:avLst/>
          </a:prstGeom>
        </p:spPr>
      </p:pic>
    </p:spTree>
    <p:extLst>
      <p:ext uri="{BB962C8B-B14F-4D97-AF65-F5344CB8AC3E}">
        <p14:creationId xmlns:p14="http://schemas.microsoft.com/office/powerpoint/2010/main" val="645744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B2B66EF-893D-D3F5-2810-FA83543849B6}"/>
              </a:ext>
            </a:extLst>
          </p:cNvPr>
          <p:cNvSpPr>
            <a:spLocks noGrp="1"/>
          </p:cNvSpPr>
          <p:nvPr>
            <p:ph type="title"/>
          </p:nvPr>
        </p:nvSpPr>
        <p:spPr>
          <a:xfrm>
            <a:off x="1524003" y="1999615"/>
            <a:ext cx="9144000" cy="2764028"/>
          </a:xfrm>
        </p:spPr>
        <p:txBody>
          <a:bodyPr vert="horz" lIns="91440" tIns="45720" rIns="91440" bIns="45720" rtlCol="0" anchor="ctr">
            <a:normAutofit fontScale="90000"/>
          </a:bodyPr>
          <a:lstStyle/>
          <a:p>
            <a:pPr algn="ctr"/>
            <a:r>
              <a:rPr lang="en-US" sz="7200" kern="1200" dirty="0">
                <a:solidFill>
                  <a:schemeClr val="tx1"/>
                </a:solidFill>
                <a:latin typeface="+mj-lt"/>
                <a:ea typeface="+mj-ea"/>
                <a:cs typeface="+mj-cs"/>
              </a:rPr>
              <a:t>Method 1: Staggered Difference-in-Differences via Two-Way Fixed Effects </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763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8AB0-A323-E0DC-CA5B-1733B11F063F}"/>
              </a:ext>
            </a:extLst>
          </p:cNvPr>
          <p:cNvSpPr>
            <a:spLocks noGrp="1"/>
          </p:cNvSpPr>
          <p:nvPr>
            <p:ph type="title"/>
          </p:nvPr>
        </p:nvSpPr>
        <p:spPr>
          <a:xfrm>
            <a:off x="2659519" y="318428"/>
            <a:ext cx="6872961" cy="754888"/>
          </a:xfrm>
        </p:spPr>
        <p:txBody>
          <a:bodyPr>
            <a:normAutofit fontScale="90000"/>
          </a:bodyPr>
          <a:lstStyle/>
          <a:p>
            <a:r>
              <a:rPr lang="en-US" sz="3400" dirty="0"/>
              <a:t>Baseline Model: Staggered </a:t>
            </a:r>
            <a:r>
              <a:rPr lang="en-US" sz="3400" dirty="0" err="1"/>
              <a:t>DiD</a:t>
            </a:r>
            <a:r>
              <a:rPr lang="en-US" sz="3400" dirty="0"/>
              <a:t> with Metro and Month FEs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2C2EEFC-5084-7939-A87F-7D9B323F51E6}"/>
                  </a:ext>
                </a:extLst>
              </p:cNvPr>
              <p:cNvSpPr txBox="1"/>
              <p:nvPr/>
            </p:nvSpPr>
            <p:spPr>
              <a:xfrm>
                <a:off x="2920689" y="1189572"/>
                <a:ext cx="7047571" cy="754887"/>
              </a:xfrm>
              <a:prstGeom prst="rect">
                <a:avLst/>
              </a:prstGeom>
              <a:noFill/>
            </p:spPr>
            <p:txBody>
              <a:bodyPr wrap="square" rtlCol="0">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𝑙𝑛𝑍𝐻𝑉𝐼</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𝑇𝑟𝑒𝑎𝑡𝑒𝑑</m:t>
                        </m:r>
                      </m:e>
                      <m:sub>
                        <m:r>
                          <a:rPr lang="en-US" sz="2400" b="0" i="1" smtClean="0">
                            <a:latin typeface="Cambria Math" panose="02040503050406030204" pitchFamily="18" charset="0"/>
                          </a:rPr>
                          <m:t>𝑖</m:t>
                        </m:r>
                      </m:sub>
                    </m:sSub>
                    <m:r>
                      <m:rPr>
                        <m:nor/>
                      </m:rPr>
                      <a:rPr lang="en-US" sz="2400"/>
                      <m:t>·</m:t>
                    </m:r>
                    <m:sSub>
                      <m:sSubPr>
                        <m:ctrlPr>
                          <a:rPr lang="el-GR" sz="2400" i="1" dirty="0" smtClean="0">
                            <a:latin typeface="Cambria Math" panose="02040503050406030204" pitchFamily="18" charset="0"/>
                          </a:rPr>
                        </m:ctrlPr>
                      </m:sSubPr>
                      <m:e>
                        <m:r>
                          <a:rPr lang="en-US" sz="2400" b="0" i="1" dirty="0" smtClean="0">
                            <a:latin typeface="Cambria Math" panose="02040503050406030204" pitchFamily="18" charset="0"/>
                          </a:rPr>
                          <m:t>𝑃𝑜𝑠𝑡</m:t>
                        </m:r>
                      </m:e>
                      <m:sub>
                        <m:r>
                          <a:rPr lang="en-US" sz="2400" b="0" i="1" dirty="0" smtClean="0">
                            <a:latin typeface="Cambria Math" panose="02040503050406030204" pitchFamily="18" charset="0"/>
                          </a:rPr>
                          <m:t>𝑖𝑡</m:t>
                        </m:r>
                      </m:sub>
                    </m:sSub>
                  </m:oMath>
                </a14:m>
                <a:r>
                  <a:rPr lang="en-US" sz="2400" dirty="0"/>
                  <a:t>)</a:t>
                </a:r>
                <a:r>
                  <a:rPr lang="el-GR" sz="2400" dirty="0"/>
                  <a:t> </a:t>
                </a:r>
                <a:r>
                  <a:rPr lang="en-US" sz="2400" dirty="0"/>
                  <a:t>+ </a:t>
                </a:r>
                <a14:m>
                  <m:oMath xmlns:m="http://schemas.openxmlformats.org/officeDocument/2006/math">
                    <m:sSub>
                      <m:sSubPr>
                        <m:ctrlPr>
                          <a:rPr lang="el-GR" sz="2400" i="1" dirty="0">
                            <a:latin typeface="Cambria Math" panose="02040503050406030204" pitchFamily="18" charset="0"/>
                          </a:rPr>
                        </m:ctrlPr>
                      </m:sSubPr>
                      <m:e>
                        <m:r>
                          <a:rPr lang="en-US" sz="2400" i="1" dirty="0">
                            <a:latin typeface="Cambria Math" panose="02040503050406030204" pitchFamily="18" charset="0"/>
                          </a:rPr>
                          <m:t>𝑎</m:t>
                        </m:r>
                      </m:e>
                      <m:sub>
                        <m:r>
                          <a:rPr lang="en-US" sz="2400" i="1" dirty="0">
                            <a:latin typeface="Cambria Math" panose="02040503050406030204" pitchFamily="18" charset="0"/>
                          </a:rPr>
                          <m:t>𝑖</m:t>
                        </m:r>
                        <m:r>
                          <a:rPr lang="en-US" sz="2400" i="1" dirty="0">
                            <a:latin typeface="Cambria Math" panose="02040503050406030204" pitchFamily="18" charset="0"/>
                          </a:rPr>
                          <m:t> </m:t>
                        </m:r>
                      </m:sub>
                    </m:sSub>
                    <m:r>
                      <a:rPr lang="en-US" sz="2400" i="1" dirty="0">
                        <a:latin typeface="Cambria Math" panose="02040503050406030204" pitchFamily="18" charset="0"/>
                      </a:rPr>
                      <m:t>+</m:t>
                    </m:r>
                    <m:sSub>
                      <m:sSubPr>
                        <m:ctrlPr>
                          <a:rPr lang="el-GR" sz="2400" i="1" dirty="0">
                            <a:latin typeface="Cambria Math" panose="02040503050406030204" pitchFamily="18" charset="0"/>
                          </a:rPr>
                        </m:ctrlPr>
                      </m:sSubPr>
                      <m:e>
                        <m:r>
                          <m:rPr>
                            <m:nor/>
                          </m:rPr>
                          <a:rPr lang="el-GR" sz="2400"/>
                          <m:t> </m:t>
                        </m:r>
                        <m:r>
                          <m:rPr>
                            <m:nor/>
                          </m:rPr>
                          <a:rPr lang="el-GR" sz="2400"/>
                          <m:t>ω</m:t>
                        </m:r>
                      </m:e>
                      <m:sub>
                        <m:r>
                          <a:rPr lang="en-US" sz="2400" i="1" dirty="0">
                            <a:latin typeface="Cambria Math" panose="02040503050406030204" pitchFamily="18" charset="0"/>
                          </a:rPr>
                          <m:t>𝑡</m:t>
                        </m:r>
                      </m:sub>
                    </m:sSub>
                    <m:r>
                      <a:rPr lang="en-US" sz="2400" i="1" dirty="0">
                        <a:latin typeface="Cambria Math" panose="02040503050406030204" pitchFamily="18" charset="0"/>
                      </a:rPr>
                      <m:t>+</m:t>
                    </m:r>
                    <m:sSub>
                      <m:sSubPr>
                        <m:ctrlPr>
                          <a:rPr lang="el-GR" sz="2400" i="1" dirty="0">
                            <a:latin typeface="Cambria Math" panose="02040503050406030204" pitchFamily="18" charset="0"/>
                          </a:rPr>
                        </m:ctrlPr>
                      </m:sSubPr>
                      <m:e>
                        <m:r>
                          <m:rPr>
                            <m:nor/>
                          </m:rPr>
                          <a:rPr lang="el-GR" sz="2400"/>
                          <m:t>ϵ</m:t>
                        </m:r>
                      </m:e>
                      <m:sub>
                        <m:r>
                          <a:rPr lang="en-US" sz="2400" i="1" dirty="0">
                            <a:latin typeface="Cambria Math" panose="02040503050406030204" pitchFamily="18" charset="0"/>
                          </a:rPr>
                          <m:t>𝑖</m:t>
                        </m:r>
                        <m:r>
                          <a:rPr lang="en-US" sz="2400" i="1" dirty="0">
                            <a:latin typeface="Cambria Math" panose="02040503050406030204" pitchFamily="18" charset="0"/>
                          </a:rPr>
                          <m:t>,</m:t>
                        </m:r>
                        <m:r>
                          <a:rPr lang="en-US" sz="2400" i="1" dirty="0">
                            <a:latin typeface="Cambria Math" panose="02040503050406030204" pitchFamily="18" charset="0"/>
                          </a:rPr>
                          <m:t>𝑡</m:t>
                        </m:r>
                      </m:sub>
                    </m:sSub>
                  </m:oMath>
                </a14:m>
                <a:endParaRPr lang="en-US" sz="2400" dirty="0"/>
              </a:p>
              <a:p>
                <a:pPr marL="800100" lvl="1" indent="-342900">
                  <a:buAutoNum type="arabicPeriod"/>
                </a:pPr>
                <a:endParaRPr lang="en-US" dirty="0"/>
              </a:p>
            </p:txBody>
          </p:sp>
        </mc:Choice>
        <mc:Fallback xmlns="">
          <p:sp>
            <p:nvSpPr>
              <p:cNvPr id="7" name="TextBox 6">
                <a:extLst>
                  <a:ext uri="{FF2B5EF4-FFF2-40B4-BE49-F238E27FC236}">
                    <a16:creationId xmlns:a16="http://schemas.microsoft.com/office/drawing/2014/main" id="{62C2EEFC-5084-7939-A87F-7D9B323F51E6}"/>
                  </a:ext>
                </a:extLst>
              </p:cNvPr>
              <p:cNvSpPr txBox="1">
                <a:spLocks noRot="1" noChangeAspect="1" noMove="1" noResize="1" noEditPoints="1" noAdjustHandles="1" noChangeArrowheads="1" noChangeShapeType="1" noTextEdit="1"/>
              </p:cNvSpPr>
              <p:nvPr/>
            </p:nvSpPr>
            <p:spPr>
              <a:xfrm>
                <a:off x="2920689" y="1189572"/>
                <a:ext cx="7047571" cy="754887"/>
              </a:xfrm>
              <a:prstGeom prst="rect">
                <a:avLst/>
              </a:prstGeom>
              <a:blipFill>
                <a:blip r:embed="rId3"/>
                <a:stretch>
                  <a:fillRect l="-180" t="-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EE9C6AF-6F7A-7779-69DF-4DE051740788}"/>
                  </a:ext>
                </a:extLst>
              </p:cNvPr>
              <p:cNvGraphicFramePr>
                <a:graphicFrameLocks noGrp="1"/>
              </p:cNvGraphicFramePr>
              <p:nvPr>
                <p:extLst>
                  <p:ext uri="{D42A27DB-BD31-4B8C-83A1-F6EECF244321}">
                    <p14:modId xmlns:p14="http://schemas.microsoft.com/office/powerpoint/2010/main" val="2667168039"/>
                  </p:ext>
                </p:extLst>
              </p:nvPr>
            </p:nvGraphicFramePr>
            <p:xfrm>
              <a:off x="2572214" y="1944460"/>
              <a:ext cx="7047572" cy="3423954"/>
            </p:xfrm>
            <a:graphic>
              <a:graphicData uri="http://schemas.openxmlformats.org/drawingml/2006/table">
                <a:tbl>
                  <a:tblPr firstRow="1" bandRow="1">
                    <a:tableStyleId>{5C22544A-7EE6-4342-B048-85BDC9FD1C3A}</a:tableStyleId>
                  </a:tblPr>
                  <a:tblGrid>
                    <a:gridCol w="3523786">
                      <a:extLst>
                        <a:ext uri="{9D8B030D-6E8A-4147-A177-3AD203B41FA5}">
                          <a16:colId xmlns:a16="http://schemas.microsoft.com/office/drawing/2014/main" val="406063817"/>
                        </a:ext>
                      </a:extLst>
                    </a:gridCol>
                    <a:gridCol w="3523786">
                      <a:extLst>
                        <a:ext uri="{9D8B030D-6E8A-4147-A177-3AD203B41FA5}">
                          <a16:colId xmlns:a16="http://schemas.microsoft.com/office/drawing/2014/main" val="2234204799"/>
                        </a:ext>
                      </a:extLst>
                    </a:gridCol>
                  </a:tblGrid>
                  <a:tr h="318095">
                    <a:tc>
                      <a:txBody>
                        <a:bodyPr/>
                        <a:lstStyle/>
                        <a:p>
                          <a:r>
                            <a:rPr lang="en-US" sz="1300" dirty="0"/>
                            <a:t>Variable</a:t>
                          </a:r>
                        </a:p>
                      </a:txBody>
                      <a:tcPr/>
                    </a:tc>
                    <a:tc>
                      <a:txBody>
                        <a:bodyPr/>
                        <a:lstStyle/>
                        <a:p>
                          <a:r>
                            <a:rPr lang="en-US" sz="1300" dirty="0"/>
                            <a:t>Meaning</a:t>
                          </a:r>
                        </a:p>
                      </a:txBody>
                      <a:tcPr/>
                    </a:tc>
                    <a:extLst>
                      <a:ext uri="{0D108BD9-81ED-4DB2-BD59-A6C34878D82A}">
                        <a16:rowId xmlns:a16="http://schemas.microsoft.com/office/drawing/2014/main" val="1043152938"/>
                      </a:ext>
                    </a:extLst>
                  </a:tr>
                  <a:tr h="569222">
                    <a:tc>
                      <a:txBody>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𝑙𝑛𝑍𝐻𝑉𝐼</m:t>
                                    </m:r>
                                  </m:e>
                                  <m:sub>
                                    <m:r>
                                      <a:rPr lang="en-US" sz="1400" b="0" i="1" smtClean="0">
                                        <a:latin typeface="Cambria Math" panose="02040503050406030204" pitchFamily="18" charset="0"/>
                                      </a:rPr>
                                      <m:t>𝑖𝑡</m:t>
                                    </m:r>
                                  </m:sub>
                                </m:sSub>
                              </m:oMath>
                            </m:oMathPara>
                          </a14:m>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Zillow Home Value Index for metro </a:t>
                          </a:r>
                          <a:r>
                            <a:rPr lang="en-US" sz="1400" dirty="0" err="1"/>
                            <a:t>i</a:t>
                          </a:r>
                          <a:r>
                            <a:rPr lang="en-US" sz="1400" dirty="0"/>
                            <a:t> in month t, logged.</a:t>
                          </a:r>
                        </a:p>
                      </a:txBody>
                      <a:tcPr/>
                    </a:tc>
                    <a:extLst>
                      <a:ext uri="{0D108BD9-81ED-4DB2-BD59-A6C34878D82A}">
                        <a16:rowId xmlns:a16="http://schemas.microsoft.com/office/drawing/2014/main" val="2732871156"/>
                      </a:ext>
                    </a:extLst>
                  </a:tr>
                  <a:tr h="569222">
                    <a:tc>
                      <a:txBody>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𝑇𝑟𝑒𝑎𝑡𝑒𝑑</m:t>
                                    </m:r>
                                  </m:e>
                                  <m:sub>
                                    <m:r>
                                      <a:rPr lang="en-US" sz="1400" b="0" i="1" smtClean="0">
                                        <a:latin typeface="Cambria Math" panose="02040503050406030204" pitchFamily="18" charset="0"/>
                                      </a:rPr>
                                      <m:t>𝑖</m:t>
                                    </m:r>
                                  </m:sub>
                                </m:sSub>
                              </m:oMath>
                            </m:oMathPara>
                          </a14:m>
                          <a:endParaRPr lang="en-US" sz="1400" dirty="0"/>
                        </a:p>
                      </a:txBody>
                      <a:tcPr/>
                    </a:tc>
                    <a:tc>
                      <a:txBody>
                        <a:bodyPr/>
                        <a:lstStyle/>
                        <a:p>
                          <a:r>
                            <a:rPr lang="en-US" sz="1400" dirty="0"/>
                            <a:t>1 if metro </a:t>
                          </a:r>
                          <a:r>
                            <a:rPr lang="en-US" sz="1400" dirty="0" err="1"/>
                            <a:t>i</a:t>
                          </a:r>
                          <a:r>
                            <a:rPr lang="en-US" sz="1400" dirty="0"/>
                            <a:t> ever gets an opening from 2000 - 2025; 0 otherwise.</a:t>
                          </a:r>
                        </a:p>
                      </a:txBody>
                      <a:tcPr/>
                    </a:tc>
                    <a:extLst>
                      <a:ext uri="{0D108BD9-81ED-4DB2-BD59-A6C34878D82A}">
                        <a16:rowId xmlns:a16="http://schemas.microsoft.com/office/drawing/2014/main" val="2613753308"/>
                      </a:ext>
                    </a:extLst>
                  </a:tr>
                  <a:tr h="569222">
                    <a:tc>
                      <a:txBody>
                        <a:bodyPr/>
                        <a:lstStyle/>
                        <a:p>
                          <a:pPr/>
                          <a14:m>
                            <m:oMathPara xmlns:m="http://schemas.openxmlformats.org/officeDocument/2006/math">
                              <m:oMathParaPr>
                                <m:jc m:val="centerGroup"/>
                              </m:oMathParaPr>
                              <m:oMath xmlns:m="http://schemas.openxmlformats.org/officeDocument/2006/math">
                                <m:sSub>
                                  <m:sSubPr>
                                    <m:ctrlPr>
                                      <a:rPr lang="el-GR" sz="1400" i="1" dirty="0" smtClean="0">
                                        <a:latin typeface="Cambria Math" panose="02040503050406030204" pitchFamily="18" charset="0"/>
                                      </a:rPr>
                                    </m:ctrlPr>
                                  </m:sSubPr>
                                  <m:e>
                                    <m:r>
                                      <a:rPr lang="en-US" sz="1400" b="0" i="1" dirty="0" smtClean="0">
                                        <a:latin typeface="Cambria Math" panose="02040503050406030204" pitchFamily="18" charset="0"/>
                                      </a:rPr>
                                      <m:t>𝑃𝑜𝑠𝑡</m:t>
                                    </m:r>
                                  </m:e>
                                  <m:sub>
                                    <m:r>
                                      <a:rPr lang="en-US" sz="1400" b="0" i="1" dirty="0" smtClean="0">
                                        <a:latin typeface="Cambria Math" panose="02040503050406030204" pitchFamily="18" charset="0"/>
                                      </a:rPr>
                                      <m:t>𝑖𝑡</m:t>
                                    </m:r>
                                  </m:sub>
                                </m:sSub>
                              </m:oMath>
                            </m:oMathPara>
                          </a14:m>
                          <a:endParaRPr lang="en-US" sz="1400" dirty="0"/>
                        </a:p>
                      </a:txBody>
                      <a:tcPr/>
                    </a:tc>
                    <a:tc>
                      <a:txBody>
                        <a:bodyPr/>
                        <a:lstStyle/>
                        <a:p>
                          <a:r>
                            <a:rPr lang="en-US" sz="1400" dirty="0"/>
                            <a:t>1 from the opening month onward for treated metros; 0 otherwise</a:t>
                          </a:r>
                        </a:p>
                      </a:txBody>
                      <a:tcPr/>
                    </a:tc>
                    <a:extLst>
                      <a:ext uri="{0D108BD9-81ED-4DB2-BD59-A6C34878D82A}">
                        <a16:rowId xmlns:a16="http://schemas.microsoft.com/office/drawing/2014/main" val="2778091772"/>
                      </a:ext>
                    </a:extLst>
                  </a:tr>
                  <a:tr h="790785">
                    <a:tc>
                      <a:txBody>
                        <a:bodyPr/>
                        <a:lstStyle/>
                        <a:p>
                          <a:pPr/>
                          <a14:m>
                            <m:oMathPara xmlns:m="http://schemas.openxmlformats.org/officeDocument/2006/math">
                              <m:oMathParaPr>
                                <m:jc m:val="centerGroup"/>
                              </m:oMathParaPr>
                              <m:oMath xmlns:m="http://schemas.openxmlformats.org/officeDocument/2006/math">
                                <m:sSub>
                                  <m:sSubPr>
                                    <m:ctrlPr>
                                      <a:rPr lang="el-GR" sz="1400" i="1" dirty="0" smtClean="0">
                                        <a:latin typeface="Cambria Math" panose="02040503050406030204" pitchFamily="18" charset="0"/>
                                      </a:rPr>
                                    </m:ctrlPr>
                                  </m:sSubPr>
                                  <m:e>
                                    <m:r>
                                      <a:rPr lang="en-US" sz="1400" i="1" dirty="0">
                                        <a:latin typeface="Cambria Math" panose="02040503050406030204" pitchFamily="18" charset="0"/>
                                      </a:rPr>
                                      <m:t>𝑎</m:t>
                                    </m:r>
                                  </m:e>
                                  <m:sub>
                                    <m:r>
                                      <a:rPr lang="en-US" sz="1400" i="1" dirty="0">
                                        <a:latin typeface="Cambria Math" panose="02040503050406030204" pitchFamily="18" charset="0"/>
                                      </a:rPr>
                                      <m:t>𝑖</m:t>
                                    </m:r>
                                    <m:r>
                                      <a:rPr lang="en-US" sz="1400" i="1" dirty="0">
                                        <a:latin typeface="Cambria Math" panose="02040503050406030204" pitchFamily="18" charset="0"/>
                                      </a:rPr>
                                      <m:t> </m:t>
                                    </m:r>
                                  </m:sub>
                                </m:sSub>
                              </m:oMath>
                            </m:oMathPara>
                          </a14:m>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Metro fixed effects: soak up time-invariant differences across metros</a:t>
                          </a:r>
                        </a:p>
                      </a:txBody>
                      <a:tcPr/>
                    </a:tc>
                    <a:extLst>
                      <a:ext uri="{0D108BD9-81ED-4DB2-BD59-A6C34878D82A}">
                        <a16:rowId xmlns:a16="http://schemas.microsoft.com/office/drawing/2014/main" val="2878896044"/>
                      </a:ext>
                    </a:extLst>
                  </a:tr>
                  <a:tr h="607408">
                    <a:tc>
                      <a:txBody>
                        <a:bodyPr/>
                        <a:lstStyle/>
                        <a:p>
                          <a:pPr/>
                          <a14:m>
                            <m:oMathPara xmlns:m="http://schemas.openxmlformats.org/officeDocument/2006/math">
                              <m:oMathParaPr>
                                <m:jc m:val="centerGroup"/>
                              </m:oMathParaPr>
                              <m:oMath xmlns:m="http://schemas.openxmlformats.org/officeDocument/2006/math">
                                <m:sSub>
                                  <m:sSubPr>
                                    <m:ctrlPr>
                                      <a:rPr lang="el-GR" sz="1400" i="1" dirty="0" smtClean="0">
                                        <a:latin typeface="Cambria Math" panose="02040503050406030204" pitchFamily="18" charset="0"/>
                                      </a:rPr>
                                    </m:ctrlPr>
                                  </m:sSubPr>
                                  <m:e>
                                    <m:r>
                                      <m:rPr>
                                        <m:nor/>
                                      </m:rPr>
                                      <a:rPr lang="el-GR" sz="1400"/>
                                      <m:t> </m:t>
                                    </m:r>
                                    <m:r>
                                      <m:rPr>
                                        <m:nor/>
                                      </m:rPr>
                                      <a:rPr lang="el-GR" sz="1400"/>
                                      <m:t>ω</m:t>
                                    </m:r>
                                  </m:e>
                                  <m:sub>
                                    <m:r>
                                      <a:rPr lang="en-US" sz="1400" i="1" dirty="0">
                                        <a:latin typeface="Cambria Math" panose="02040503050406030204" pitchFamily="18" charset="0"/>
                                      </a:rPr>
                                      <m:t>𝑡</m:t>
                                    </m:r>
                                  </m:sub>
                                </m:sSub>
                              </m:oMath>
                            </m:oMathPara>
                          </a14:m>
                          <a:endParaRPr lang="en-US" sz="1400" dirty="0"/>
                        </a:p>
                      </a:txBody>
                      <a:tcPr/>
                    </a:tc>
                    <a:tc>
                      <a:txBody>
                        <a:bodyPr/>
                        <a:lstStyle/>
                        <a:p>
                          <a:r>
                            <a:rPr lang="en-US" sz="1400" b="0" dirty="0"/>
                            <a:t>Month fixed effects: soak up shocks common to all metros in a particular month</a:t>
                          </a:r>
                        </a:p>
                      </a:txBody>
                      <a:tcPr/>
                    </a:tc>
                    <a:extLst>
                      <a:ext uri="{0D108BD9-81ED-4DB2-BD59-A6C34878D82A}">
                        <a16:rowId xmlns:a16="http://schemas.microsoft.com/office/drawing/2014/main" val="2109071398"/>
                      </a:ext>
                    </a:extLst>
                  </a:tr>
                </a:tbl>
              </a:graphicData>
            </a:graphic>
          </p:graphicFrame>
        </mc:Choice>
        <mc:Fallback xmlns="">
          <p:graphicFrame>
            <p:nvGraphicFramePr>
              <p:cNvPr id="6" name="Table 5">
                <a:extLst>
                  <a:ext uri="{FF2B5EF4-FFF2-40B4-BE49-F238E27FC236}">
                    <a16:creationId xmlns:a16="http://schemas.microsoft.com/office/drawing/2014/main" id="{8EE9C6AF-6F7A-7779-69DF-4DE051740788}"/>
                  </a:ext>
                </a:extLst>
              </p:cNvPr>
              <p:cNvGraphicFramePr>
                <a:graphicFrameLocks noGrp="1"/>
              </p:cNvGraphicFramePr>
              <p:nvPr>
                <p:extLst>
                  <p:ext uri="{D42A27DB-BD31-4B8C-83A1-F6EECF244321}">
                    <p14:modId xmlns:p14="http://schemas.microsoft.com/office/powerpoint/2010/main" val="2667168039"/>
                  </p:ext>
                </p:extLst>
              </p:nvPr>
            </p:nvGraphicFramePr>
            <p:xfrm>
              <a:off x="2572214" y="1944460"/>
              <a:ext cx="7047572" cy="3423954"/>
            </p:xfrm>
            <a:graphic>
              <a:graphicData uri="http://schemas.openxmlformats.org/drawingml/2006/table">
                <a:tbl>
                  <a:tblPr firstRow="1" bandRow="1">
                    <a:tableStyleId>{5C22544A-7EE6-4342-B048-85BDC9FD1C3A}</a:tableStyleId>
                  </a:tblPr>
                  <a:tblGrid>
                    <a:gridCol w="3523786">
                      <a:extLst>
                        <a:ext uri="{9D8B030D-6E8A-4147-A177-3AD203B41FA5}">
                          <a16:colId xmlns:a16="http://schemas.microsoft.com/office/drawing/2014/main" val="406063817"/>
                        </a:ext>
                      </a:extLst>
                    </a:gridCol>
                    <a:gridCol w="3523786">
                      <a:extLst>
                        <a:ext uri="{9D8B030D-6E8A-4147-A177-3AD203B41FA5}">
                          <a16:colId xmlns:a16="http://schemas.microsoft.com/office/drawing/2014/main" val="2234204799"/>
                        </a:ext>
                      </a:extLst>
                    </a:gridCol>
                  </a:tblGrid>
                  <a:tr h="318095">
                    <a:tc>
                      <a:txBody>
                        <a:bodyPr/>
                        <a:lstStyle/>
                        <a:p>
                          <a:r>
                            <a:rPr lang="en-US" sz="1300" dirty="0"/>
                            <a:t>Variable</a:t>
                          </a:r>
                        </a:p>
                      </a:txBody>
                      <a:tcPr/>
                    </a:tc>
                    <a:tc>
                      <a:txBody>
                        <a:bodyPr/>
                        <a:lstStyle/>
                        <a:p>
                          <a:r>
                            <a:rPr lang="en-US" sz="1300" dirty="0"/>
                            <a:t>Meaning</a:t>
                          </a:r>
                        </a:p>
                      </a:txBody>
                      <a:tcPr/>
                    </a:tc>
                    <a:extLst>
                      <a:ext uri="{0D108BD9-81ED-4DB2-BD59-A6C34878D82A}">
                        <a16:rowId xmlns:a16="http://schemas.microsoft.com/office/drawing/2014/main" val="1043152938"/>
                      </a:ext>
                    </a:extLst>
                  </a:tr>
                  <a:tr h="569222">
                    <a:tc>
                      <a:txBody>
                        <a:bodyPr/>
                        <a:lstStyle/>
                        <a:p>
                          <a:endParaRPr lang="en-US"/>
                        </a:p>
                      </a:txBody>
                      <a:tcPr>
                        <a:blipFill>
                          <a:blip r:embed="rId4"/>
                          <a:stretch>
                            <a:fillRect l="-360" t="-57778" r="-100719" b="-4466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Zillow Home Value Index for metro </a:t>
                          </a:r>
                          <a:r>
                            <a:rPr lang="en-US" sz="1400" dirty="0" err="1"/>
                            <a:t>i</a:t>
                          </a:r>
                          <a:r>
                            <a:rPr lang="en-US" sz="1400" dirty="0"/>
                            <a:t> in month t, logged.</a:t>
                          </a:r>
                        </a:p>
                      </a:txBody>
                      <a:tcPr/>
                    </a:tc>
                    <a:extLst>
                      <a:ext uri="{0D108BD9-81ED-4DB2-BD59-A6C34878D82A}">
                        <a16:rowId xmlns:a16="http://schemas.microsoft.com/office/drawing/2014/main" val="2732871156"/>
                      </a:ext>
                    </a:extLst>
                  </a:tr>
                  <a:tr h="569222">
                    <a:tc>
                      <a:txBody>
                        <a:bodyPr/>
                        <a:lstStyle/>
                        <a:p>
                          <a:endParaRPr lang="en-US"/>
                        </a:p>
                      </a:txBody>
                      <a:tcPr>
                        <a:blipFill>
                          <a:blip r:embed="rId4"/>
                          <a:stretch>
                            <a:fillRect l="-360" t="-157778" r="-100719" b="-346667"/>
                          </a:stretch>
                        </a:blipFill>
                      </a:tcPr>
                    </a:tc>
                    <a:tc>
                      <a:txBody>
                        <a:bodyPr/>
                        <a:lstStyle/>
                        <a:p>
                          <a:r>
                            <a:rPr lang="en-US" sz="1400" dirty="0"/>
                            <a:t>1 if metro </a:t>
                          </a:r>
                          <a:r>
                            <a:rPr lang="en-US" sz="1400" dirty="0" err="1"/>
                            <a:t>i</a:t>
                          </a:r>
                          <a:r>
                            <a:rPr lang="en-US" sz="1400" dirty="0"/>
                            <a:t> ever gets an opening from 2000 - 2025; 0 otherwise.</a:t>
                          </a:r>
                        </a:p>
                      </a:txBody>
                      <a:tcPr/>
                    </a:tc>
                    <a:extLst>
                      <a:ext uri="{0D108BD9-81ED-4DB2-BD59-A6C34878D82A}">
                        <a16:rowId xmlns:a16="http://schemas.microsoft.com/office/drawing/2014/main" val="2613753308"/>
                      </a:ext>
                    </a:extLst>
                  </a:tr>
                  <a:tr h="569222">
                    <a:tc>
                      <a:txBody>
                        <a:bodyPr/>
                        <a:lstStyle/>
                        <a:p>
                          <a:endParaRPr lang="en-US"/>
                        </a:p>
                      </a:txBody>
                      <a:tcPr>
                        <a:blipFill>
                          <a:blip r:embed="rId4"/>
                          <a:stretch>
                            <a:fillRect l="-360" t="-257778" r="-100719" b="-246667"/>
                          </a:stretch>
                        </a:blipFill>
                      </a:tcPr>
                    </a:tc>
                    <a:tc>
                      <a:txBody>
                        <a:bodyPr/>
                        <a:lstStyle/>
                        <a:p>
                          <a:r>
                            <a:rPr lang="en-US" sz="1400" dirty="0"/>
                            <a:t>1 from the opening month onward for treated metros; 0 otherwise</a:t>
                          </a:r>
                        </a:p>
                      </a:txBody>
                      <a:tcPr/>
                    </a:tc>
                    <a:extLst>
                      <a:ext uri="{0D108BD9-81ED-4DB2-BD59-A6C34878D82A}">
                        <a16:rowId xmlns:a16="http://schemas.microsoft.com/office/drawing/2014/main" val="2778091772"/>
                      </a:ext>
                    </a:extLst>
                  </a:tr>
                  <a:tr h="790785">
                    <a:tc>
                      <a:txBody>
                        <a:bodyPr/>
                        <a:lstStyle/>
                        <a:p>
                          <a:endParaRPr lang="en-US"/>
                        </a:p>
                      </a:txBody>
                      <a:tcPr>
                        <a:blipFill>
                          <a:blip r:embed="rId4"/>
                          <a:stretch>
                            <a:fillRect l="-360" t="-259677" r="-100719" b="-7903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Metro fixed effects: soak up time-invariant differences across metros</a:t>
                          </a:r>
                        </a:p>
                      </a:txBody>
                      <a:tcPr/>
                    </a:tc>
                    <a:extLst>
                      <a:ext uri="{0D108BD9-81ED-4DB2-BD59-A6C34878D82A}">
                        <a16:rowId xmlns:a16="http://schemas.microsoft.com/office/drawing/2014/main" val="2878896044"/>
                      </a:ext>
                    </a:extLst>
                  </a:tr>
                  <a:tr h="607408">
                    <a:tc>
                      <a:txBody>
                        <a:bodyPr/>
                        <a:lstStyle/>
                        <a:p>
                          <a:endParaRPr lang="en-US"/>
                        </a:p>
                      </a:txBody>
                      <a:tcPr>
                        <a:blipFill>
                          <a:blip r:embed="rId4"/>
                          <a:stretch>
                            <a:fillRect l="-360" t="-464583" r="-100719" b="-2083"/>
                          </a:stretch>
                        </a:blipFill>
                      </a:tcPr>
                    </a:tc>
                    <a:tc>
                      <a:txBody>
                        <a:bodyPr/>
                        <a:lstStyle/>
                        <a:p>
                          <a:r>
                            <a:rPr lang="en-US" sz="1400" b="0" dirty="0"/>
                            <a:t>Month fixed effects: soak up shocks common to all metros in a particular month</a:t>
                          </a:r>
                        </a:p>
                      </a:txBody>
                      <a:tcPr/>
                    </a:tc>
                    <a:extLst>
                      <a:ext uri="{0D108BD9-81ED-4DB2-BD59-A6C34878D82A}">
                        <a16:rowId xmlns:a16="http://schemas.microsoft.com/office/drawing/2014/main" val="2109071398"/>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32E5AF6-E450-00D3-4414-95F629AD306A}"/>
                  </a:ext>
                </a:extLst>
              </p:cNvPr>
              <p:cNvSpPr txBox="1"/>
              <p:nvPr/>
            </p:nvSpPr>
            <p:spPr>
              <a:xfrm>
                <a:off x="1944956" y="5484670"/>
                <a:ext cx="8444748" cy="1200329"/>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a:latin typeface="Cambria Math" panose="02040503050406030204" pitchFamily="18" charset="0"/>
                            <a:ea typeface="Cambria Math" panose="02040503050406030204" pitchFamily="18" charset="0"/>
                          </a:rPr>
                          <m:t>𝛽</m:t>
                        </m:r>
                      </m:e>
                      <m:sub>
                        <m:r>
                          <a:rPr lang="en-US" b="0" i="1">
                            <a:latin typeface="Cambria Math" panose="02040503050406030204" pitchFamily="18" charset="0"/>
                          </a:rPr>
                          <m:t>1</m:t>
                        </m:r>
                      </m:sub>
                    </m:sSub>
                    <m:r>
                      <a:rPr lang="en-US" b="0" i="1" smtClean="0">
                        <a:latin typeface="Cambria Math" panose="02040503050406030204" pitchFamily="18" charset="0"/>
                      </a:rPr>
                      <m:t> </m:t>
                    </m:r>
                  </m:oMath>
                </a14:m>
                <a:r>
                  <a:rPr lang="en-US" dirty="0"/>
                  <a:t>measures, on average, how much higher a metro’s home values are in the months after its venue opening than they would have been in those same months absent the opening, relative to metros that have not yet (or never) opened a venue.</a:t>
                </a:r>
              </a:p>
              <a:p>
                <a:endParaRPr lang="en-US" dirty="0"/>
              </a:p>
            </p:txBody>
          </p:sp>
        </mc:Choice>
        <mc:Fallback xmlns="">
          <p:sp>
            <p:nvSpPr>
              <p:cNvPr id="11" name="TextBox 10">
                <a:extLst>
                  <a:ext uri="{FF2B5EF4-FFF2-40B4-BE49-F238E27FC236}">
                    <a16:creationId xmlns:a16="http://schemas.microsoft.com/office/drawing/2014/main" id="{132E5AF6-E450-00D3-4414-95F629AD306A}"/>
                  </a:ext>
                </a:extLst>
              </p:cNvPr>
              <p:cNvSpPr txBox="1">
                <a:spLocks noRot="1" noChangeAspect="1" noMove="1" noResize="1" noEditPoints="1" noAdjustHandles="1" noChangeArrowheads="1" noChangeShapeType="1" noTextEdit="1"/>
              </p:cNvSpPr>
              <p:nvPr/>
            </p:nvSpPr>
            <p:spPr>
              <a:xfrm>
                <a:off x="1944956" y="5484670"/>
                <a:ext cx="8444748" cy="1200329"/>
              </a:xfrm>
              <a:prstGeom prst="rect">
                <a:avLst/>
              </a:prstGeom>
              <a:blipFill>
                <a:blip r:embed="rId5"/>
                <a:stretch>
                  <a:fillRect l="-602" t="-3158" r="-902"/>
                </a:stretch>
              </a:blipFill>
            </p:spPr>
            <p:txBody>
              <a:bodyPr/>
              <a:lstStyle/>
              <a:p>
                <a:r>
                  <a:rPr lang="en-US">
                    <a:noFill/>
                  </a:rPr>
                  <a:t> </a:t>
                </a:r>
              </a:p>
            </p:txBody>
          </p:sp>
        </mc:Fallback>
      </mc:AlternateContent>
    </p:spTree>
    <p:extLst>
      <p:ext uri="{BB962C8B-B14F-4D97-AF65-F5344CB8AC3E}">
        <p14:creationId xmlns:p14="http://schemas.microsoft.com/office/powerpoint/2010/main" val="3629691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ECAB1E8-8195-4748-BE71-FF806D868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text rectangle">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D255B2D-A8E9-3D86-8E4D-E65064AFF0D2}"/>
              </a:ext>
            </a:extLst>
          </p:cNvPr>
          <p:cNvSpPr>
            <a:spLocks noGrp="1"/>
          </p:cNvSpPr>
          <p:nvPr>
            <p:ph type="title"/>
          </p:nvPr>
        </p:nvSpPr>
        <p:spPr>
          <a:xfrm>
            <a:off x="841247" y="978619"/>
            <a:ext cx="3410712" cy="1106424"/>
          </a:xfrm>
        </p:spPr>
        <p:txBody>
          <a:bodyPr>
            <a:normAutofit/>
          </a:bodyPr>
          <a:lstStyle/>
          <a:p>
            <a:r>
              <a:rPr lang="en-US" sz="2800" dirty="0"/>
              <a:t>Baseline </a:t>
            </a:r>
          </a:p>
        </p:txBody>
      </p:sp>
      <p:sp>
        <p:nvSpPr>
          <p:cNvPr id="23" name="!!accent">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Content Placeholder 8">
            <a:extLst>
              <a:ext uri="{FF2B5EF4-FFF2-40B4-BE49-F238E27FC236}">
                <a16:creationId xmlns:a16="http://schemas.microsoft.com/office/drawing/2014/main" id="{3A359B32-B074-F8C4-3AD6-8EBA77503774}"/>
              </a:ext>
            </a:extLst>
          </p:cNvPr>
          <p:cNvSpPr>
            <a:spLocks noGrp="1"/>
          </p:cNvSpPr>
          <p:nvPr>
            <p:ph idx="1"/>
          </p:nvPr>
        </p:nvSpPr>
        <p:spPr>
          <a:xfrm>
            <a:off x="841247" y="2359152"/>
            <a:ext cx="3518718" cy="3669808"/>
          </a:xfrm>
        </p:spPr>
        <p:txBody>
          <a:bodyPr>
            <a:normAutofit/>
          </a:bodyPr>
          <a:lstStyle/>
          <a:p>
            <a:r>
              <a:rPr lang="en-US" sz="1800" dirty="0"/>
              <a:t>After a metro’s venue opens, its ZHVI is about </a:t>
            </a:r>
            <a:r>
              <a:rPr lang="en-US" sz="1800" b="1" dirty="0"/>
              <a:t>3.9% higher on average</a:t>
            </a:r>
            <a:r>
              <a:rPr lang="en-US" sz="1800" dirty="0"/>
              <a:t> than it would have been without the opening, </a:t>
            </a:r>
            <a:r>
              <a:rPr lang="en-US" sz="1800" b="1" dirty="0"/>
              <a:t>relative to metros that haven’t received a new venue in the same months, </a:t>
            </a:r>
            <a:r>
              <a:rPr lang="en-US" sz="1800" dirty="0"/>
              <a:t>controlling for metro and month fixed effects</a:t>
            </a:r>
          </a:p>
          <a:p>
            <a:r>
              <a:rPr lang="en-US" sz="1800" dirty="0"/>
              <a:t>Causality depends on parallel trends</a:t>
            </a:r>
          </a:p>
          <a:p>
            <a:r>
              <a:rPr lang="en-US" sz="1700" dirty="0"/>
              <a:t>Two way clustered SEs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0C58506-572F-3380-32D6-D1E74C4651E2}"/>
                  </a:ext>
                </a:extLst>
              </p:cNvPr>
              <p:cNvSpPr txBox="1"/>
              <p:nvPr/>
            </p:nvSpPr>
            <p:spPr>
              <a:xfrm>
                <a:off x="5800866" y="883047"/>
                <a:ext cx="6096000" cy="381515"/>
              </a:xfrm>
              <a:prstGeom prst="rect">
                <a:avLst/>
              </a:prstGeom>
              <a:noFill/>
            </p:spPr>
            <p:txBody>
              <a:bodyPr wrap="square">
                <a:spAutoFit/>
              </a:bodyP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𝑙𝑛𝑍𝐻𝑉𝐼</m:t>
                        </m:r>
                      </m:e>
                      <m:sub>
                        <m:r>
                          <a:rPr lang="en-US" i="1">
                            <a:latin typeface="Cambria Math" panose="02040503050406030204" pitchFamily="18" charset="0"/>
                          </a:rPr>
                          <m:t>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𝑇𝑟𝑒𝑎𝑡𝑒𝑑</m:t>
                        </m:r>
                      </m:e>
                      <m:sub>
                        <m:r>
                          <a:rPr lang="en-US" i="1">
                            <a:latin typeface="Cambria Math" panose="02040503050406030204" pitchFamily="18" charset="0"/>
                          </a:rPr>
                          <m:t>𝑖</m:t>
                        </m:r>
                      </m:sub>
                    </m:sSub>
                    <m:r>
                      <m:rPr>
                        <m:nor/>
                      </m:rPr>
                      <a:rPr lang="en-US"/>
                      <m:t>·</m:t>
                    </m:r>
                    <m:sSub>
                      <m:sSubPr>
                        <m:ctrlPr>
                          <a:rPr lang="el-GR" i="1" dirty="0">
                            <a:latin typeface="Cambria Math" panose="02040503050406030204" pitchFamily="18" charset="0"/>
                          </a:rPr>
                        </m:ctrlPr>
                      </m:sSubPr>
                      <m:e>
                        <m:r>
                          <a:rPr lang="en-US" i="1" dirty="0">
                            <a:latin typeface="Cambria Math" panose="02040503050406030204" pitchFamily="18" charset="0"/>
                          </a:rPr>
                          <m:t>𝑃𝑜𝑠𝑡</m:t>
                        </m:r>
                      </m:e>
                      <m:sub>
                        <m:r>
                          <a:rPr lang="en-US" i="1" dirty="0">
                            <a:latin typeface="Cambria Math" panose="02040503050406030204" pitchFamily="18" charset="0"/>
                          </a:rPr>
                          <m:t>𝑖𝑡</m:t>
                        </m:r>
                      </m:sub>
                    </m:sSub>
                  </m:oMath>
                </a14:m>
                <a:r>
                  <a:rPr lang="en-US" dirty="0"/>
                  <a:t>)</a:t>
                </a:r>
                <a:r>
                  <a:rPr lang="el-GR" dirty="0"/>
                  <a:t> </a:t>
                </a:r>
                <a:r>
                  <a:rPr lang="en-US" dirty="0"/>
                  <a:t>+ </a:t>
                </a:r>
                <a14:m>
                  <m:oMath xmlns:m="http://schemas.openxmlformats.org/officeDocument/2006/math">
                    <m:sSub>
                      <m:sSubPr>
                        <m:ctrlPr>
                          <a:rPr lang="el-GR"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𝑖</m:t>
                        </m:r>
                        <m:r>
                          <a:rPr lang="en-US" i="1" dirty="0">
                            <a:latin typeface="Cambria Math" panose="02040503050406030204" pitchFamily="18" charset="0"/>
                          </a:rPr>
                          <m:t> </m:t>
                        </m:r>
                      </m:sub>
                    </m:sSub>
                    <m:r>
                      <a:rPr lang="en-US" i="1" dirty="0">
                        <a:latin typeface="Cambria Math" panose="02040503050406030204" pitchFamily="18" charset="0"/>
                      </a:rPr>
                      <m:t>+</m:t>
                    </m:r>
                    <m:sSub>
                      <m:sSubPr>
                        <m:ctrlPr>
                          <a:rPr lang="el-GR" i="1" dirty="0">
                            <a:latin typeface="Cambria Math" panose="02040503050406030204" pitchFamily="18" charset="0"/>
                          </a:rPr>
                        </m:ctrlPr>
                      </m:sSubPr>
                      <m:e>
                        <m:r>
                          <m:rPr>
                            <m:nor/>
                          </m:rPr>
                          <a:rPr lang="el-GR"/>
                          <m:t> </m:t>
                        </m:r>
                        <m:r>
                          <m:rPr>
                            <m:nor/>
                          </m:rPr>
                          <a:rPr lang="el-GR"/>
                          <m:t>ω</m:t>
                        </m:r>
                      </m:e>
                      <m:sub>
                        <m:r>
                          <a:rPr lang="en-US" i="1" dirty="0">
                            <a:latin typeface="Cambria Math" panose="02040503050406030204" pitchFamily="18" charset="0"/>
                          </a:rPr>
                          <m:t>𝑡</m:t>
                        </m:r>
                      </m:sub>
                    </m:sSub>
                    <m:r>
                      <a:rPr lang="en-US" i="1" dirty="0">
                        <a:latin typeface="Cambria Math" panose="02040503050406030204" pitchFamily="18" charset="0"/>
                      </a:rPr>
                      <m:t>+</m:t>
                    </m:r>
                    <m:sSub>
                      <m:sSubPr>
                        <m:ctrlPr>
                          <a:rPr lang="el-GR" i="1" dirty="0">
                            <a:latin typeface="Cambria Math" panose="02040503050406030204" pitchFamily="18" charset="0"/>
                          </a:rPr>
                        </m:ctrlPr>
                      </m:sSubPr>
                      <m:e>
                        <m:r>
                          <m:rPr>
                            <m:nor/>
                          </m:rPr>
                          <a:rPr lang="el-GR"/>
                          <m:t>ϵ</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𝑡</m:t>
                        </m:r>
                      </m:sub>
                    </m:sSub>
                  </m:oMath>
                </a14:m>
                <a:endParaRPr lang="en-US" dirty="0"/>
              </a:p>
            </p:txBody>
          </p:sp>
        </mc:Choice>
        <mc:Fallback xmlns="">
          <p:sp>
            <p:nvSpPr>
              <p:cNvPr id="4" name="TextBox 3">
                <a:extLst>
                  <a:ext uri="{FF2B5EF4-FFF2-40B4-BE49-F238E27FC236}">
                    <a16:creationId xmlns:a16="http://schemas.microsoft.com/office/drawing/2014/main" id="{B0C58506-572F-3380-32D6-D1E74C4651E2}"/>
                  </a:ext>
                </a:extLst>
              </p:cNvPr>
              <p:cNvSpPr txBox="1">
                <a:spLocks noRot="1" noChangeAspect="1" noMove="1" noResize="1" noEditPoints="1" noAdjustHandles="1" noChangeArrowheads="1" noChangeShapeType="1" noTextEdit="1"/>
              </p:cNvSpPr>
              <p:nvPr/>
            </p:nvSpPr>
            <p:spPr>
              <a:xfrm>
                <a:off x="5800866" y="883047"/>
                <a:ext cx="6096000" cy="381515"/>
              </a:xfrm>
              <a:prstGeom prst="rect">
                <a:avLst/>
              </a:prstGeom>
              <a:blipFill>
                <a:blip r:embed="rId3"/>
                <a:stretch>
                  <a:fillRect t="-6452" b="-22581"/>
                </a:stretch>
              </a:blipFill>
            </p:spPr>
            <p:txBody>
              <a:bodyPr/>
              <a:lstStyle/>
              <a:p>
                <a:r>
                  <a:rPr lang="en-US">
                    <a:noFill/>
                  </a:rPr>
                  <a:t> </a:t>
                </a:r>
              </a:p>
            </p:txBody>
          </p:sp>
        </mc:Fallback>
      </mc:AlternateContent>
      <p:pic>
        <p:nvPicPr>
          <p:cNvPr id="3" name="Content Placeholder 6" descr="A screenshot of a computer&#10;&#10;AI-generated content may be incorrect.">
            <a:extLst>
              <a:ext uri="{FF2B5EF4-FFF2-40B4-BE49-F238E27FC236}">
                <a16:creationId xmlns:a16="http://schemas.microsoft.com/office/drawing/2014/main" id="{641593BD-0CFA-19F1-7A6A-C59E837BD596}"/>
              </a:ext>
            </a:extLst>
          </p:cNvPr>
          <p:cNvPicPr>
            <a:picLocks noChangeAspect="1"/>
          </p:cNvPicPr>
          <p:nvPr/>
        </p:nvPicPr>
        <p:blipFill>
          <a:blip r:embed="rId4"/>
          <a:stretch>
            <a:fillRect/>
          </a:stretch>
        </p:blipFill>
        <p:spPr>
          <a:xfrm>
            <a:off x="5754028" y="1566714"/>
            <a:ext cx="6048378" cy="1332603"/>
          </a:xfrm>
          <a:prstGeom prst="rect">
            <a:avLst/>
          </a:prstGeom>
        </p:spPr>
      </p:pic>
      <p:pic>
        <p:nvPicPr>
          <p:cNvPr id="5" name="Picture 4" descr="A close-up of a calculator&#10;&#10;AI-generated content may be incorrect.">
            <a:extLst>
              <a:ext uri="{FF2B5EF4-FFF2-40B4-BE49-F238E27FC236}">
                <a16:creationId xmlns:a16="http://schemas.microsoft.com/office/drawing/2014/main" id="{D3B0D7FC-5178-2E01-3262-BEBB456D198B}"/>
              </a:ext>
            </a:extLst>
          </p:cNvPr>
          <p:cNvPicPr>
            <a:picLocks noChangeAspect="1"/>
          </p:cNvPicPr>
          <p:nvPr/>
        </p:nvPicPr>
        <p:blipFill>
          <a:blip r:embed="rId5"/>
          <a:stretch>
            <a:fillRect/>
          </a:stretch>
        </p:blipFill>
        <p:spPr>
          <a:xfrm>
            <a:off x="5724563" y="3189024"/>
            <a:ext cx="6107307" cy="1498600"/>
          </a:xfrm>
          <a:prstGeom prst="rect">
            <a:avLst/>
          </a:prstGeom>
        </p:spPr>
      </p:pic>
    </p:spTree>
    <p:extLst>
      <p:ext uri="{BB962C8B-B14F-4D97-AF65-F5344CB8AC3E}">
        <p14:creationId xmlns:p14="http://schemas.microsoft.com/office/powerpoint/2010/main" val="999421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B44336-BDC6-B41D-DFBF-652948AB8E03}"/>
                  </a:ext>
                </a:extLst>
              </p:cNvPr>
              <p:cNvSpPr txBox="1"/>
              <p:nvPr/>
            </p:nvSpPr>
            <p:spPr>
              <a:xfrm>
                <a:off x="1681813" y="1701786"/>
                <a:ext cx="9741560" cy="381515"/>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 </m:t>
                        </m:r>
                        <m:r>
                          <a:rPr lang="en-US" i="1">
                            <a:latin typeface="Cambria Math" panose="02040503050406030204" pitchFamily="18" charset="0"/>
                          </a:rPr>
                          <m:t>𝑙𝑛𝑍𝐻𝑉𝐼</m:t>
                        </m:r>
                      </m:e>
                      <m:sub>
                        <m:r>
                          <a:rPr lang="en-US" i="1">
                            <a:latin typeface="Cambria Math" panose="02040503050406030204" pitchFamily="18" charset="0"/>
                          </a:rPr>
                          <m:t>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m:rPr>
                        <m:nor/>
                      </m:rP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𝑇𝑟𝑒𝑎𝑡𝑒𝑑</m:t>
                        </m:r>
                      </m:e>
                      <m:sub>
                        <m:r>
                          <a:rPr lang="en-US" i="1">
                            <a:latin typeface="Cambria Math" panose="02040503050406030204" pitchFamily="18" charset="0"/>
                          </a:rPr>
                          <m:t>𝑖</m:t>
                        </m:r>
                      </m:sub>
                    </m:sSub>
                    <m:r>
                      <m:rPr>
                        <m:nor/>
                      </m:rPr>
                      <a:rPr lang="en-US">
                        <a:latin typeface="Cambria Math" panose="02040503050406030204" pitchFamily="18" charset="0"/>
                      </a:rPr>
                      <m:t> </m:t>
                    </m:r>
                    <m:r>
                      <m:rPr>
                        <m:nor/>
                      </m:rPr>
                      <a:rPr lang="en-US"/>
                      <m:t>·</m:t>
                    </m:r>
                    <m:r>
                      <a:rPr lang="en-US" i="1">
                        <a:latin typeface="Cambria Math" panose="02040503050406030204" pitchFamily="18" charset="0"/>
                      </a:rPr>
                      <m:t> </m:t>
                    </m:r>
                    <m:sSub>
                      <m:sSubPr>
                        <m:ctrlPr>
                          <a:rPr lang="el-GR" i="1" dirty="0">
                            <a:latin typeface="Cambria Math" panose="02040503050406030204" pitchFamily="18" charset="0"/>
                          </a:rPr>
                        </m:ctrlPr>
                      </m:sSubPr>
                      <m:e>
                        <m:r>
                          <a:rPr lang="en-US" i="1" dirty="0">
                            <a:latin typeface="Cambria Math" panose="02040503050406030204" pitchFamily="18" charset="0"/>
                          </a:rPr>
                          <m:t>𝑃𝑜𝑠𝑡</m:t>
                        </m:r>
                      </m:e>
                      <m:sub>
                        <m:r>
                          <a:rPr lang="en-US" i="1" dirty="0">
                            <a:latin typeface="Cambria Math" panose="02040503050406030204" pitchFamily="18" charset="0"/>
                          </a:rPr>
                          <m:t>𝑖𝑡</m:t>
                        </m:r>
                      </m:sub>
                    </m:sSub>
                  </m:oMath>
                </a14:m>
                <a:r>
                  <a:rPr lang="en-US" dirty="0"/>
                  <a:t>)</a:t>
                </a:r>
                <a:r>
                  <a:rPr lang="el-GR" dirty="0"/>
                  <a:t> </a:t>
                </a:r>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𝜷</m:t>
                        </m:r>
                      </m:e>
                      <m:sub>
                        <m:r>
                          <a:rPr lang="en-US" b="1" i="1">
                            <a:latin typeface="Cambria Math" panose="02040503050406030204" pitchFamily="18" charset="0"/>
                            <a:ea typeface="Cambria Math" panose="02040503050406030204" pitchFamily="18" charset="0"/>
                          </a:rPr>
                          <m:t>𝟐</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𝑻𝒓𝒆𝒂𝒕𝒆𝒅</m:t>
                        </m:r>
                      </m:e>
                      <m:sub>
                        <m:r>
                          <a:rPr lang="en-US" b="1" i="1">
                            <a:latin typeface="Cambria Math" panose="02040503050406030204" pitchFamily="18" charset="0"/>
                          </a:rPr>
                          <m:t>𝒊</m:t>
                        </m:r>
                      </m:sub>
                    </m:sSub>
                    <m:r>
                      <m:rPr>
                        <m:nor/>
                      </m:rPr>
                      <a:rPr lang="en-US" b="1">
                        <a:latin typeface="Cambria Math" panose="02040503050406030204" pitchFamily="18" charset="0"/>
                      </a:rPr>
                      <m:t> </m:t>
                    </m:r>
                    <m:r>
                      <m:rPr>
                        <m:nor/>
                      </m:rPr>
                      <a:rPr lang="en-US" b="1"/>
                      <m:t>· </m:t>
                    </m:r>
                    <m:sSub>
                      <m:sSubPr>
                        <m:ctrlPr>
                          <a:rPr lang="el-GR" b="1" i="1" dirty="0">
                            <a:latin typeface="Cambria Math" panose="02040503050406030204" pitchFamily="18" charset="0"/>
                          </a:rPr>
                        </m:ctrlPr>
                      </m:sSubPr>
                      <m:e>
                        <m:r>
                          <a:rPr lang="en-US" b="1" i="1" dirty="0">
                            <a:latin typeface="Cambria Math" panose="02040503050406030204" pitchFamily="18" charset="0"/>
                          </a:rPr>
                          <m:t>𝑷𝒐𝒔𝒕</m:t>
                        </m:r>
                      </m:e>
                      <m:sub>
                        <m:r>
                          <a:rPr lang="en-US" b="1" i="1" dirty="0">
                            <a:latin typeface="Cambria Math" panose="02040503050406030204" pitchFamily="18" charset="0"/>
                          </a:rPr>
                          <m:t>𝒊𝒕</m:t>
                        </m:r>
                      </m:sub>
                    </m:sSub>
                  </m:oMath>
                </a14:m>
                <a:r>
                  <a:rPr lang="en-US" b="1" dirty="0"/>
                  <a:t> </a:t>
                </a:r>
                <a14:m>
                  <m:oMath xmlns:m="http://schemas.openxmlformats.org/officeDocument/2006/math">
                    <m:r>
                      <m:rPr>
                        <m:nor/>
                      </m:rPr>
                      <a:rPr lang="en-US" b="1"/>
                      <m:t>·</m:t>
                    </m:r>
                    <m:r>
                      <m:rPr>
                        <m:nor/>
                      </m:rPr>
                      <a:rPr lang="en-US" b="1" smtClean="0"/>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𝒕𝒐𝒕𝒂𝒍𝒄𝒐𝒔𝒕</m:t>
                        </m:r>
                      </m:e>
                      <m:sub>
                        <m:r>
                          <a:rPr lang="en-US" b="1" i="1" smtClean="0">
                            <a:latin typeface="Cambria Math" panose="02040503050406030204" pitchFamily="18" charset="0"/>
                          </a:rPr>
                          <m:t>𝒊</m:t>
                        </m:r>
                      </m:sub>
                    </m:sSub>
                    <m:r>
                      <a:rPr lang="en-US" b="1" i="1">
                        <a:latin typeface="Cambria Math" panose="02040503050406030204" pitchFamily="18" charset="0"/>
                      </a:rPr>
                      <m:t>)</m:t>
                    </m:r>
                    <m:sSub>
                      <m:sSubPr>
                        <m:ctrlPr>
                          <a:rPr lang="el-GR"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𝑎</m:t>
                        </m:r>
                      </m:e>
                      <m:sub>
                        <m:r>
                          <a:rPr lang="en-US" i="1" dirty="0">
                            <a:latin typeface="Cambria Math" panose="02040503050406030204" pitchFamily="18" charset="0"/>
                          </a:rPr>
                          <m:t>𝑖</m:t>
                        </m:r>
                        <m:r>
                          <a:rPr lang="en-US" i="1" dirty="0">
                            <a:latin typeface="Cambria Math" panose="02040503050406030204" pitchFamily="18" charset="0"/>
                          </a:rPr>
                          <m:t> </m:t>
                        </m:r>
                      </m:sub>
                    </m:sSub>
                    <m:r>
                      <a:rPr lang="en-US" i="1" dirty="0">
                        <a:latin typeface="Cambria Math" panose="02040503050406030204" pitchFamily="18" charset="0"/>
                      </a:rPr>
                      <m:t>+</m:t>
                    </m:r>
                    <m:sSub>
                      <m:sSubPr>
                        <m:ctrlPr>
                          <a:rPr lang="el-GR" i="1" dirty="0">
                            <a:latin typeface="Cambria Math" panose="02040503050406030204" pitchFamily="18" charset="0"/>
                          </a:rPr>
                        </m:ctrlPr>
                      </m:sSubPr>
                      <m:e>
                        <m:r>
                          <m:rPr>
                            <m:nor/>
                          </m:rPr>
                          <a:rPr lang="el-GR"/>
                          <m:t> </m:t>
                        </m:r>
                        <m:r>
                          <m:rPr>
                            <m:nor/>
                          </m:rPr>
                          <a:rPr lang="el-GR"/>
                          <m:t>ω</m:t>
                        </m:r>
                      </m:e>
                      <m:sub>
                        <m:r>
                          <a:rPr lang="en-US" i="1" dirty="0">
                            <a:latin typeface="Cambria Math" panose="02040503050406030204" pitchFamily="18" charset="0"/>
                          </a:rPr>
                          <m:t>𝑡</m:t>
                        </m:r>
                      </m:sub>
                    </m:sSub>
                    <m:r>
                      <a:rPr lang="en-US" i="1" dirty="0">
                        <a:latin typeface="Cambria Math" panose="02040503050406030204" pitchFamily="18" charset="0"/>
                      </a:rPr>
                      <m:t>+</m:t>
                    </m:r>
                    <m:sSub>
                      <m:sSubPr>
                        <m:ctrlPr>
                          <a:rPr lang="el-GR" i="1" dirty="0">
                            <a:latin typeface="Cambria Math" panose="02040503050406030204" pitchFamily="18" charset="0"/>
                          </a:rPr>
                        </m:ctrlPr>
                      </m:sSubPr>
                      <m:e>
                        <m:r>
                          <m:rPr>
                            <m:nor/>
                          </m:rPr>
                          <a:rPr lang="el-GR"/>
                          <m:t>ϵ</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𝑡</m:t>
                        </m:r>
                      </m:sub>
                    </m:sSub>
                  </m:oMath>
                </a14:m>
                <a:endParaRPr lang="en-US" dirty="0"/>
              </a:p>
            </p:txBody>
          </p:sp>
        </mc:Choice>
        <mc:Fallback xmlns="">
          <p:sp>
            <p:nvSpPr>
              <p:cNvPr id="5" name="TextBox 4">
                <a:extLst>
                  <a:ext uri="{FF2B5EF4-FFF2-40B4-BE49-F238E27FC236}">
                    <a16:creationId xmlns:a16="http://schemas.microsoft.com/office/drawing/2014/main" id="{A0B44336-BDC6-B41D-DFBF-652948AB8E03}"/>
                  </a:ext>
                </a:extLst>
              </p:cNvPr>
              <p:cNvSpPr txBox="1">
                <a:spLocks noRot="1" noChangeAspect="1" noMove="1" noResize="1" noEditPoints="1" noAdjustHandles="1" noChangeArrowheads="1" noChangeShapeType="1" noTextEdit="1"/>
              </p:cNvSpPr>
              <p:nvPr/>
            </p:nvSpPr>
            <p:spPr>
              <a:xfrm>
                <a:off x="1681813" y="1701786"/>
                <a:ext cx="9741560" cy="381515"/>
              </a:xfrm>
              <a:prstGeom prst="rect">
                <a:avLst/>
              </a:prstGeom>
              <a:blipFill>
                <a:blip r:embed="rId2"/>
                <a:stretch>
                  <a:fillRect l="-260" t="-3125"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9163A98C-A2CA-19CD-EDF9-4EFE1ADDC7CD}"/>
                  </a:ext>
                </a:extLst>
              </p:cNvPr>
              <p:cNvGraphicFramePr>
                <a:graphicFrameLocks noGrp="1"/>
              </p:cNvGraphicFramePr>
              <p:nvPr>
                <p:extLst>
                  <p:ext uri="{D42A27DB-BD31-4B8C-83A1-F6EECF244321}">
                    <p14:modId xmlns:p14="http://schemas.microsoft.com/office/powerpoint/2010/main" val="3615819637"/>
                  </p:ext>
                </p:extLst>
              </p:nvPr>
            </p:nvGraphicFramePr>
            <p:xfrm>
              <a:off x="2117801" y="2663010"/>
              <a:ext cx="7956398" cy="2911017"/>
            </p:xfrm>
            <a:graphic>
              <a:graphicData uri="http://schemas.openxmlformats.org/drawingml/2006/table">
                <a:tbl>
                  <a:tblPr firstRow="1" bandRow="1">
                    <a:tableStyleId>{5C22544A-7EE6-4342-B048-85BDC9FD1C3A}</a:tableStyleId>
                  </a:tblPr>
                  <a:tblGrid>
                    <a:gridCol w="3978199">
                      <a:extLst>
                        <a:ext uri="{9D8B030D-6E8A-4147-A177-3AD203B41FA5}">
                          <a16:colId xmlns:a16="http://schemas.microsoft.com/office/drawing/2014/main" val="406063817"/>
                        </a:ext>
                      </a:extLst>
                    </a:gridCol>
                    <a:gridCol w="3978199">
                      <a:extLst>
                        <a:ext uri="{9D8B030D-6E8A-4147-A177-3AD203B41FA5}">
                          <a16:colId xmlns:a16="http://schemas.microsoft.com/office/drawing/2014/main" val="2234204799"/>
                        </a:ext>
                      </a:extLst>
                    </a:gridCol>
                  </a:tblGrid>
                  <a:tr h="220427">
                    <a:tc>
                      <a:txBody>
                        <a:bodyPr/>
                        <a:lstStyle/>
                        <a:p>
                          <a:r>
                            <a:rPr lang="en-US" sz="1300" dirty="0"/>
                            <a:t>Variable</a:t>
                          </a:r>
                        </a:p>
                      </a:txBody>
                      <a:tcPr/>
                    </a:tc>
                    <a:tc>
                      <a:txBody>
                        <a:bodyPr/>
                        <a:lstStyle/>
                        <a:p>
                          <a:r>
                            <a:rPr lang="en-US" sz="1300" dirty="0"/>
                            <a:t>Meaning</a:t>
                          </a:r>
                        </a:p>
                      </a:txBody>
                      <a:tcPr/>
                    </a:tc>
                    <a:extLst>
                      <a:ext uri="{0D108BD9-81ED-4DB2-BD59-A6C34878D82A}">
                        <a16:rowId xmlns:a16="http://schemas.microsoft.com/office/drawing/2014/main" val="1043152938"/>
                      </a:ext>
                    </a:extLst>
                  </a:tr>
                  <a:tr h="458432">
                    <a:tc>
                      <a:txBody>
                        <a:bodyPr/>
                        <a:lstStyle/>
                        <a:p>
                          <a:pPr/>
                          <a14:m>
                            <m:oMathPara xmlns:m="http://schemas.openxmlformats.org/officeDocument/2006/math">
                              <m:oMathParaPr>
                                <m:jc m:val="centerGroup"/>
                              </m:oMathParaPr>
                              <m:oMath xmlns:m="http://schemas.openxmlformats.org/officeDocument/2006/math">
                                <m:sSub>
                                  <m:sSubPr>
                                    <m:ctrlPr>
                                      <a:rPr lang="en-US" sz="1300" i="1" smtClean="0">
                                        <a:latin typeface="Cambria Math" panose="02040503050406030204" pitchFamily="18" charset="0"/>
                                      </a:rPr>
                                    </m:ctrlPr>
                                  </m:sSubPr>
                                  <m:e>
                                    <m:r>
                                      <a:rPr lang="en-US" sz="1300" b="0" i="1" smtClean="0">
                                        <a:latin typeface="Cambria Math" panose="02040503050406030204" pitchFamily="18" charset="0"/>
                                      </a:rPr>
                                      <m:t>𝑙𝑛𝑍𝐻𝑉𝐼</m:t>
                                    </m:r>
                                  </m:e>
                                  <m:sub>
                                    <m:r>
                                      <a:rPr lang="en-US" sz="1300" b="0" i="1" smtClean="0">
                                        <a:latin typeface="Cambria Math" panose="02040503050406030204" pitchFamily="18" charset="0"/>
                                      </a:rPr>
                                      <m:t>𝑖𝑡</m:t>
                                    </m:r>
                                  </m:sub>
                                </m:sSub>
                              </m:oMath>
                            </m:oMathPara>
                          </a14:m>
                          <a:endParaRPr lang="en-US"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ZHVI for metro </a:t>
                          </a:r>
                          <a:r>
                            <a:rPr lang="en-US" sz="1300" dirty="0" err="1"/>
                            <a:t>i</a:t>
                          </a:r>
                          <a:r>
                            <a:rPr lang="en-US" sz="1300" dirty="0"/>
                            <a:t> in month t, logged</a:t>
                          </a:r>
                        </a:p>
                      </a:txBody>
                      <a:tcPr/>
                    </a:tc>
                    <a:extLst>
                      <a:ext uri="{0D108BD9-81ED-4DB2-BD59-A6C34878D82A}">
                        <a16:rowId xmlns:a16="http://schemas.microsoft.com/office/drawing/2014/main" val="2732871156"/>
                      </a:ext>
                    </a:extLst>
                  </a:tr>
                  <a:tr h="374494">
                    <a:tc>
                      <a:txBody>
                        <a:bodyPr/>
                        <a:lstStyle/>
                        <a:p>
                          <a:pPr/>
                          <a14:m>
                            <m:oMathPara xmlns:m="http://schemas.openxmlformats.org/officeDocument/2006/math">
                              <m:oMathParaPr>
                                <m:jc m:val="centerGroup"/>
                              </m:oMathParaPr>
                              <m:oMath xmlns:m="http://schemas.openxmlformats.org/officeDocument/2006/math">
                                <m:sSub>
                                  <m:sSubPr>
                                    <m:ctrlPr>
                                      <a:rPr lang="en-US" sz="1300" i="1" smtClean="0">
                                        <a:latin typeface="Cambria Math" panose="02040503050406030204" pitchFamily="18" charset="0"/>
                                      </a:rPr>
                                    </m:ctrlPr>
                                  </m:sSubPr>
                                  <m:e>
                                    <m:r>
                                      <a:rPr lang="en-US" sz="1300" b="0" i="1" smtClean="0">
                                        <a:latin typeface="Cambria Math" panose="02040503050406030204" pitchFamily="18" charset="0"/>
                                      </a:rPr>
                                      <m:t>𝑇𝑟𝑒𝑎𝑡𝑒𝑑</m:t>
                                    </m:r>
                                  </m:e>
                                  <m:sub>
                                    <m:r>
                                      <a:rPr lang="en-US" sz="1300" b="0" i="1" smtClean="0">
                                        <a:latin typeface="Cambria Math" panose="02040503050406030204" pitchFamily="18" charset="0"/>
                                      </a:rPr>
                                      <m:t>𝑖</m:t>
                                    </m:r>
                                  </m:sub>
                                </m:sSub>
                              </m:oMath>
                            </m:oMathPara>
                          </a14:m>
                          <a:endParaRPr lang="en-US" sz="1300" dirty="0"/>
                        </a:p>
                      </a:txBody>
                      <a:tcPr/>
                    </a:tc>
                    <a:tc>
                      <a:txBody>
                        <a:bodyPr/>
                        <a:lstStyle/>
                        <a:p>
                          <a:r>
                            <a:rPr lang="en-US" sz="1300" dirty="0"/>
                            <a:t>1 if metro </a:t>
                          </a:r>
                          <a:r>
                            <a:rPr lang="en-US" sz="1300" dirty="0" err="1"/>
                            <a:t>i</a:t>
                          </a:r>
                          <a:r>
                            <a:rPr lang="en-US" sz="1300" dirty="0"/>
                            <a:t> ever gets an opening from 2000 - 2025</a:t>
                          </a:r>
                        </a:p>
                      </a:txBody>
                      <a:tcPr/>
                    </a:tc>
                    <a:extLst>
                      <a:ext uri="{0D108BD9-81ED-4DB2-BD59-A6C34878D82A}">
                        <a16:rowId xmlns:a16="http://schemas.microsoft.com/office/drawing/2014/main" val="2613753308"/>
                      </a:ext>
                    </a:extLst>
                  </a:tr>
                  <a:tr h="374494">
                    <a:tc>
                      <a:txBody>
                        <a:bodyPr/>
                        <a:lstStyle/>
                        <a:p>
                          <a:pPr/>
                          <a14:m>
                            <m:oMathPara xmlns:m="http://schemas.openxmlformats.org/officeDocument/2006/math">
                              <m:oMathParaPr>
                                <m:jc m:val="centerGroup"/>
                              </m:oMathParaPr>
                              <m:oMath xmlns:m="http://schemas.openxmlformats.org/officeDocument/2006/math">
                                <m:sSub>
                                  <m:sSubPr>
                                    <m:ctrlPr>
                                      <a:rPr lang="el-GR" sz="1300" i="1" dirty="0" smtClean="0">
                                        <a:latin typeface="Cambria Math" panose="02040503050406030204" pitchFamily="18" charset="0"/>
                                      </a:rPr>
                                    </m:ctrlPr>
                                  </m:sSubPr>
                                  <m:e>
                                    <m:r>
                                      <a:rPr lang="en-US" sz="1300" b="0" i="1" dirty="0" smtClean="0">
                                        <a:latin typeface="Cambria Math" panose="02040503050406030204" pitchFamily="18" charset="0"/>
                                      </a:rPr>
                                      <m:t>𝑃𝑜𝑠𝑡</m:t>
                                    </m:r>
                                  </m:e>
                                  <m:sub>
                                    <m:r>
                                      <a:rPr lang="en-US" sz="1300" b="0" i="1" dirty="0" smtClean="0">
                                        <a:latin typeface="Cambria Math" panose="02040503050406030204" pitchFamily="18" charset="0"/>
                                      </a:rPr>
                                      <m:t>𝑖𝑡</m:t>
                                    </m:r>
                                  </m:sub>
                                </m:sSub>
                              </m:oMath>
                            </m:oMathPara>
                          </a14:m>
                          <a:endParaRPr lang="en-US" sz="1300" dirty="0"/>
                        </a:p>
                      </a:txBody>
                      <a:tcPr/>
                    </a:tc>
                    <a:tc>
                      <a:txBody>
                        <a:bodyPr/>
                        <a:lstStyle/>
                        <a:p>
                          <a:r>
                            <a:rPr lang="en-US" sz="1300" dirty="0"/>
                            <a:t>1 from the opening month onward for treated metros</a:t>
                          </a:r>
                        </a:p>
                      </a:txBody>
                      <a:tcPr/>
                    </a:tc>
                    <a:extLst>
                      <a:ext uri="{0D108BD9-81ED-4DB2-BD59-A6C34878D82A}">
                        <a16:rowId xmlns:a16="http://schemas.microsoft.com/office/drawing/2014/main" val="2778091772"/>
                      </a:ext>
                    </a:extLst>
                  </a:tr>
                  <a:tr h="290555">
                    <a:tc>
                      <a:txBody>
                        <a:bodyPr/>
                        <a:lstStyle/>
                        <a:p>
                          <a:pPr/>
                          <a14:m>
                            <m:oMathPara xmlns:m="http://schemas.openxmlformats.org/officeDocument/2006/math">
                              <m:oMathParaPr>
                                <m:jc m:val="centerGroup"/>
                              </m:oMathParaPr>
                              <m:oMath xmlns:m="http://schemas.openxmlformats.org/officeDocument/2006/math">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𝑡𝑜𝑡𝑎𝑙𝑐𝑜𝑠𝑡</m:t>
                                    </m:r>
                                  </m:e>
                                  <m:sub>
                                    <m:r>
                                      <a:rPr lang="en-US" sz="1300" b="0" i="1" smtClean="0">
                                        <a:latin typeface="Cambria Math" panose="02040503050406030204" pitchFamily="18" charset="0"/>
                                      </a:rPr>
                                      <m:t>𝑖</m:t>
                                    </m:r>
                                  </m:sub>
                                </m:sSub>
                              </m:oMath>
                            </m:oMathPara>
                          </a14:m>
                          <a:endParaRPr lang="en-US" sz="1300" dirty="0"/>
                        </a:p>
                      </a:txBody>
                      <a:tcPr/>
                    </a:tc>
                    <a:tc>
                      <a:txBody>
                        <a:bodyPr/>
                        <a:lstStyle/>
                        <a:p>
                          <a:r>
                            <a:rPr lang="en-US" sz="1200" dirty="0"/>
                            <a:t>Venue construction cost in 2020 $Millions</a:t>
                          </a:r>
                        </a:p>
                      </a:txBody>
                      <a:tcPr/>
                    </a:tc>
                    <a:extLst>
                      <a:ext uri="{0D108BD9-81ED-4DB2-BD59-A6C34878D82A}">
                        <a16:rowId xmlns:a16="http://schemas.microsoft.com/office/drawing/2014/main" val="448269091"/>
                      </a:ext>
                    </a:extLst>
                  </a:tr>
                  <a:tr h="374494">
                    <a:tc>
                      <a:txBody>
                        <a:bodyPr/>
                        <a:lstStyle/>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𝑃𝑢𝑏𝑙𝑖</m:t>
                                </m:r>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𝑐𝐶𝑜𝑠𝑡</m:t>
                                    </m:r>
                                  </m:e>
                                  <m:sub>
                                    <m:r>
                                      <a:rPr lang="en-US" sz="1300" b="0" i="1" smtClean="0">
                                        <a:latin typeface="Cambria Math" panose="02040503050406030204" pitchFamily="18" charset="0"/>
                                      </a:rPr>
                                      <m:t>𝑖</m:t>
                                    </m:r>
                                  </m:sub>
                                </m:sSub>
                              </m:oMath>
                            </m:oMathPara>
                          </a14:m>
                          <a:endParaRPr lang="en-US" sz="1300" dirty="0"/>
                        </a:p>
                      </a:txBody>
                      <a:tcPr/>
                    </a:tc>
                    <a:tc>
                      <a:txBody>
                        <a:bodyPr/>
                        <a:lstStyle/>
                        <a:p>
                          <a:r>
                            <a:rPr lang="en-US" sz="1200" dirty="0"/>
                            <a:t>Publicly financed portion of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𝑡𝑜𝑡𝑎𝑙𝑐𝑜𝑠𝑡</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 </m:t>
                              </m:r>
                            </m:oMath>
                          </a14:m>
                          <a:r>
                            <a:rPr lang="en-US" sz="1200" dirty="0"/>
                            <a:t>in 2020 $Millions</a:t>
                          </a:r>
                        </a:p>
                      </a:txBody>
                      <a:tcPr/>
                    </a:tc>
                    <a:extLst>
                      <a:ext uri="{0D108BD9-81ED-4DB2-BD59-A6C34878D82A}">
                        <a16:rowId xmlns:a16="http://schemas.microsoft.com/office/drawing/2014/main" val="3002959228"/>
                      </a:ext>
                    </a:extLst>
                  </a:tr>
                  <a:tr h="374494">
                    <a:tc>
                      <a:txBody>
                        <a:bodyPr/>
                        <a:lstStyle/>
                        <a:p>
                          <a:pPr/>
                          <a14:m>
                            <m:oMathPara xmlns:m="http://schemas.openxmlformats.org/officeDocument/2006/math">
                              <m:oMathParaPr>
                                <m:jc m:val="centerGroup"/>
                              </m:oMathParaPr>
                              <m:oMath xmlns:m="http://schemas.openxmlformats.org/officeDocument/2006/math">
                                <m:sSub>
                                  <m:sSubPr>
                                    <m:ctrlPr>
                                      <a:rPr lang="el-GR" sz="1400" i="1" dirty="0" smtClean="0">
                                        <a:latin typeface="Cambria Math" panose="02040503050406030204" pitchFamily="18" charset="0"/>
                                      </a:rPr>
                                    </m:ctrlPr>
                                  </m:sSubPr>
                                  <m:e>
                                    <m:r>
                                      <a:rPr lang="en-US" sz="1400" i="1" dirty="0">
                                        <a:latin typeface="Cambria Math" panose="02040503050406030204" pitchFamily="18" charset="0"/>
                                      </a:rPr>
                                      <m:t>𝑎</m:t>
                                    </m:r>
                                  </m:e>
                                  <m:sub>
                                    <m:r>
                                      <a:rPr lang="en-US" sz="1400" i="1" dirty="0">
                                        <a:latin typeface="Cambria Math" panose="02040503050406030204" pitchFamily="18" charset="0"/>
                                      </a:rPr>
                                      <m:t>𝑖</m:t>
                                    </m:r>
                                    <m:r>
                                      <a:rPr lang="en-US" sz="1400" i="1" dirty="0">
                                        <a:latin typeface="Cambria Math" panose="02040503050406030204" pitchFamily="18" charset="0"/>
                                      </a:rPr>
                                      <m:t> </m:t>
                                    </m:r>
                                  </m:sub>
                                </m:sSub>
                              </m:oMath>
                            </m:oMathPara>
                          </a14:m>
                          <a:endParaRPr lang="en-US"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Metro FEs</a:t>
                          </a:r>
                        </a:p>
                      </a:txBody>
                      <a:tcPr/>
                    </a:tc>
                    <a:extLst>
                      <a:ext uri="{0D108BD9-81ED-4DB2-BD59-A6C34878D82A}">
                        <a16:rowId xmlns:a16="http://schemas.microsoft.com/office/drawing/2014/main" val="2878896044"/>
                      </a:ext>
                    </a:extLst>
                  </a:tr>
                  <a:tr h="374494">
                    <a:tc>
                      <a:txBody>
                        <a:bodyPr/>
                        <a:lstStyle/>
                        <a:p>
                          <a:pPr/>
                          <a14:m>
                            <m:oMathPara xmlns:m="http://schemas.openxmlformats.org/officeDocument/2006/math">
                              <m:oMathParaPr>
                                <m:jc m:val="centerGroup"/>
                              </m:oMathParaPr>
                              <m:oMath xmlns:m="http://schemas.openxmlformats.org/officeDocument/2006/math">
                                <m:sSub>
                                  <m:sSubPr>
                                    <m:ctrlPr>
                                      <a:rPr lang="el-GR" sz="1400" i="1" dirty="0" smtClean="0">
                                        <a:latin typeface="Cambria Math" panose="02040503050406030204" pitchFamily="18" charset="0"/>
                                      </a:rPr>
                                    </m:ctrlPr>
                                  </m:sSubPr>
                                  <m:e>
                                    <m:r>
                                      <m:rPr>
                                        <m:nor/>
                                      </m:rPr>
                                      <a:rPr lang="el-GR" sz="1400"/>
                                      <m:t> </m:t>
                                    </m:r>
                                    <m:r>
                                      <m:rPr>
                                        <m:nor/>
                                      </m:rPr>
                                      <a:rPr lang="el-GR" sz="1400"/>
                                      <m:t>ω</m:t>
                                    </m:r>
                                  </m:e>
                                  <m:sub>
                                    <m:r>
                                      <a:rPr lang="en-US" sz="1400" i="1" dirty="0">
                                        <a:latin typeface="Cambria Math" panose="02040503050406030204" pitchFamily="18" charset="0"/>
                                      </a:rPr>
                                      <m:t>𝑡</m:t>
                                    </m:r>
                                  </m:sub>
                                </m:sSub>
                              </m:oMath>
                            </m:oMathPara>
                          </a14:m>
                          <a:endParaRPr lang="en-US"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Month FEs</a:t>
                          </a:r>
                        </a:p>
                      </a:txBody>
                      <a:tcPr/>
                    </a:tc>
                    <a:extLst>
                      <a:ext uri="{0D108BD9-81ED-4DB2-BD59-A6C34878D82A}">
                        <a16:rowId xmlns:a16="http://schemas.microsoft.com/office/drawing/2014/main" val="2109071398"/>
                      </a:ext>
                    </a:extLst>
                  </a:tr>
                </a:tbl>
              </a:graphicData>
            </a:graphic>
          </p:graphicFrame>
        </mc:Choice>
        <mc:Fallback xmlns="">
          <p:graphicFrame>
            <p:nvGraphicFramePr>
              <p:cNvPr id="9" name="Table 8">
                <a:extLst>
                  <a:ext uri="{FF2B5EF4-FFF2-40B4-BE49-F238E27FC236}">
                    <a16:creationId xmlns:a16="http://schemas.microsoft.com/office/drawing/2014/main" id="{9163A98C-A2CA-19CD-EDF9-4EFE1ADDC7CD}"/>
                  </a:ext>
                </a:extLst>
              </p:cNvPr>
              <p:cNvGraphicFramePr>
                <a:graphicFrameLocks noGrp="1"/>
              </p:cNvGraphicFramePr>
              <p:nvPr>
                <p:extLst>
                  <p:ext uri="{D42A27DB-BD31-4B8C-83A1-F6EECF244321}">
                    <p14:modId xmlns:p14="http://schemas.microsoft.com/office/powerpoint/2010/main" val="3615819637"/>
                  </p:ext>
                </p:extLst>
              </p:nvPr>
            </p:nvGraphicFramePr>
            <p:xfrm>
              <a:off x="2117801" y="2663010"/>
              <a:ext cx="7956398" cy="2911017"/>
            </p:xfrm>
            <a:graphic>
              <a:graphicData uri="http://schemas.openxmlformats.org/drawingml/2006/table">
                <a:tbl>
                  <a:tblPr firstRow="1" bandRow="1">
                    <a:tableStyleId>{5C22544A-7EE6-4342-B048-85BDC9FD1C3A}</a:tableStyleId>
                  </a:tblPr>
                  <a:tblGrid>
                    <a:gridCol w="3978199">
                      <a:extLst>
                        <a:ext uri="{9D8B030D-6E8A-4147-A177-3AD203B41FA5}">
                          <a16:colId xmlns:a16="http://schemas.microsoft.com/office/drawing/2014/main" val="406063817"/>
                        </a:ext>
                      </a:extLst>
                    </a:gridCol>
                    <a:gridCol w="3978199">
                      <a:extLst>
                        <a:ext uri="{9D8B030D-6E8A-4147-A177-3AD203B41FA5}">
                          <a16:colId xmlns:a16="http://schemas.microsoft.com/office/drawing/2014/main" val="2234204799"/>
                        </a:ext>
                      </a:extLst>
                    </a:gridCol>
                  </a:tblGrid>
                  <a:tr h="289560">
                    <a:tc>
                      <a:txBody>
                        <a:bodyPr/>
                        <a:lstStyle/>
                        <a:p>
                          <a:r>
                            <a:rPr lang="en-US" sz="1300" dirty="0"/>
                            <a:t>Variable</a:t>
                          </a:r>
                        </a:p>
                      </a:txBody>
                      <a:tcPr/>
                    </a:tc>
                    <a:tc>
                      <a:txBody>
                        <a:bodyPr/>
                        <a:lstStyle/>
                        <a:p>
                          <a:r>
                            <a:rPr lang="en-US" sz="1300" dirty="0"/>
                            <a:t>Meaning</a:t>
                          </a:r>
                        </a:p>
                      </a:txBody>
                      <a:tcPr/>
                    </a:tc>
                    <a:extLst>
                      <a:ext uri="{0D108BD9-81ED-4DB2-BD59-A6C34878D82A}">
                        <a16:rowId xmlns:a16="http://schemas.microsoft.com/office/drawing/2014/main" val="1043152938"/>
                      </a:ext>
                    </a:extLst>
                  </a:tr>
                  <a:tr h="458432">
                    <a:tc>
                      <a:txBody>
                        <a:bodyPr/>
                        <a:lstStyle/>
                        <a:p>
                          <a:endParaRPr lang="en-US"/>
                        </a:p>
                      </a:txBody>
                      <a:tcPr>
                        <a:blipFill>
                          <a:blip r:embed="rId3"/>
                          <a:stretch>
                            <a:fillRect t="-66667" r="-100637" b="-480556"/>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ZHVI for metro </a:t>
                          </a:r>
                          <a:r>
                            <a:rPr lang="en-US" sz="1300" dirty="0" err="1"/>
                            <a:t>i</a:t>
                          </a:r>
                          <a:r>
                            <a:rPr lang="en-US" sz="1300" dirty="0"/>
                            <a:t> in month t, logged</a:t>
                          </a:r>
                        </a:p>
                      </a:txBody>
                      <a:tcPr/>
                    </a:tc>
                    <a:extLst>
                      <a:ext uri="{0D108BD9-81ED-4DB2-BD59-A6C34878D82A}">
                        <a16:rowId xmlns:a16="http://schemas.microsoft.com/office/drawing/2014/main" val="2732871156"/>
                      </a:ext>
                    </a:extLst>
                  </a:tr>
                  <a:tr h="374494">
                    <a:tc>
                      <a:txBody>
                        <a:bodyPr/>
                        <a:lstStyle/>
                        <a:p>
                          <a:endParaRPr lang="en-US"/>
                        </a:p>
                      </a:txBody>
                      <a:tcPr>
                        <a:blipFill>
                          <a:blip r:embed="rId3"/>
                          <a:stretch>
                            <a:fillRect t="-200000" r="-100637" b="-476667"/>
                          </a:stretch>
                        </a:blipFill>
                      </a:tcPr>
                    </a:tc>
                    <a:tc>
                      <a:txBody>
                        <a:bodyPr/>
                        <a:lstStyle/>
                        <a:p>
                          <a:r>
                            <a:rPr lang="en-US" sz="1300" dirty="0"/>
                            <a:t>1 if metro </a:t>
                          </a:r>
                          <a:r>
                            <a:rPr lang="en-US" sz="1300" dirty="0" err="1"/>
                            <a:t>i</a:t>
                          </a:r>
                          <a:r>
                            <a:rPr lang="en-US" sz="1300" dirty="0"/>
                            <a:t> ever gets an opening from 2000 - 2025</a:t>
                          </a:r>
                        </a:p>
                      </a:txBody>
                      <a:tcPr/>
                    </a:tc>
                    <a:extLst>
                      <a:ext uri="{0D108BD9-81ED-4DB2-BD59-A6C34878D82A}">
                        <a16:rowId xmlns:a16="http://schemas.microsoft.com/office/drawing/2014/main" val="2613753308"/>
                      </a:ext>
                    </a:extLst>
                  </a:tr>
                  <a:tr h="374494">
                    <a:tc>
                      <a:txBody>
                        <a:bodyPr/>
                        <a:lstStyle/>
                        <a:p>
                          <a:endParaRPr lang="en-US"/>
                        </a:p>
                      </a:txBody>
                      <a:tcPr>
                        <a:blipFill>
                          <a:blip r:embed="rId3"/>
                          <a:stretch>
                            <a:fillRect t="-310345" r="-100637" b="-393103"/>
                          </a:stretch>
                        </a:blipFill>
                      </a:tcPr>
                    </a:tc>
                    <a:tc>
                      <a:txBody>
                        <a:bodyPr/>
                        <a:lstStyle/>
                        <a:p>
                          <a:r>
                            <a:rPr lang="en-US" sz="1300" dirty="0"/>
                            <a:t>1 from the opening month onward for treated metros</a:t>
                          </a:r>
                        </a:p>
                      </a:txBody>
                      <a:tcPr/>
                    </a:tc>
                    <a:extLst>
                      <a:ext uri="{0D108BD9-81ED-4DB2-BD59-A6C34878D82A}">
                        <a16:rowId xmlns:a16="http://schemas.microsoft.com/office/drawing/2014/main" val="2778091772"/>
                      </a:ext>
                    </a:extLst>
                  </a:tr>
                  <a:tr h="290555">
                    <a:tc>
                      <a:txBody>
                        <a:bodyPr/>
                        <a:lstStyle/>
                        <a:p>
                          <a:endParaRPr lang="en-US"/>
                        </a:p>
                      </a:txBody>
                      <a:tcPr>
                        <a:blipFill>
                          <a:blip r:embed="rId3"/>
                          <a:stretch>
                            <a:fillRect t="-517391" r="-100637" b="-395652"/>
                          </a:stretch>
                        </a:blipFill>
                      </a:tcPr>
                    </a:tc>
                    <a:tc>
                      <a:txBody>
                        <a:bodyPr/>
                        <a:lstStyle/>
                        <a:p>
                          <a:r>
                            <a:rPr lang="en-US" sz="1200" dirty="0"/>
                            <a:t>Venue construction cost in 2020 $Millions</a:t>
                          </a:r>
                        </a:p>
                      </a:txBody>
                      <a:tcPr/>
                    </a:tc>
                    <a:extLst>
                      <a:ext uri="{0D108BD9-81ED-4DB2-BD59-A6C34878D82A}">
                        <a16:rowId xmlns:a16="http://schemas.microsoft.com/office/drawing/2014/main" val="448269091"/>
                      </a:ext>
                    </a:extLst>
                  </a:tr>
                  <a:tr h="374494">
                    <a:tc>
                      <a:txBody>
                        <a:bodyPr/>
                        <a:lstStyle/>
                        <a:p>
                          <a:endParaRPr lang="en-US"/>
                        </a:p>
                      </a:txBody>
                      <a:tcPr>
                        <a:blipFill>
                          <a:blip r:embed="rId3"/>
                          <a:stretch>
                            <a:fillRect t="-473333" r="-100637" b="-203333"/>
                          </a:stretch>
                        </a:blipFill>
                      </a:tcPr>
                    </a:tc>
                    <a:tc>
                      <a:txBody>
                        <a:bodyPr/>
                        <a:lstStyle/>
                        <a:p>
                          <a:endParaRPr lang="en-US"/>
                        </a:p>
                      </a:txBody>
                      <a:tcPr>
                        <a:blipFill>
                          <a:blip r:embed="rId3"/>
                          <a:stretch>
                            <a:fillRect l="-100000" t="-473333" r="-637" b="-203333"/>
                          </a:stretch>
                        </a:blipFill>
                      </a:tcPr>
                    </a:tc>
                    <a:extLst>
                      <a:ext uri="{0D108BD9-81ED-4DB2-BD59-A6C34878D82A}">
                        <a16:rowId xmlns:a16="http://schemas.microsoft.com/office/drawing/2014/main" val="3002959228"/>
                      </a:ext>
                    </a:extLst>
                  </a:tr>
                  <a:tr h="374494">
                    <a:tc>
                      <a:txBody>
                        <a:bodyPr/>
                        <a:lstStyle/>
                        <a:p>
                          <a:endParaRPr lang="en-US"/>
                        </a:p>
                      </a:txBody>
                      <a:tcPr>
                        <a:blipFill>
                          <a:blip r:embed="rId3"/>
                          <a:stretch>
                            <a:fillRect t="-593103" r="-100637" b="-110345"/>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Metro FEs</a:t>
                          </a:r>
                        </a:p>
                      </a:txBody>
                      <a:tcPr/>
                    </a:tc>
                    <a:extLst>
                      <a:ext uri="{0D108BD9-81ED-4DB2-BD59-A6C34878D82A}">
                        <a16:rowId xmlns:a16="http://schemas.microsoft.com/office/drawing/2014/main" val="2878896044"/>
                      </a:ext>
                    </a:extLst>
                  </a:tr>
                  <a:tr h="374494">
                    <a:tc>
                      <a:txBody>
                        <a:bodyPr/>
                        <a:lstStyle/>
                        <a:p>
                          <a:endParaRPr lang="en-US"/>
                        </a:p>
                      </a:txBody>
                      <a:tcPr>
                        <a:blipFill>
                          <a:blip r:embed="rId3"/>
                          <a:stretch>
                            <a:fillRect t="-670000" r="-100637" b="-66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Month FEs</a:t>
                          </a:r>
                        </a:p>
                      </a:txBody>
                      <a:tcPr/>
                    </a:tc>
                    <a:extLst>
                      <a:ext uri="{0D108BD9-81ED-4DB2-BD59-A6C34878D82A}">
                        <a16:rowId xmlns:a16="http://schemas.microsoft.com/office/drawing/2014/main" val="2109071398"/>
                      </a:ext>
                    </a:extLst>
                  </a:tr>
                </a:tbl>
              </a:graphicData>
            </a:graphic>
          </p:graphicFrame>
        </mc:Fallback>
      </mc:AlternateContent>
      <p:sp>
        <p:nvSpPr>
          <p:cNvPr id="13" name="TextBox 12">
            <a:extLst>
              <a:ext uri="{FF2B5EF4-FFF2-40B4-BE49-F238E27FC236}">
                <a16:creationId xmlns:a16="http://schemas.microsoft.com/office/drawing/2014/main" id="{EF48C8EA-FFDF-8CD7-F40D-6E16F8079AE1}"/>
              </a:ext>
            </a:extLst>
          </p:cNvPr>
          <p:cNvSpPr txBox="1"/>
          <p:nvPr/>
        </p:nvSpPr>
        <p:spPr>
          <a:xfrm>
            <a:off x="2845417" y="506525"/>
            <a:ext cx="6096000" cy="615553"/>
          </a:xfrm>
          <a:prstGeom prst="rect">
            <a:avLst/>
          </a:prstGeom>
          <a:noFill/>
        </p:spPr>
        <p:txBody>
          <a:bodyPr wrap="square">
            <a:spAutoFit/>
          </a:bodyPr>
          <a:lstStyle/>
          <a:p>
            <a:pPr algn="ctr"/>
            <a:r>
              <a:rPr lang="en-US" sz="3400" b="1" dirty="0"/>
              <a:t>Intensity Model</a:t>
            </a:r>
          </a:p>
        </p:txBody>
      </p:sp>
    </p:spTree>
    <p:extLst>
      <p:ext uri="{BB962C8B-B14F-4D97-AF65-F5344CB8AC3E}">
        <p14:creationId xmlns:p14="http://schemas.microsoft.com/office/powerpoint/2010/main" val="2457221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F535A-AAAD-DF20-2C27-A59F6F21340D}"/>
              </a:ext>
            </a:extLst>
          </p:cNvPr>
          <p:cNvSpPr>
            <a:spLocks noGrp="1"/>
          </p:cNvSpPr>
          <p:nvPr>
            <p:ph type="title"/>
          </p:nvPr>
        </p:nvSpPr>
        <p:spPr>
          <a:xfrm>
            <a:off x="1831533" y="576422"/>
            <a:ext cx="1640716" cy="671209"/>
          </a:xfrm>
        </p:spPr>
        <p:txBody>
          <a:bodyPr anchor="b">
            <a:normAutofit/>
          </a:bodyPr>
          <a:lstStyle/>
          <a:p>
            <a:r>
              <a:rPr lang="en-US" sz="3200" dirty="0"/>
              <a:t>Intensity</a:t>
            </a:r>
          </a:p>
        </p:txBody>
      </p:sp>
      <p:grpSp>
        <p:nvGrpSpPr>
          <p:cNvPr id="27" name="Group 26">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22" name="Rectangle 2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3E1855F-284A-865E-ADBB-A0FCCDF4316A}"/>
                  </a:ext>
                </a:extLst>
              </p:cNvPr>
              <p:cNvSpPr txBox="1"/>
              <p:nvPr/>
            </p:nvSpPr>
            <p:spPr>
              <a:xfrm>
                <a:off x="6198795" y="576422"/>
                <a:ext cx="5396800" cy="671209"/>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𝑙𝑛𝑍𝐻𝑉𝐼</m:t>
                        </m:r>
                      </m:e>
                      <m:sub>
                        <m:r>
                          <a:rPr lang="en-US" b="0" i="1" smtClean="0">
                            <a:latin typeface="Cambria Math" panose="02040503050406030204" pitchFamily="18" charset="0"/>
                          </a:rPr>
                          <m:t>𝑖𝑡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m:rPr>
                        <m:nor/>
                      </m:rPr>
                      <a:rPr lang="en-US" b="0" i="0"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𝑇𝑟𝑒𝑎𝑡𝑒𝑑</m:t>
                        </m:r>
                      </m:e>
                      <m:sub>
                        <m:r>
                          <a:rPr lang="en-US" b="0" i="1" smtClean="0">
                            <a:latin typeface="Cambria Math" panose="02040503050406030204" pitchFamily="18" charset="0"/>
                          </a:rPr>
                          <m:t>𝑖</m:t>
                        </m:r>
                      </m:sub>
                    </m:sSub>
                    <m:r>
                      <m:rPr>
                        <m:nor/>
                      </m:rPr>
                      <a:rPr lang="en-US" b="0" i="0" smtClean="0">
                        <a:latin typeface="Cambria Math" panose="02040503050406030204" pitchFamily="18" charset="0"/>
                      </a:rPr>
                      <m:t> </m:t>
                    </m:r>
                    <m:r>
                      <m:rPr>
                        <m:nor/>
                      </m:rPr>
                      <a:rPr lang="en-US" smtClean="0"/>
                      <m:t>·</m:t>
                    </m:r>
                    <m:r>
                      <a:rPr lang="en-US" b="0" i="1" smtClean="0">
                        <a:latin typeface="Cambria Math" panose="02040503050406030204" pitchFamily="18" charset="0"/>
                      </a:rPr>
                      <m:t> </m:t>
                    </m:r>
                    <m:sSub>
                      <m:sSubPr>
                        <m:ctrlPr>
                          <a:rPr lang="el-GR" i="1" dirty="0" smtClean="0">
                            <a:latin typeface="Cambria Math" panose="02040503050406030204" pitchFamily="18" charset="0"/>
                          </a:rPr>
                        </m:ctrlPr>
                      </m:sSubPr>
                      <m:e>
                        <m:r>
                          <a:rPr lang="en-US" b="0" i="1" dirty="0" smtClean="0">
                            <a:latin typeface="Cambria Math" panose="02040503050406030204" pitchFamily="18" charset="0"/>
                          </a:rPr>
                          <m:t>𝑃𝑜𝑠𝑡</m:t>
                        </m:r>
                      </m:e>
                      <m:sub>
                        <m:r>
                          <a:rPr lang="en-US" b="0" i="1" dirty="0" smtClean="0">
                            <a:latin typeface="Cambria Math" panose="02040503050406030204" pitchFamily="18" charset="0"/>
                          </a:rPr>
                          <m:t>𝑖𝑡</m:t>
                        </m:r>
                      </m:sub>
                    </m:sSub>
                  </m:oMath>
                </a14:m>
                <a:r>
                  <a:rPr lang="en-US" dirty="0"/>
                  <a:t>)</a:t>
                </a:r>
                <a:r>
                  <a:rPr lang="el-GR" dirty="0"/>
                  <a:t> </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𝑇𝑟𝑒𝑎𝑡𝑒𝑑</m:t>
                        </m:r>
                      </m:e>
                      <m:sub>
                        <m:r>
                          <a:rPr lang="en-US" i="1">
                            <a:latin typeface="Cambria Math" panose="02040503050406030204" pitchFamily="18" charset="0"/>
                          </a:rPr>
                          <m:t>𝑖</m:t>
                        </m:r>
                      </m:sub>
                    </m:sSub>
                    <m:r>
                      <m:rPr>
                        <m:nor/>
                      </m:rPr>
                      <a:rPr lang="en-US" b="0" i="0" smtClean="0">
                        <a:latin typeface="Cambria Math" panose="02040503050406030204" pitchFamily="18" charset="0"/>
                      </a:rPr>
                      <m:t> </m:t>
                    </m:r>
                    <m:r>
                      <m:rPr>
                        <m:nor/>
                      </m:rPr>
                      <a:rPr lang="en-US"/>
                      <m:t>·</m:t>
                    </m:r>
                    <m:r>
                      <m:rPr>
                        <m:nor/>
                      </m:rPr>
                      <a:rPr lang="en-US" b="0" i="0" smtClean="0"/>
                      <m:t> </m:t>
                    </m:r>
                    <m:sSub>
                      <m:sSubPr>
                        <m:ctrlPr>
                          <a:rPr lang="el-GR" i="1" dirty="0">
                            <a:latin typeface="Cambria Math" panose="02040503050406030204" pitchFamily="18" charset="0"/>
                          </a:rPr>
                        </m:ctrlPr>
                      </m:sSubPr>
                      <m:e>
                        <m:r>
                          <a:rPr lang="en-US" i="1" dirty="0">
                            <a:latin typeface="Cambria Math" panose="02040503050406030204" pitchFamily="18" charset="0"/>
                          </a:rPr>
                          <m:t>𝑃𝑜𝑠𝑡</m:t>
                        </m:r>
                      </m:e>
                      <m:sub>
                        <m:r>
                          <a:rPr lang="en-US" i="1" dirty="0">
                            <a:latin typeface="Cambria Math" panose="02040503050406030204" pitchFamily="18" charset="0"/>
                          </a:rPr>
                          <m:t>𝑖𝑡</m:t>
                        </m:r>
                      </m:sub>
                    </m:sSub>
                  </m:oMath>
                </a14:m>
                <a:r>
                  <a:rPr lang="en-US" dirty="0"/>
                  <a:t> </a:t>
                </a:r>
                <a14:m>
                  <m:oMath xmlns:m="http://schemas.openxmlformats.org/officeDocument/2006/math">
                    <m:r>
                      <m:rPr>
                        <m:nor/>
                      </m:rPr>
                      <a:rPr lang="en-US"/>
                      <m:t>·</m:t>
                    </m:r>
                    <m:r>
                      <m:rPr>
                        <m:nor/>
                      </m:rPr>
                      <a:rPr lang="en-US" b="0" i="0" smtClean="0"/>
                      <m:t> </m:t>
                    </m:r>
                    <m:r>
                      <a:rPr lang="en-US" b="0" i="1" smtClean="0">
                        <a:latin typeface="Cambria Math" panose="02040503050406030204" pitchFamily="18" charset="0"/>
                      </a:rPr>
                      <m:t>𝑡𝑜𝑡𝑎𝑙𝑐𝑜𝑠𝑡</m:t>
                    </m:r>
                    <m:r>
                      <a:rPr lang="en-US" b="0" i="1" smtClean="0">
                        <a:latin typeface="Cambria Math" panose="02040503050406030204" pitchFamily="18" charset="0"/>
                      </a:rPr>
                      <m:t>)</m:t>
                    </m:r>
                    <m:sSub>
                      <m:sSubPr>
                        <m:ctrlPr>
                          <a:rPr lang="el-GR" i="1" dirty="0">
                            <a:latin typeface="Cambria Math" panose="02040503050406030204" pitchFamily="18" charset="0"/>
                          </a:rPr>
                        </m:ctrlPr>
                      </m:sSubPr>
                      <m:e>
                        <m:r>
                          <a:rPr lang="en-US" b="0" i="1" dirty="0" smtClean="0">
                            <a:latin typeface="Cambria Math" panose="02040503050406030204" pitchFamily="18" charset="0"/>
                          </a:rPr>
                          <m:t>+ </m:t>
                        </m:r>
                        <m:r>
                          <a:rPr lang="en-US" i="1" dirty="0">
                            <a:latin typeface="Cambria Math" panose="02040503050406030204" pitchFamily="18" charset="0"/>
                          </a:rPr>
                          <m:t>𝑎</m:t>
                        </m:r>
                      </m:e>
                      <m:sub>
                        <m:r>
                          <a:rPr lang="en-US" i="1" dirty="0">
                            <a:latin typeface="Cambria Math" panose="02040503050406030204" pitchFamily="18" charset="0"/>
                          </a:rPr>
                          <m:t>𝑖</m:t>
                        </m:r>
                        <m:r>
                          <a:rPr lang="en-US" i="1" dirty="0">
                            <a:latin typeface="Cambria Math" panose="02040503050406030204" pitchFamily="18" charset="0"/>
                          </a:rPr>
                          <m:t> </m:t>
                        </m:r>
                      </m:sub>
                    </m:sSub>
                    <m:r>
                      <a:rPr lang="en-US" i="1" dirty="0">
                        <a:latin typeface="Cambria Math" panose="02040503050406030204" pitchFamily="18" charset="0"/>
                      </a:rPr>
                      <m:t>+</m:t>
                    </m:r>
                    <m:sSub>
                      <m:sSubPr>
                        <m:ctrlPr>
                          <a:rPr lang="el-GR" i="1" dirty="0">
                            <a:latin typeface="Cambria Math" panose="02040503050406030204" pitchFamily="18" charset="0"/>
                          </a:rPr>
                        </m:ctrlPr>
                      </m:sSubPr>
                      <m:e>
                        <m:r>
                          <m:rPr>
                            <m:nor/>
                          </m:rPr>
                          <a:rPr lang="el-GR"/>
                          <m:t> </m:t>
                        </m:r>
                        <m:r>
                          <m:rPr>
                            <m:nor/>
                          </m:rPr>
                          <a:rPr lang="el-GR"/>
                          <m:t>ω</m:t>
                        </m:r>
                      </m:e>
                      <m:sub>
                        <m:r>
                          <a:rPr lang="en-US" i="1" dirty="0">
                            <a:latin typeface="Cambria Math" panose="02040503050406030204" pitchFamily="18" charset="0"/>
                          </a:rPr>
                          <m:t>𝑡</m:t>
                        </m:r>
                      </m:sub>
                    </m:sSub>
                    <m:r>
                      <a:rPr lang="en-US" i="1" dirty="0">
                        <a:latin typeface="Cambria Math" panose="02040503050406030204" pitchFamily="18" charset="0"/>
                      </a:rPr>
                      <m:t>+</m:t>
                    </m:r>
                    <m:sSub>
                      <m:sSubPr>
                        <m:ctrlPr>
                          <a:rPr lang="el-GR" i="1" dirty="0">
                            <a:latin typeface="Cambria Math" panose="02040503050406030204" pitchFamily="18" charset="0"/>
                          </a:rPr>
                        </m:ctrlPr>
                      </m:sSubPr>
                      <m:e>
                        <m:r>
                          <m:rPr>
                            <m:nor/>
                          </m:rPr>
                          <a:rPr lang="el-GR"/>
                          <m:t>ϵ</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𝑡</m:t>
                        </m:r>
                      </m:sub>
                    </m:sSub>
                  </m:oMath>
                </a14:m>
                <a:endParaRPr lang="en-US" dirty="0"/>
              </a:p>
            </p:txBody>
          </p:sp>
        </mc:Choice>
        <mc:Fallback xmlns="">
          <p:sp>
            <p:nvSpPr>
              <p:cNvPr id="4" name="TextBox 3">
                <a:extLst>
                  <a:ext uri="{FF2B5EF4-FFF2-40B4-BE49-F238E27FC236}">
                    <a16:creationId xmlns:a16="http://schemas.microsoft.com/office/drawing/2014/main" id="{63E1855F-284A-865E-ADBB-A0FCCDF4316A}"/>
                  </a:ext>
                </a:extLst>
              </p:cNvPr>
              <p:cNvSpPr txBox="1">
                <a:spLocks noRot="1" noChangeAspect="1" noMove="1" noResize="1" noEditPoints="1" noAdjustHandles="1" noChangeArrowheads="1" noChangeShapeType="1" noTextEdit="1"/>
              </p:cNvSpPr>
              <p:nvPr/>
            </p:nvSpPr>
            <p:spPr>
              <a:xfrm>
                <a:off x="6198795" y="576422"/>
                <a:ext cx="5396800" cy="671209"/>
              </a:xfrm>
              <a:prstGeom prst="rect">
                <a:avLst/>
              </a:prstGeom>
              <a:blipFill>
                <a:blip r:embed="rId3"/>
                <a:stretch>
                  <a:fillRect t="-3704" b="-740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AA50DE26-23F2-6606-0850-582303FF400E}"/>
              </a:ext>
            </a:extLst>
          </p:cNvPr>
          <p:cNvSpPr txBox="1"/>
          <p:nvPr/>
        </p:nvSpPr>
        <p:spPr>
          <a:xfrm>
            <a:off x="374951" y="2096392"/>
            <a:ext cx="4553879"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The baseline post term (0.0229) is the effect when cost = $0M (a meaningless baseline). Hence why it isn’t significant and not very interpretable.</a:t>
            </a:r>
          </a:p>
          <a:p>
            <a:endParaRPr lang="en-US" dirty="0"/>
          </a:p>
          <a:p>
            <a:pPr marL="285750" indent="-285750">
              <a:buFont typeface="Arial" panose="020B0604020202020204" pitchFamily="34" charset="0"/>
              <a:buChar char="•"/>
            </a:pPr>
            <a:r>
              <a:rPr lang="en-US" dirty="0"/>
              <a:t>With </a:t>
            </a:r>
            <a:r>
              <a:rPr lang="en-US" b="1" dirty="0"/>
              <a:t>post × </a:t>
            </a:r>
            <a:r>
              <a:rPr lang="en-US" b="1" dirty="0" err="1"/>
              <a:t>totalcost</a:t>
            </a:r>
            <a:r>
              <a:rPr lang="en-US" b="1" dirty="0"/>
              <a:t> </a:t>
            </a:r>
            <a:r>
              <a:rPr lang="en-US" dirty="0"/>
              <a:t>(in $2020M) the post effect rises by 0.21% per $100M of project cost.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13" name="Picture 12" descr="A screenshot of a computer&#10;&#10;AI-generated content may be incorrect.">
            <a:extLst>
              <a:ext uri="{FF2B5EF4-FFF2-40B4-BE49-F238E27FC236}">
                <a16:creationId xmlns:a16="http://schemas.microsoft.com/office/drawing/2014/main" id="{1B7E2CD8-7B60-3C89-83F6-A06C4DB40DCF}"/>
              </a:ext>
            </a:extLst>
          </p:cNvPr>
          <p:cNvPicPr>
            <a:picLocks noChangeAspect="1"/>
          </p:cNvPicPr>
          <p:nvPr/>
        </p:nvPicPr>
        <p:blipFill>
          <a:blip r:embed="rId4"/>
          <a:stretch>
            <a:fillRect/>
          </a:stretch>
        </p:blipFill>
        <p:spPr>
          <a:xfrm>
            <a:off x="5545571" y="1660330"/>
            <a:ext cx="6286545" cy="1237907"/>
          </a:xfrm>
          <a:prstGeom prst="rect">
            <a:avLst/>
          </a:prstGeom>
        </p:spPr>
      </p:pic>
      <p:pic>
        <p:nvPicPr>
          <p:cNvPr id="15" name="Picture 14" descr="A close-up of a calculator&#10;&#10;AI-generated content may be incorrect.">
            <a:extLst>
              <a:ext uri="{FF2B5EF4-FFF2-40B4-BE49-F238E27FC236}">
                <a16:creationId xmlns:a16="http://schemas.microsoft.com/office/drawing/2014/main" id="{0F520102-B14C-3D0A-8DA4-E7F3ABBC5724}"/>
              </a:ext>
            </a:extLst>
          </p:cNvPr>
          <p:cNvPicPr>
            <a:picLocks noChangeAspect="1"/>
          </p:cNvPicPr>
          <p:nvPr/>
        </p:nvPicPr>
        <p:blipFill>
          <a:blip r:embed="rId5"/>
          <a:stretch>
            <a:fillRect/>
          </a:stretch>
        </p:blipFill>
        <p:spPr>
          <a:xfrm>
            <a:off x="5506319" y="3280956"/>
            <a:ext cx="6325798" cy="1534841"/>
          </a:xfrm>
          <a:prstGeom prst="rect">
            <a:avLst/>
          </a:prstGeom>
        </p:spPr>
      </p:pic>
    </p:spTree>
    <p:extLst>
      <p:ext uri="{BB962C8B-B14F-4D97-AF65-F5344CB8AC3E}">
        <p14:creationId xmlns:p14="http://schemas.microsoft.com/office/powerpoint/2010/main" val="391882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EDA2D-889A-F42C-5183-D1E46A39DA0B}"/>
              </a:ext>
            </a:extLst>
          </p:cNvPr>
          <p:cNvSpPr>
            <a:spLocks noGrp="1"/>
          </p:cNvSpPr>
          <p:nvPr>
            <p:ph type="title"/>
          </p:nvPr>
        </p:nvSpPr>
        <p:spPr>
          <a:xfrm>
            <a:off x="876693" y="741392"/>
            <a:ext cx="3419359" cy="939128"/>
          </a:xfrm>
        </p:spPr>
        <p:txBody>
          <a:bodyPr anchor="b">
            <a:normAutofit/>
          </a:bodyPr>
          <a:lstStyle/>
          <a:p>
            <a:r>
              <a:rPr lang="en-US" sz="3200" dirty="0"/>
              <a:t>Public vs Private</a:t>
            </a:r>
          </a:p>
        </p:txBody>
      </p:sp>
      <p:sp>
        <p:nvSpPr>
          <p:cNvPr id="24" name="Content Placeholder 8">
            <a:extLst>
              <a:ext uri="{FF2B5EF4-FFF2-40B4-BE49-F238E27FC236}">
                <a16:creationId xmlns:a16="http://schemas.microsoft.com/office/drawing/2014/main" id="{B553AA54-F7FF-39C7-ABC5-7E5F35A0C812}"/>
              </a:ext>
            </a:extLst>
          </p:cNvPr>
          <p:cNvSpPr>
            <a:spLocks noGrp="1"/>
          </p:cNvSpPr>
          <p:nvPr>
            <p:ph idx="1"/>
          </p:nvPr>
        </p:nvSpPr>
        <p:spPr>
          <a:xfrm>
            <a:off x="518984" y="2039204"/>
            <a:ext cx="3813531" cy="4361595"/>
          </a:xfrm>
        </p:spPr>
        <p:txBody>
          <a:bodyPr anchor="t">
            <a:normAutofit/>
          </a:bodyPr>
          <a:lstStyle/>
          <a:p>
            <a:r>
              <a:rPr lang="en-US" sz="1700" dirty="0"/>
              <a:t>Baseline post effect when cost = 0 and public = 0 is not meaningful.</a:t>
            </a:r>
          </a:p>
          <a:p>
            <a:r>
              <a:rPr lang="en-US" sz="1700" dirty="0"/>
              <a:t>Post x </a:t>
            </a:r>
            <a:r>
              <a:rPr lang="en-US" sz="1700" dirty="0" err="1"/>
              <a:t>totalcost</a:t>
            </a:r>
            <a:r>
              <a:rPr lang="en-US" sz="1700" dirty="0"/>
              <a:t> is still statistically significant, only this time an additional $100 million of budget raises the post effect by 0.187%</a:t>
            </a:r>
          </a:p>
          <a:p>
            <a:r>
              <a:rPr lang="en-US" sz="1700" b="1" dirty="0"/>
              <a:t>Post x public: </a:t>
            </a:r>
            <a:r>
              <a:rPr lang="en-US" sz="1700" dirty="0"/>
              <a:t>after controlling for total cost, public financing does not measurably change the post effect vs. private projects</a:t>
            </a:r>
          </a:p>
          <a:p>
            <a:pPr marL="457200" lvl="1" indent="0">
              <a:buNone/>
            </a:pPr>
            <a:endParaRPr lang="en-US" sz="1700" dirty="0"/>
          </a:p>
          <a:p>
            <a:endParaRPr lang="en-US" sz="1700" dirty="0"/>
          </a:p>
          <a:p>
            <a:endParaRPr lang="en-US" sz="1700" dirty="0"/>
          </a:p>
        </p:txBody>
      </p:sp>
      <p:grpSp>
        <p:nvGrpSpPr>
          <p:cNvPr id="36" name="Group 35">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37" name="Rectangle 36">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screenshot of a computer&#10;&#10;AI-generated content may be incorrect.">
            <a:extLst>
              <a:ext uri="{FF2B5EF4-FFF2-40B4-BE49-F238E27FC236}">
                <a16:creationId xmlns:a16="http://schemas.microsoft.com/office/drawing/2014/main" id="{10F05DC9-46A3-4F7A-BBE9-CAD9FFDEF8CE}"/>
              </a:ext>
            </a:extLst>
          </p:cNvPr>
          <p:cNvPicPr>
            <a:picLocks noChangeAspect="1"/>
          </p:cNvPicPr>
          <p:nvPr/>
        </p:nvPicPr>
        <p:blipFill>
          <a:blip r:embed="rId3"/>
          <a:stretch>
            <a:fillRect/>
          </a:stretch>
        </p:blipFill>
        <p:spPr>
          <a:xfrm>
            <a:off x="4932491" y="1198248"/>
            <a:ext cx="6865888" cy="1681912"/>
          </a:xfrm>
          <a:prstGeom prst="rect">
            <a:avLst/>
          </a:prstGeom>
        </p:spPr>
      </p:pic>
      <p:pic>
        <p:nvPicPr>
          <p:cNvPr id="7" name="Picture 6" descr="A white paper with black text&#10;&#10;AI-generated content may be incorrect.">
            <a:extLst>
              <a:ext uri="{FF2B5EF4-FFF2-40B4-BE49-F238E27FC236}">
                <a16:creationId xmlns:a16="http://schemas.microsoft.com/office/drawing/2014/main" id="{20BC579E-10F4-4B1C-F945-E3748FE8EED0}"/>
              </a:ext>
            </a:extLst>
          </p:cNvPr>
          <p:cNvPicPr>
            <a:picLocks noChangeAspect="1"/>
          </p:cNvPicPr>
          <p:nvPr/>
        </p:nvPicPr>
        <p:blipFill>
          <a:blip r:embed="rId4"/>
          <a:stretch>
            <a:fillRect/>
          </a:stretch>
        </p:blipFill>
        <p:spPr>
          <a:xfrm>
            <a:off x="4932491" y="3075825"/>
            <a:ext cx="6740525" cy="1693271"/>
          </a:xfrm>
          <a:prstGeom prst="rect">
            <a:avLst/>
          </a:prstGeom>
        </p:spPr>
      </p:pic>
    </p:spTree>
    <p:extLst>
      <p:ext uri="{BB962C8B-B14F-4D97-AF65-F5344CB8AC3E}">
        <p14:creationId xmlns:p14="http://schemas.microsoft.com/office/powerpoint/2010/main" val="3176704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036A9-C4EA-88BE-6DB1-67F748672D25}"/>
              </a:ext>
            </a:extLst>
          </p:cNvPr>
          <p:cNvSpPr>
            <a:spLocks noGrp="1"/>
          </p:cNvSpPr>
          <p:nvPr>
            <p:ph type="title"/>
          </p:nvPr>
        </p:nvSpPr>
        <p:spPr/>
        <p:txBody>
          <a:bodyPr/>
          <a:lstStyle/>
          <a:p>
            <a:r>
              <a:rPr lang="en-US" dirty="0"/>
              <a:t>Staggered </a:t>
            </a:r>
            <a:r>
              <a:rPr lang="en-US" dirty="0" err="1"/>
              <a:t>DiD</a:t>
            </a:r>
            <a:r>
              <a:rPr lang="en-US" dirty="0">
                <a:sym typeface="Wingdings" pitchFamily="2" charset="2"/>
              </a:rPr>
              <a:t> Event Study</a:t>
            </a:r>
            <a:endParaRPr lang="en-US" dirty="0"/>
          </a:p>
        </p:txBody>
      </p:sp>
      <p:sp>
        <p:nvSpPr>
          <p:cNvPr id="3" name="Text Placeholder 2">
            <a:extLst>
              <a:ext uri="{FF2B5EF4-FFF2-40B4-BE49-F238E27FC236}">
                <a16:creationId xmlns:a16="http://schemas.microsoft.com/office/drawing/2014/main" id="{07037471-6CDB-83F6-52C3-10FF2896E7E2}"/>
              </a:ext>
            </a:extLst>
          </p:cNvPr>
          <p:cNvSpPr>
            <a:spLocks noGrp="1"/>
          </p:cNvSpPr>
          <p:nvPr>
            <p:ph type="body" idx="1"/>
          </p:nvPr>
        </p:nvSpPr>
        <p:spPr/>
        <p:txBody>
          <a:bodyPr/>
          <a:lstStyle/>
          <a:p>
            <a:r>
              <a:rPr lang="en-US" dirty="0"/>
              <a:t>Staggered </a:t>
            </a:r>
            <a:r>
              <a:rPr lang="en-US" dirty="0" err="1"/>
              <a:t>DiD</a:t>
            </a:r>
            <a:endParaRPr lang="en-US" dirty="0"/>
          </a:p>
        </p:txBody>
      </p:sp>
      <p:sp>
        <p:nvSpPr>
          <p:cNvPr id="4" name="Content Placeholder 3">
            <a:extLst>
              <a:ext uri="{FF2B5EF4-FFF2-40B4-BE49-F238E27FC236}">
                <a16:creationId xmlns:a16="http://schemas.microsoft.com/office/drawing/2014/main" id="{75D6428D-6D20-0EE8-CC99-72CD9DBECE66}"/>
              </a:ext>
            </a:extLst>
          </p:cNvPr>
          <p:cNvSpPr>
            <a:spLocks noGrp="1"/>
          </p:cNvSpPr>
          <p:nvPr>
            <p:ph sz="half" idx="2"/>
          </p:nvPr>
        </p:nvSpPr>
        <p:spPr/>
        <p:txBody>
          <a:bodyPr>
            <a:normAutofit fontScale="70000" lnSpcReduction="20000"/>
          </a:bodyPr>
          <a:lstStyle/>
          <a:p>
            <a:r>
              <a:rPr lang="en-US" dirty="0"/>
              <a:t>Compare metros with openings to those without, before vs. after opening (via TWFE)</a:t>
            </a:r>
          </a:p>
          <a:p>
            <a:r>
              <a:rPr lang="en-US" dirty="0"/>
              <a:t>Coefficients captured the avg. post opening change in home prices</a:t>
            </a:r>
          </a:p>
          <a:p>
            <a:pPr lvl="1"/>
            <a:r>
              <a:rPr lang="en-US" dirty="0"/>
              <a:t>Interaction told us costlier projects moved prices more</a:t>
            </a:r>
          </a:p>
          <a:p>
            <a:r>
              <a:rPr lang="en-US" dirty="0"/>
              <a:t>Limitation is that these models collapse all post-opening months into a single “post” effect</a:t>
            </a:r>
          </a:p>
          <a:p>
            <a:pPr lvl="1"/>
            <a:r>
              <a:rPr lang="en-US" dirty="0"/>
              <a:t>Can’t see </a:t>
            </a:r>
            <a:r>
              <a:rPr lang="en-US" i="1" dirty="0"/>
              <a:t>when</a:t>
            </a:r>
            <a:r>
              <a:rPr lang="en-US" dirty="0"/>
              <a:t> prices move before and after</a:t>
            </a:r>
          </a:p>
          <a:p>
            <a:r>
              <a:rPr lang="en-US" dirty="0"/>
              <a:t>Econometric issues</a:t>
            </a:r>
          </a:p>
          <a:p>
            <a:pPr lvl="1"/>
            <a:r>
              <a:rPr lang="en-US" dirty="0"/>
              <a:t>Bias</a:t>
            </a:r>
          </a:p>
          <a:p>
            <a:pPr lvl="1"/>
            <a:r>
              <a:rPr lang="en-US" dirty="0"/>
              <a:t>Misleading average</a:t>
            </a:r>
          </a:p>
          <a:p>
            <a:pPr lvl="1"/>
            <a:endParaRPr lang="en-US" dirty="0"/>
          </a:p>
          <a:p>
            <a:endParaRPr lang="en-US" dirty="0"/>
          </a:p>
          <a:p>
            <a:endParaRPr lang="en-US" dirty="0"/>
          </a:p>
        </p:txBody>
      </p:sp>
      <p:sp>
        <p:nvSpPr>
          <p:cNvPr id="5" name="Text Placeholder 4">
            <a:extLst>
              <a:ext uri="{FF2B5EF4-FFF2-40B4-BE49-F238E27FC236}">
                <a16:creationId xmlns:a16="http://schemas.microsoft.com/office/drawing/2014/main" id="{4F5AA755-CB95-FFEE-5C9E-D69F9D5DD54A}"/>
              </a:ext>
            </a:extLst>
          </p:cNvPr>
          <p:cNvSpPr>
            <a:spLocks noGrp="1"/>
          </p:cNvSpPr>
          <p:nvPr>
            <p:ph type="body" sz="quarter" idx="3"/>
          </p:nvPr>
        </p:nvSpPr>
        <p:spPr/>
        <p:txBody>
          <a:bodyPr/>
          <a:lstStyle/>
          <a:p>
            <a:r>
              <a:rPr lang="en-US" dirty="0"/>
              <a:t>Event Study</a:t>
            </a:r>
          </a:p>
        </p:txBody>
      </p:sp>
      <p:sp>
        <p:nvSpPr>
          <p:cNvPr id="6" name="Content Placeholder 5">
            <a:extLst>
              <a:ext uri="{FF2B5EF4-FFF2-40B4-BE49-F238E27FC236}">
                <a16:creationId xmlns:a16="http://schemas.microsoft.com/office/drawing/2014/main" id="{89D1A9FA-BE9E-604F-AA0F-FB691B74D163}"/>
              </a:ext>
            </a:extLst>
          </p:cNvPr>
          <p:cNvSpPr>
            <a:spLocks noGrp="1"/>
          </p:cNvSpPr>
          <p:nvPr>
            <p:ph sz="quarter" idx="4"/>
          </p:nvPr>
        </p:nvSpPr>
        <p:spPr/>
        <p:txBody>
          <a:bodyPr>
            <a:normAutofit fontScale="70000" lnSpcReduction="20000"/>
          </a:bodyPr>
          <a:lstStyle/>
          <a:p>
            <a:r>
              <a:rPr lang="en-US" dirty="0"/>
              <a:t>Generalizes the TWFE </a:t>
            </a:r>
            <a:r>
              <a:rPr lang="en-US" dirty="0" err="1"/>
              <a:t>DiD</a:t>
            </a:r>
            <a:r>
              <a:rPr lang="en-US" dirty="0"/>
              <a:t> by replacing one “post” dummy with many event-time dummies representing ”k” months before and after opening</a:t>
            </a:r>
          </a:p>
          <a:p>
            <a:r>
              <a:rPr lang="en-US" dirty="0"/>
              <a:t>Let’s us visualize dynamics (build-ups, peaks, fades) </a:t>
            </a:r>
          </a:p>
          <a:p>
            <a:r>
              <a:rPr lang="en-US" dirty="0"/>
              <a:t>Let’s us check for any pre-trends (were home prices already moving in a particular path?)</a:t>
            </a:r>
          </a:p>
        </p:txBody>
      </p:sp>
    </p:spTree>
    <p:extLst>
      <p:ext uri="{BB962C8B-B14F-4D97-AF65-F5344CB8AC3E}">
        <p14:creationId xmlns:p14="http://schemas.microsoft.com/office/powerpoint/2010/main" val="298590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C42B51-3030-25DD-E3BB-C59C5BE96DE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A6457B-9CC2-C5C5-7FC0-258D7CC198F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Method 2: Event Study</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2147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BA8AD-A3B6-3E58-5E8F-8E6E42D1197D}"/>
              </a:ext>
            </a:extLst>
          </p:cNvPr>
          <p:cNvSpPr>
            <a:spLocks noGrp="1"/>
          </p:cNvSpPr>
          <p:nvPr>
            <p:ph type="title"/>
          </p:nvPr>
        </p:nvSpPr>
        <p:spPr/>
        <p:txBody>
          <a:bodyPr/>
          <a:lstStyle/>
          <a:p>
            <a:r>
              <a:rPr lang="en-US" dirty="0"/>
              <a:t>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FB6D37D-5234-30AE-FB0C-0197EBEEB119}"/>
                  </a:ext>
                </a:extLst>
              </p:cNvPr>
              <p:cNvSpPr>
                <a:spLocks noGrp="1"/>
              </p:cNvSpPr>
              <p:nvPr>
                <p:ph idx="1"/>
              </p:nvPr>
            </p:nvSpPr>
            <p:spPr>
              <a:xfrm>
                <a:off x="838200" y="1690688"/>
                <a:ext cx="10515600" cy="4351338"/>
              </a:xfrm>
            </p:spPr>
            <p:txBody>
              <a:bodyPr>
                <a:normAutofit fontScale="77500" lnSpcReduction="20000"/>
              </a:bodyPr>
              <a:lstStyle/>
              <a:p>
                <a:pPr marL="514350" indent="-514350">
                  <a:lnSpc>
                    <a:spcPct val="110000"/>
                  </a:lnSpc>
                  <a:buAutoNum type="arabicPeriod"/>
                </a:pPr>
                <a:r>
                  <a:rPr lang="en-US" b="1" dirty="0"/>
                  <a:t>Line up time around the event: </a:t>
                </a:r>
                <a:r>
                  <a:rPr lang="en-US" dirty="0"/>
                  <a:t>Instead of using calendar months (MM-YY), we relabel time as “event time.” Example: k = –36 is 36 months before opening, k = –12 is 12 months before, k = 0 is the opening month, k = 1 is one month after, etc.</a:t>
                </a:r>
              </a:p>
              <a:p>
                <a:pPr marL="514350" indent="-514350">
                  <a:lnSpc>
                    <a:spcPct val="110000"/>
                  </a:lnSpc>
                  <a:buAutoNum type="arabicPeriod"/>
                </a:pPr>
                <a:r>
                  <a:rPr lang="en-US" b="1" dirty="0"/>
                  <a:t>Compare to a baseline: </a:t>
                </a:r>
                <a:r>
                  <a:rPr lang="en-US" dirty="0"/>
                  <a:t>We need one reference month to compare everything to. We set k = –1 (the month right before the venue opens) as the baseline. All effects are measured relative to this “zero point.”</a:t>
                </a:r>
              </a:p>
              <a:p>
                <a:pPr marL="514350" indent="-514350">
                  <a:lnSpc>
                    <a:spcPct val="110000"/>
                  </a:lnSpc>
                  <a:buAutoNum type="arabicPeriod"/>
                </a:pPr>
                <a:r>
                  <a:rPr lang="en-US" b="1" dirty="0"/>
                  <a:t>Add fixed effects </a:t>
                </a:r>
                <a:r>
                  <a:rPr lang="en-US" dirty="0"/>
                  <a:t>to clean out noise.</a:t>
                </a:r>
              </a:p>
              <a:p>
                <a:pPr marL="514350" indent="-514350">
                  <a:lnSpc>
                    <a:spcPct val="110000"/>
                  </a:lnSpc>
                  <a:buAutoNum type="arabicPeriod"/>
                </a:pPr>
                <a:r>
                  <a:rPr lang="en-US" b="1" dirty="0"/>
                  <a:t>Estimate a coefficient for each event month: </a:t>
                </a:r>
                <a:r>
                  <a:rPr lang="en-US" dirty="0"/>
                  <a:t>For each k, we estimate how home values differ from the baseline month (k = –1).</a:t>
                </a:r>
              </a:p>
              <a:p>
                <a:pPr marL="514350" indent="-514350">
                  <a:lnSpc>
                    <a:spcPct val="110000"/>
                  </a:lnSpc>
                  <a:buFont typeface="Arial" panose="020B0604020202020204" pitchFamily="34" charset="0"/>
                  <a:buAutoNum type="arabicPeriod"/>
                </a:pPr>
                <a:r>
                  <a:rPr lang="en-US" b="1" dirty="0"/>
                  <a:t> </a:t>
                </a:r>
                <a14:m>
                  <m:oMath xmlns:m="http://schemas.openxmlformats.org/officeDocument/2006/math">
                    <m:sSub>
                      <m:sSubPr>
                        <m:ctrlPr>
                          <a:rPr lang="en-US" b="1" i="1" dirty="0">
                            <a:latin typeface="Cambria Math" panose="02040503050406030204" pitchFamily="18" charset="0"/>
                          </a:rPr>
                        </m:ctrlPr>
                      </m:sSubPr>
                      <m:e>
                        <m:r>
                          <a:rPr lang="en-US" b="1" i="1" dirty="0" smtClean="0">
                            <a:latin typeface="Cambria Math" panose="02040503050406030204" pitchFamily="18" charset="0"/>
                            <a:ea typeface="Cambria Math" panose="02040503050406030204" pitchFamily="18" charset="0"/>
                          </a:rPr>
                          <m:t>𝜽</m:t>
                        </m:r>
                      </m:e>
                      <m:sub>
                        <m:r>
                          <a:rPr lang="en-US" b="1" i="1" dirty="0" smtClean="0">
                            <a:latin typeface="Cambria Math" panose="02040503050406030204" pitchFamily="18" charset="0"/>
                          </a:rPr>
                          <m:t>𝒌</m:t>
                        </m:r>
                      </m:sub>
                    </m:sSub>
                    <m:r>
                      <a:rPr lang="en-US" b="1" i="1" dirty="0" smtClean="0">
                        <a:latin typeface="Cambria Math" panose="02040503050406030204" pitchFamily="18" charset="0"/>
                      </a:rPr>
                      <m:t> </m:t>
                    </m:r>
                  </m:oMath>
                </a14:m>
                <a:r>
                  <a:rPr lang="en-US" b="1" dirty="0">
                    <a:latin typeface="Cambria" panose="02040503050406030204" pitchFamily="18" charset="0"/>
                  </a:rPr>
                  <a:t>:</a:t>
                </a:r>
                <a:r>
                  <a:rPr lang="en-US" dirty="0"/>
                  <a:t> tells us the effect on home values </a:t>
                </a:r>
                <a:r>
                  <a:rPr lang="en-US" i="1" dirty="0"/>
                  <a:t>k months from the opening</a:t>
                </a:r>
                <a:r>
                  <a:rPr lang="en-US" dirty="0"/>
                  <a:t>, relative to the month right before opening.</a:t>
                </a:r>
              </a:p>
              <a:p>
                <a:pPr marL="514350" indent="-514350">
                  <a:lnSpc>
                    <a:spcPct val="110000"/>
                  </a:lnSpc>
                  <a:buAutoNum type="arabicPeriod"/>
                </a:pPr>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6FB6D37D-5234-30AE-FB0C-0197EBEEB119}"/>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3"/>
                <a:stretch>
                  <a:fillRect l="-844" t="-1744" r="-36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F646E42-9264-2B41-03D2-95F9BA05E223}"/>
                  </a:ext>
                </a:extLst>
              </p:cNvPr>
              <p:cNvSpPr txBox="1"/>
              <p:nvPr/>
            </p:nvSpPr>
            <p:spPr>
              <a:xfrm>
                <a:off x="3268402" y="762288"/>
                <a:ext cx="8651823" cy="531236"/>
              </a:xfrm>
              <a:prstGeom prst="rect">
                <a:avLst/>
              </a:prstGeom>
              <a:noFill/>
            </p:spPr>
            <p:txBody>
              <a:bodyPr wrap="squar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𝑙𝑛𝑍𝐻𝑉𝐼</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oMath>
                </a14:m>
                <a:r>
                  <a:rPr lang="en-US" sz="2400" dirty="0"/>
                  <a:t> </a:t>
                </a:r>
                <a14:m>
                  <m:oMath xmlns:m="http://schemas.openxmlformats.org/officeDocument/2006/math">
                    <m:sSub>
                      <m:sSubPr>
                        <m:ctrlPr>
                          <a:rPr lang="el-GR" sz="2400" i="1" dirty="0">
                            <a:latin typeface="Cambria Math" panose="02040503050406030204" pitchFamily="18" charset="0"/>
                          </a:rPr>
                        </m:ctrlPr>
                      </m:sSubPr>
                      <m:e>
                        <m:r>
                          <a:rPr lang="en-US" sz="2400" i="1" dirty="0">
                            <a:latin typeface="Cambria Math" panose="02040503050406030204" pitchFamily="18" charset="0"/>
                          </a:rPr>
                          <m:t>𝑎</m:t>
                        </m:r>
                      </m:e>
                      <m:sub>
                        <m:r>
                          <a:rPr lang="en-US" sz="2400" i="1" dirty="0">
                            <a:latin typeface="Cambria Math" panose="02040503050406030204" pitchFamily="18" charset="0"/>
                          </a:rPr>
                          <m:t>𝑖</m:t>
                        </m:r>
                        <m:r>
                          <a:rPr lang="en-US" sz="2400" i="1" dirty="0">
                            <a:latin typeface="Cambria Math" panose="02040503050406030204" pitchFamily="18" charset="0"/>
                          </a:rPr>
                          <m:t> </m:t>
                        </m:r>
                      </m:sub>
                    </m:sSub>
                    <m:r>
                      <a:rPr lang="en-US" sz="2400" i="1" dirty="0">
                        <a:latin typeface="Cambria Math" panose="02040503050406030204" pitchFamily="18" charset="0"/>
                      </a:rPr>
                      <m:t>+</m:t>
                    </m:r>
                    <m:sSub>
                      <m:sSubPr>
                        <m:ctrlPr>
                          <a:rPr lang="el-GR" sz="2400" i="1" dirty="0">
                            <a:latin typeface="Cambria Math" panose="02040503050406030204" pitchFamily="18" charset="0"/>
                          </a:rPr>
                        </m:ctrlPr>
                      </m:sSubPr>
                      <m:e>
                        <m:r>
                          <m:rPr>
                            <m:nor/>
                          </m:rPr>
                          <a:rPr lang="el-GR" sz="2400"/>
                          <m:t> </m:t>
                        </m:r>
                        <m:r>
                          <m:rPr>
                            <m:nor/>
                          </m:rPr>
                          <a:rPr lang="el-GR" sz="2400"/>
                          <m:t>ω</m:t>
                        </m:r>
                      </m:e>
                      <m:sub>
                        <m:r>
                          <a:rPr lang="en-US" sz="2400" i="1" dirty="0">
                            <a:latin typeface="Cambria Math" panose="02040503050406030204" pitchFamily="18" charset="0"/>
                          </a:rPr>
                          <m:t>𝑡</m:t>
                        </m:r>
                      </m:sub>
                    </m:sSub>
                    <m:r>
                      <a:rPr lang="en-US" sz="2400" i="1" dirty="0">
                        <a:latin typeface="Cambria Math" panose="02040503050406030204" pitchFamily="18" charset="0"/>
                      </a:rPr>
                      <m:t>+</m:t>
                    </m:r>
                    <m:nary>
                      <m:naryPr>
                        <m:chr m:val="∑"/>
                        <m:ctrlPr>
                          <a:rPr lang="en-US" sz="2400" i="1"/>
                        </m:ctrlPr>
                      </m:naryPr>
                      <m:sub>
                        <m:r>
                          <a:rPr lang="en-US" sz="2400" i="1"/>
                          <m:t>𝑘</m:t>
                        </m:r>
                        <m:r>
                          <a:rPr lang="en-US" sz="2400" i="1"/>
                          <m:t>≠−1</m:t>
                        </m:r>
                      </m:sub>
                      <m:sup/>
                      <m:e>
                        <m:sSub>
                          <m:sSubPr>
                            <m:ctrlPr>
                              <a:rPr lang="en-US" sz="2400" i="1"/>
                            </m:ctrlPr>
                          </m:sSubPr>
                          <m:e>
                            <m:r>
                              <a:rPr lang="en-US" sz="2400" i="1"/>
                              <m:t>𝜃</m:t>
                            </m:r>
                          </m:e>
                          <m:sub>
                            <m:r>
                              <a:rPr lang="en-US" sz="2400" i="1"/>
                              <m:t>𝑘</m:t>
                            </m:r>
                          </m:sub>
                        </m:sSub>
                        <m:r>
                          <a:rPr lang="en-US" sz="2400" i="1"/>
                          <m:t>∗1</m:t>
                        </m:r>
                        <m:r>
                          <a:rPr lang="en-US" sz="2400" b="0" i="1" smtClean="0">
                            <a:latin typeface="Cambria Math" panose="02040503050406030204" pitchFamily="18" charset="0"/>
                          </a:rPr>
                          <m:t>{</m:t>
                        </m:r>
                        <m:r>
                          <a:rPr lang="en-US" sz="2400" i="1"/>
                          <m:t>𝑘</m:t>
                        </m:r>
                        <m:r>
                          <a:rPr lang="en-US" sz="2400" i="1"/>
                          <m:t>=</m:t>
                        </m:r>
                        <m:r>
                          <a:rPr lang="en-US" sz="2400" i="1"/>
                          <m:t>𝑡</m:t>
                        </m:r>
                        <m:r>
                          <a:rPr lang="en-US" sz="2400" i="1"/>
                          <m:t>− </m:t>
                        </m:r>
                        <m:sSub>
                          <m:sSubPr>
                            <m:ctrlPr>
                              <a:rPr lang="en-US" sz="2400" i="1"/>
                            </m:ctrlPr>
                          </m:sSubPr>
                          <m:e>
                            <m:r>
                              <a:rPr lang="en-US" sz="2400" i="1"/>
                              <m:t>𝑡</m:t>
                            </m:r>
                          </m:e>
                          <m:sub>
                            <m:r>
                              <a:rPr lang="en-US" sz="2400" i="1"/>
                              <m:t>0</m:t>
                            </m:r>
                          </m:sub>
                        </m:sSub>
                        <m:r>
                          <a:rPr lang="en-US" sz="2400" b="0" i="1" smtClean="0">
                            <a:latin typeface="Cambria Math" panose="02040503050406030204" pitchFamily="18" charset="0"/>
                          </a:rPr>
                          <m:t>}</m:t>
                        </m:r>
                      </m:e>
                    </m:nary>
                    <m:r>
                      <a:rPr lang="en-US" sz="2400" i="1"/>
                      <m:t>+</m:t>
                    </m:r>
                    <m:r>
                      <a:rPr lang="en-US" sz="2400" b="0" i="1" dirty="0" smtClean="0">
                        <a:latin typeface="Cambria Math" panose="02040503050406030204" pitchFamily="18" charset="0"/>
                      </a:rPr>
                      <m:t>+</m:t>
                    </m:r>
                    <m:sSub>
                      <m:sSubPr>
                        <m:ctrlPr>
                          <a:rPr lang="el-GR" sz="2400" i="1" dirty="0">
                            <a:latin typeface="Cambria Math" panose="02040503050406030204" pitchFamily="18" charset="0"/>
                          </a:rPr>
                        </m:ctrlPr>
                      </m:sSubPr>
                      <m:e>
                        <m:r>
                          <m:rPr>
                            <m:nor/>
                          </m:rPr>
                          <a:rPr lang="el-GR" sz="2400"/>
                          <m:t>ϵ</m:t>
                        </m:r>
                      </m:e>
                      <m:sub>
                        <m:r>
                          <a:rPr lang="en-US" sz="2400" i="1" dirty="0">
                            <a:latin typeface="Cambria Math" panose="02040503050406030204" pitchFamily="18" charset="0"/>
                          </a:rPr>
                          <m:t>𝑖</m:t>
                        </m:r>
                        <m:r>
                          <a:rPr lang="en-US" sz="2400" i="1" dirty="0">
                            <a:latin typeface="Cambria Math" panose="02040503050406030204" pitchFamily="18" charset="0"/>
                          </a:rPr>
                          <m:t>,</m:t>
                        </m:r>
                        <m:r>
                          <a:rPr lang="en-US" sz="2400" i="1" dirty="0">
                            <a:latin typeface="Cambria Math" panose="02040503050406030204" pitchFamily="18" charset="0"/>
                          </a:rPr>
                          <m:t>𝑡</m:t>
                        </m:r>
                      </m:sub>
                    </m:sSub>
                  </m:oMath>
                </a14:m>
                <a:endParaRPr lang="en-US" sz="2400" dirty="0"/>
              </a:p>
            </p:txBody>
          </p:sp>
        </mc:Choice>
        <mc:Fallback>
          <p:sp>
            <p:nvSpPr>
              <p:cNvPr id="5" name="TextBox 4">
                <a:extLst>
                  <a:ext uri="{FF2B5EF4-FFF2-40B4-BE49-F238E27FC236}">
                    <a16:creationId xmlns:a16="http://schemas.microsoft.com/office/drawing/2014/main" id="{EF646E42-9264-2B41-03D2-95F9BA05E223}"/>
                  </a:ext>
                </a:extLst>
              </p:cNvPr>
              <p:cNvSpPr txBox="1">
                <a:spLocks noRot="1" noChangeAspect="1" noMove="1" noResize="1" noEditPoints="1" noAdjustHandles="1" noChangeArrowheads="1" noChangeShapeType="1" noTextEdit="1"/>
              </p:cNvSpPr>
              <p:nvPr/>
            </p:nvSpPr>
            <p:spPr>
              <a:xfrm>
                <a:off x="3268402" y="762288"/>
                <a:ext cx="8651823" cy="531236"/>
              </a:xfrm>
              <a:prstGeom prst="rect">
                <a:avLst/>
              </a:prstGeom>
              <a:blipFill>
                <a:blip r:embed="rId4"/>
                <a:stretch>
                  <a:fillRect l="-293" t="-102381" b="-166667"/>
                </a:stretch>
              </a:blipFill>
            </p:spPr>
            <p:txBody>
              <a:bodyPr/>
              <a:lstStyle/>
              <a:p>
                <a:r>
                  <a:rPr lang="en-US">
                    <a:noFill/>
                  </a:rPr>
                  <a:t> </a:t>
                </a:r>
              </a:p>
            </p:txBody>
          </p:sp>
        </mc:Fallback>
      </mc:AlternateContent>
      <p:sp>
        <p:nvSpPr>
          <p:cNvPr id="7" name="Rectangle 3">
            <a:extLst>
              <a:ext uri="{FF2B5EF4-FFF2-40B4-BE49-F238E27FC236}">
                <a16:creationId xmlns:a16="http://schemas.microsoft.com/office/drawing/2014/main" id="{63C89ABD-8ADD-CD91-E4FC-F4F2E41FD95D}"/>
              </a:ext>
            </a:extLst>
          </p:cNvPr>
          <p:cNvSpPr>
            <a:spLocks noChangeArrowheads="1"/>
          </p:cNvSpPr>
          <p:nvPr/>
        </p:nvSpPr>
        <p:spPr bwMode="auto">
          <a:xfrm>
            <a:off x="0" y="-184667"/>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4">
            <a:extLst>
              <a:ext uri="{FF2B5EF4-FFF2-40B4-BE49-F238E27FC236}">
                <a16:creationId xmlns:a16="http://schemas.microsoft.com/office/drawing/2014/main" id="{8E874DA3-7DCC-C4E2-8AC3-077C6559C2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00" y="-411163"/>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418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A0A09-F6F8-57D4-BC2A-A822E8F4115D}"/>
              </a:ext>
            </a:extLst>
          </p:cNvPr>
          <p:cNvSpPr>
            <a:spLocks noGrp="1"/>
          </p:cNvSpPr>
          <p:nvPr>
            <p:ph type="title"/>
          </p:nvPr>
        </p:nvSpPr>
        <p:spPr>
          <a:xfrm>
            <a:off x="876693" y="227823"/>
            <a:ext cx="3455821" cy="1616203"/>
          </a:xfrm>
        </p:spPr>
        <p:txBody>
          <a:bodyPr anchor="b">
            <a:normAutofit/>
          </a:bodyPr>
          <a:lstStyle/>
          <a:p>
            <a:r>
              <a:rPr lang="en-US" sz="2900" dirty="0"/>
              <a:t>Impact of Venue Openings on Metro Home Value</a:t>
            </a:r>
          </a:p>
        </p:txBody>
      </p:sp>
      <mc:AlternateContent xmlns:mc="http://schemas.openxmlformats.org/markup-compatibility/2006" xmlns:a14="http://schemas.microsoft.com/office/drawing/2010/main">
        <mc:Choice Requires="a14">
          <p:sp>
            <p:nvSpPr>
              <p:cNvPr id="19" name="Content Placeholder 8">
                <a:extLst>
                  <a:ext uri="{FF2B5EF4-FFF2-40B4-BE49-F238E27FC236}">
                    <a16:creationId xmlns:a16="http://schemas.microsoft.com/office/drawing/2014/main" id="{4385B719-9FB4-6B3E-5AC8-1F0FDE6A8DDA}"/>
                  </a:ext>
                </a:extLst>
              </p:cNvPr>
              <p:cNvSpPr>
                <a:spLocks noGrp="1"/>
              </p:cNvSpPr>
              <p:nvPr>
                <p:ph idx="1"/>
              </p:nvPr>
            </p:nvSpPr>
            <p:spPr>
              <a:xfrm>
                <a:off x="876693" y="1969287"/>
                <a:ext cx="3455821" cy="4320001"/>
              </a:xfrm>
            </p:spPr>
            <p:txBody>
              <a:bodyPr anchor="t">
                <a:normAutofit fontScale="70000" lnSpcReduction="20000"/>
              </a:bodyPr>
              <a:lstStyle/>
              <a:p>
                <a:r>
                  <a:rPr lang="en-US" sz="2300" dirty="0"/>
                  <a:t>Each dot </a:t>
                </a:r>
                <a14:m>
                  <m:oMath xmlns:m="http://schemas.openxmlformats.org/officeDocument/2006/math">
                    <m:acc>
                      <m:accPr>
                        <m:chr m:val="̂"/>
                        <m:ctrlPr>
                          <a:rPr lang="en-US" sz="2300" i="1" smtClean="0">
                            <a:latin typeface="Cambria Math" panose="02040503050406030204" pitchFamily="18" charset="0"/>
                          </a:rPr>
                        </m:ctrlPr>
                      </m:accPr>
                      <m:e>
                        <m:sSub>
                          <m:sSubPr>
                            <m:ctrlPr>
                              <a:rPr lang="en-US" sz="2300" i="1" dirty="0">
                                <a:latin typeface="Cambria Math" panose="02040503050406030204" pitchFamily="18" charset="0"/>
                              </a:rPr>
                            </m:ctrlPr>
                          </m:sSubPr>
                          <m:e>
                            <m:r>
                              <a:rPr lang="en-US" sz="2300" i="1" dirty="0">
                                <a:latin typeface="Cambria Math" panose="02040503050406030204" pitchFamily="18" charset="0"/>
                                <a:ea typeface="Cambria Math" panose="02040503050406030204" pitchFamily="18" charset="0"/>
                              </a:rPr>
                              <m:t>𝜃</m:t>
                            </m:r>
                          </m:e>
                          <m:sub>
                            <m:r>
                              <a:rPr lang="en-US" sz="2300" i="1" dirty="0">
                                <a:latin typeface="Cambria Math" panose="02040503050406030204" pitchFamily="18" charset="0"/>
                              </a:rPr>
                              <m:t>𝑘</m:t>
                            </m:r>
                          </m:sub>
                        </m:sSub>
                      </m:e>
                    </m:acc>
                    <m:r>
                      <a:rPr lang="en-US" sz="2300" b="0" i="1" smtClean="0">
                        <a:latin typeface="Cambria Math" panose="02040503050406030204" pitchFamily="18" charset="0"/>
                      </a:rPr>
                      <m:t> </m:t>
                    </m:r>
                  </m:oMath>
                </a14:m>
                <a:r>
                  <a:rPr lang="en-US" sz="2300" dirty="0"/>
                  <a:t>is a regression coefficient. For ex. </a:t>
                </a:r>
                <a14:m>
                  <m:oMath xmlns:m="http://schemas.openxmlformats.org/officeDocument/2006/math">
                    <m:acc>
                      <m:accPr>
                        <m:chr m:val="̂"/>
                        <m:ctrlPr>
                          <a:rPr lang="en-US" sz="2300" i="1">
                            <a:latin typeface="Cambria Math" panose="02040503050406030204" pitchFamily="18" charset="0"/>
                          </a:rPr>
                        </m:ctrlPr>
                      </m:accPr>
                      <m:e>
                        <m:sSub>
                          <m:sSubPr>
                            <m:ctrlPr>
                              <a:rPr lang="en-US" sz="2300" i="1" dirty="0">
                                <a:latin typeface="Cambria Math" panose="02040503050406030204" pitchFamily="18" charset="0"/>
                              </a:rPr>
                            </m:ctrlPr>
                          </m:sSubPr>
                          <m:e>
                            <m:r>
                              <a:rPr lang="en-US" sz="2300" i="1" dirty="0">
                                <a:latin typeface="Cambria Math" panose="02040503050406030204" pitchFamily="18" charset="0"/>
                                <a:ea typeface="Cambria Math" panose="02040503050406030204" pitchFamily="18" charset="0"/>
                              </a:rPr>
                              <m:t>𝜃</m:t>
                            </m:r>
                          </m:e>
                          <m:sub>
                            <m:r>
                              <a:rPr lang="en-US" sz="2300" b="0" i="1" dirty="0" smtClean="0">
                                <a:latin typeface="Cambria Math" panose="02040503050406030204" pitchFamily="18" charset="0"/>
                                <a:ea typeface="Cambria Math" panose="02040503050406030204" pitchFamily="18" charset="0"/>
                              </a:rPr>
                              <m:t>29</m:t>
                            </m:r>
                          </m:sub>
                        </m:sSub>
                      </m:e>
                    </m:acc>
                    <m:r>
                      <a:rPr lang="en-US" sz="2300" i="1">
                        <a:latin typeface="Cambria Math" panose="02040503050406030204" pitchFamily="18" charset="0"/>
                      </a:rPr>
                      <m:t> </m:t>
                    </m:r>
                  </m:oMath>
                </a14:m>
                <a:r>
                  <a:rPr lang="en-US" sz="2300" dirty="0"/>
                  <a:t>= 0.032 </a:t>
                </a:r>
                <a:r>
                  <a:rPr lang="en-US" sz="2300" dirty="0">
                    <a:sym typeface="Wingdings" pitchFamily="2" charset="2"/>
                  </a:rPr>
                  <a:t> 3.2% higher home value than the month before opening a venue</a:t>
                </a:r>
              </a:p>
              <a:p>
                <a:r>
                  <a:rPr lang="en-US" sz="2300" b="1" dirty="0">
                    <a:sym typeface="Wingdings" pitchFamily="2" charset="2"/>
                  </a:rPr>
                  <a:t>Before the pre period (k&lt;0): </a:t>
                </a:r>
                <a:r>
                  <a:rPr lang="en-US" sz="2300" dirty="0">
                    <a:sym typeface="Wingdings" pitchFamily="2" charset="2"/>
                  </a:rPr>
                  <a:t>nothing dramatic was happening to housing prices before venue opening</a:t>
                </a:r>
              </a:p>
              <a:p>
                <a:r>
                  <a:rPr lang="en-US" sz="2300" b="1" dirty="0">
                    <a:sym typeface="Wingdings" pitchFamily="2" charset="2"/>
                  </a:rPr>
                  <a:t>Opening (k=0): </a:t>
                </a:r>
                <a:r>
                  <a:rPr lang="en-US" sz="2300" dirty="0">
                    <a:sym typeface="Wingdings" pitchFamily="2" charset="2"/>
                  </a:rPr>
                  <a:t>tiny jump, indicating that housing markets don’t react instantly on opening month</a:t>
                </a:r>
              </a:p>
              <a:p>
                <a:r>
                  <a:rPr lang="en-US" sz="2300" b="1" dirty="0">
                    <a:sym typeface="Wingdings" pitchFamily="2" charset="2"/>
                  </a:rPr>
                  <a:t>Post opening (k=1 to 30): </a:t>
                </a:r>
                <a:r>
                  <a:rPr lang="en-US" sz="2300" dirty="0">
                    <a:sym typeface="Wingdings" pitchFamily="2" charset="2"/>
                  </a:rPr>
                  <a:t>home prices rise gradually to +2.8% 30 mos. after opening, indicating a slow buildup</a:t>
                </a:r>
              </a:p>
              <a:p>
                <a:r>
                  <a:rPr lang="en-US" sz="2300" b="1" dirty="0">
                    <a:sym typeface="Wingdings" pitchFamily="2" charset="2"/>
                  </a:rPr>
                  <a:t>Later periods (k = 30 to 60): </a:t>
                </a:r>
                <a:r>
                  <a:rPr lang="en-US" sz="2300" dirty="0">
                    <a:sym typeface="Wingdings" pitchFamily="2" charset="2"/>
                  </a:rPr>
                  <a:t>flattening, but wider CIs indicate uncertainty. Long-run effects are small and not precisely estimated</a:t>
                </a:r>
              </a:p>
              <a:p>
                <a:endParaRPr lang="en-US" sz="2000" dirty="0">
                  <a:sym typeface="Wingdings" pitchFamily="2" charset="2"/>
                </a:endParaRPr>
              </a:p>
            </p:txBody>
          </p:sp>
        </mc:Choice>
        <mc:Fallback xmlns="">
          <p:sp>
            <p:nvSpPr>
              <p:cNvPr id="19" name="Content Placeholder 8">
                <a:extLst>
                  <a:ext uri="{FF2B5EF4-FFF2-40B4-BE49-F238E27FC236}">
                    <a16:creationId xmlns:a16="http://schemas.microsoft.com/office/drawing/2014/main" id="{4385B719-9FB4-6B3E-5AC8-1F0FDE6A8DDA}"/>
                  </a:ext>
                </a:extLst>
              </p:cNvPr>
              <p:cNvSpPr>
                <a:spLocks noGrp="1" noRot="1" noChangeAspect="1" noMove="1" noResize="1" noEditPoints="1" noAdjustHandles="1" noChangeArrowheads="1" noChangeShapeType="1" noTextEdit="1"/>
              </p:cNvSpPr>
              <p:nvPr>
                <p:ph idx="1"/>
              </p:nvPr>
            </p:nvSpPr>
            <p:spPr>
              <a:xfrm>
                <a:off x="876693" y="1969287"/>
                <a:ext cx="3455821" cy="4320001"/>
              </a:xfrm>
              <a:blipFill>
                <a:blip r:embed="rId3"/>
                <a:stretch>
                  <a:fillRect l="-733" t="-1760"/>
                </a:stretch>
              </a:blipFill>
            </p:spPr>
            <p:txBody>
              <a:bodyPr/>
              <a:lstStyle/>
              <a:p>
                <a:r>
                  <a:rPr lang="en-US">
                    <a:noFill/>
                  </a:rPr>
                  <a:t> </a:t>
                </a:r>
              </a:p>
            </p:txBody>
          </p:sp>
        </mc:Fallback>
      </mc:AlternateContent>
      <p:pic>
        <p:nvPicPr>
          <p:cNvPr id="5" name="Content Placeholder 4" descr="A graph showing the growth of the stadium&#10;&#10;AI-generated content may be incorrect.">
            <a:extLst>
              <a:ext uri="{FF2B5EF4-FFF2-40B4-BE49-F238E27FC236}">
                <a16:creationId xmlns:a16="http://schemas.microsoft.com/office/drawing/2014/main" id="{1FF199A8-08B4-470D-3315-3157521D701A}"/>
              </a:ext>
            </a:extLst>
          </p:cNvPr>
          <p:cNvPicPr>
            <a:picLocks noChangeAspect="1"/>
          </p:cNvPicPr>
          <p:nvPr/>
        </p:nvPicPr>
        <p:blipFill>
          <a:blip r:embed="rId4"/>
          <a:stretch>
            <a:fillRect/>
          </a:stretch>
        </p:blipFill>
        <p:spPr>
          <a:xfrm>
            <a:off x="4987672" y="1548798"/>
            <a:ext cx="6389346" cy="3769713"/>
          </a:xfrm>
          <a:prstGeom prst="rect">
            <a:avLst/>
          </a:prstGeom>
        </p:spPr>
      </p:pic>
      <p:grpSp>
        <p:nvGrpSpPr>
          <p:cNvPr id="24" name="Group 23">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25" name="Rectangle 24">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1494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1AB66-5B57-54FD-3B9B-9889292BCA84}"/>
              </a:ext>
            </a:extLst>
          </p:cNvPr>
          <p:cNvSpPr>
            <a:spLocks noGrp="1"/>
          </p:cNvSpPr>
          <p:nvPr>
            <p:ph type="title"/>
          </p:nvPr>
        </p:nvSpPr>
        <p:spPr>
          <a:xfrm>
            <a:off x="876692" y="440766"/>
            <a:ext cx="3455821" cy="1616203"/>
          </a:xfrm>
        </p:spPr>
        <p:txBody>
          <a:bodyPr anchor="b">
            <a:normAutofit fontScale="90000"/>
          </a:bodyPr>
          <a:lstStyle/>
          <a:p>
            <a:r>
              <a:rPr lang="en-US" sz="3200" dirty="0"/>
              <a:t>Impact of Venue Openings on Metro Home Value (in  quarters)</a:t>
            </a:r>
          </a:p>
        </p:txBody>
      </p:sp>
      <p:sp>
        <p:nvSpPr>
          <p:cNvPr id="9" name="Content Placeholder 8">
            <a:extLst>
              <a:ext uri="{FF2B5EF4-FFF2-40B4-BE49-F238E27FC236}">
                <a16:creationId xmlns:a16="http://schemas.microsoft.com/office/drawing/2014/main" id="{4A720E34-C9E0-6B73-BBCE-00BDAD718BA4}"/>
              </a:ext>
            </a:extLst>
          </p:cNvPr>
          <p:cNvSpPr>
            <a:spLocks noGrp="1"/>
          </p:cNvSpPr>
          <p:nvPr>
            <p:ph idx="1"/>
          </p:nvPr>
        </p:nvSpPr>
        <p:spPr>
          <a:xfrm>
            <a:off x="876693" y="2279737"/>
            <a:ext cx="3455821" cy="3701571"/>
          </a:xfrm>
        </p:spPr>
        <p:txBody>
          <a:bodyPr anchor="t">
            <a:normAutofit fontScale="77500" lnSpcReduction="20000"/>
          </a:bodyPr>
          <a:lstStyle/>
          <a:p>
            <a:r>
              <a:rPr lang="en-US" sz="2000" dirty="0"/>
              <a:t>Monthly event-time dummies can be noisy so by binning it in quarters we get a smoother graph with tighter SEs.</a:t>
            </a:r>
          </a:p>
          <a:p>
            <a:r>
              <a:rPr lang="en-US" sz="2000" dirty="0"/>
              <a:t>Again, treated metros were not clearly on a different trend before the venue opened. If anything, prices were slightly weaker.</a:t>
            </a:r>
          </a:p>
          <a:p>
            <a:r>
              <a:rPr lang="en-US" sz="2000" dirty="0"/>
              <a:t>No sharp price jump at opening indicating housing markets respond gradually.</a:t>
            </a:r>
          </a:p>
          <a:p>
            <a:r>
              <a:rPr lang="en-US" sz="2000" dirty="0"/>
              <a:t>Within 1-3 years of opening, home values in treated metros are roughly 2-3% higher than in the quarter before opening (gradual buildup).</a:t>
            </a:r>
          </a:p>
          <a:p>
            <a:r>
              <a:rPr lang="en-US" sz="2000" dirty="0"/>
              <a:t>After 3 years, the effects decline and becomes noisy.</a:t>
            </a:r>
          </a:p>
          <a:p>
            <a:endParaRPr lang="en-US" sz="2000" dirty="0"/>
          </a:p>
          <a:p>
            <a:endParaRPr lang="en-US" sz="2000" dirty="0"/>
          </a:p>
        </p:txBody>
      </p:sp>
      <p:pic>
        <p:nvPicPr>
          <p:cNvPr id="5" name="Content Placeholder 4" descr="A graph of a graph showing the growth of a company&#10;&#10;AI-generated content may be incorrect.">
            <a:extLst>
              <a:ext uri="{FF2B5EF4-FFF2-40B4-BE49-F238E27FC236}">
                <a16:creationId xmlns:a16="http://schemas.microsoft.com/office/drawing/2014/main" id="{178A9B83-4744-8001-D949-F7B3A61C8454}"/>
              </a:ext>
            </a:extLst>
          </p:cNvPr>
          <p:cNvPicPr>
            <a:picLocks noChangeAspect="1"/>
          </p:cNvPicPr>
          <p:nvPr/>
        </p:nvPicPr>
        <p:blipFill>
          <a:blip r:embed="rId3"/>
          <a:stretch>
            <a:fillRect/>
          </a:stretch>
        </p:blipFill>
        <p:spPr>
          <a:xfrm>
            <a:off x="4987672" y="1492892"/>
            <a:ext cx="6389346" cy="3881526"/>
          </a:xfrm>
          <a:prstGeom prst="rect">
            <a:avLst/>
          </a:prstGeom>
        </p:spPr>
      </p:pic>
      <p:grpSp>
        <p:nvGrpSpPr>
          <p:cNvPr id="12" name="Group 11">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3" name="Rectangle 12">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10362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6D798-B177-A999-425D-A536E22EDF29}"/>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38043E26-18A1-8AD7-D6B2-B0B15494DB37}"/>
              </a:ext>
            </a:extLst>
          </p:cNvPr>
          <p:cNvSpPr>
            <a:spLocks noGrp="1"/>
          </p:cNvSpPr>
          <p:nvPr>
            <p:ph idx="1"/>
          </p:nvPr>
        </p:nvSpPr>
        <p:spPr/>
        <p:txBody>
          <a:bodyPr>
            <a:normAutofit fontScale="70000" lnSpcReduction="20000"/>
          </a:bodyPr>
          <a:lstStyle/>
          <a:p>
            <a:r>
              <a:rPr lang="en-US" dirty="0"/>
              <a:t>New venues modestly increase housing values: average estimated effect is about 3.9% higher home values after opening (compared with metros that have not yet opened in the same month)</a:t>
            </a:r>
          </a:p>
          <a:p>
            <a:endParaRPr lang="en-US" dirty="0"/>
          </a:p>
          <a:p>
            <a:r>
              <a:rPr lang="en-US" dirty="0"/>
              <a:t>More expensive projects produce stronger gains: home values see  +0.21% per $100M of construction cost</a:t>
            </a:r>
          </a:p>
          <a:p>
            <a:endParaRPr lang="en-US" dirty="0"/>
          </a:p>
          <a:p>
            <a:r>
              <a:rPr lang="en-US" dirty="0"/>
              <a:t>Home prices do not jump at opening, they rise gradually: within 1-3 years, treated metros experience roughly 2-3% higher home values relative to the time-period before opening</a:t>
            </a:r>
          </a:p>
          <a:p>
            <a:endParaRPr lang="en-US" dirty="0"/>
          </a:p>
          <a:p>
            <a:r>
              <a:rPr lang="en-US" dirty="0"/>
              <a:t>Long run effects fade and become noisy. Effects are real, but may not be permanent, which means they should not be viewed as the core reason for approving public subsidies. </a:t>
            </a:r>
          </a:p>
          <a:p>
            <a:pPr marL="0" indent="0">
              <a:buNone/>
            </a:pPr>
            <a:endParaRPr lang="en-US" dirty="0"/>
          </a:p>
          <a:p>
            <a:r>
              <a:rPr lang="en-US" dirty="0"/>
              <a:t>No strong upward trend before opening, so this supports parallel trends assumption. We can say causally, that venue openings decently increase home prices</a:t>
            </a:r>
          </a:p>
          <a:p>
            <a:endParaRPr lang="en-US" dirty="0"/>
          </a:p>
        </p:txBody>
      </p:sp>
    </p:spTree>
    <p:extLst>
      <p:ext uri="{BB962C8B-B14F-4D97-AF65-F5344CB8AC3E}">
        <p14:creationId xmlns:p14="http://schemas.microsoft.com/office/powerpoint/2010/main" val="662107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17E9-E17E-5770-D199-28CEE57FCAE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73796A1-83BE-7913-8671-98E06DDF2A88}"/>
              </a:ext>
            </a:extLst>
          </p:cNvPr>
          <p:cNvSpPr>
            <a:spLocks noGrp="1"/>
          </p:cNvSpPr>
          <p:nvPr>
            <p:ph idx="1"/>
          </p:nvPr>
        </p:nvSpPr>
        <p:spPr/>
        <p:txBody>
          <a:bodyPr>
            <a:normAutofit fontScale="47500" lnSpcReduction="20000"/>
          </a:bodyPr>
          <a:lstStyle/>
          <a:p>
            <a:r>
              <a:rPr lang="en-US" sz="2900" b="1" dirty="0" err="1"/>
              <a:t>Ahlfeldt</a:t>
            </a:r>
            <a:r>
              <a:rPr lang="en-US" sz="2900" b="1" dirty="0"/>
              <a:t>, G.M. &amp; </a:t>
            </a:r>
            <a:r>
              <a:rPr lang="en-US" sz="2900" b="1" dirty="0" err="1"/>
              <a:t>Maennig</a:t>
            </a:r>
            <a:r>
              <a:rPr lang="en-US" sz="2900" b="1" dirty="0"/>
              <a:t>, W.</a:t>
            </a:r>
            <a:r>
              <a:rPr lang="en-US" sz="2900" dirty="0"/>
              <a:t> 2010, ‘Impact of sports arenas on land values: Evidence from Berlin’, </a:t>
            </a:r>
            <a:r>
              <a:rPr lang="en-US" sz="2900" i="1" dirty="0"/>
              <a:t>The Annals of Regional Science</a:t>
            </a:r>
            <a:r>
              <a:rPr lang="en-US" sz="2900" dirty="0"/>
              <a:t>, vol. 44, no. 2, pp. 205–227.</a:t>
            </a:r>
          </a:p>
          <a:p>
            <a:r>
              <a:rPr lang="en-US" sz="2900" b="1" dirty="0"/>
              <a:t>Bradbury, J.C., Coates, D. &amp; Humphreys, B.R.</a:t>
            </a:r>
            <a:r>
              <a:rPr lang="en-US" sz="2900" dirty="0"/>
              <a:t> 2025, </a:t>
            </a:r>
            <a:r>
              <a:rPr lang="en-US" sz="2900" i="1" dirty="0"/>
              <a:t>US Major-League Sports Stadium and Arena Construction Costs (1909–2026)</a:t>
            </a:r>
            <a:r>
              <a:rPr lang="en-US" sz="2900" dirty="0"/>
              <a:t>, research dataset, Bagwell Center for the Study of Markets and Economic Opportunity, Kennesaw State University.</a:t>
            </a:r>
          </a:p>
          <a:p>
            <a:r>
              <a:rPr lang="en-US" sz="2900" b="1" dirty="0"/>
              <a:t>Bradbury, J.C., Coates, D. &amp; Humphreys, B.R. </a:t>
            </a:r>
            <a:r>
              <a:rPr lang="en-US" sz="2900" dirty="0"/>
              <a:t>(2023) The Economics of Stadium Subsidies: A Policy Retrospective. Working paper, Kennesaw State University, University of Maryland–Baltimore County, and West Virginia University, 30 January.</a:t>
            </a:r>
          </a:p>
          <a:p>
            <a:r>
              <a:rPr lang="en-US" sz="2900" dirty="0" err="1"/>
              <a:t>Chikish</a:t>
            </a:r>
            <a:r>
              <a:rPr lang="en-US" sz="2900" dirty="0"/>
              <a:t>, Y., Humphreys, B.R. &amp; Nowak, A. 2019, ‘Sports facilities and residential property values: Evidence from the construction of new arenas and stadiums’, </a:t>
            </a:r>
            <a:r>
              <a:rPr lang="en-US" sz="2900" i="1" dirty="0"/>
              <a:t>Regional Science and Urban Economics</a:t>
            </a:r>
            <a:r>
              <a:rPr lang="en-US" sz="2900" dirty="0"/>
              <a:t>, vol. 77, pp. 42–59.</a:t>
            </a:r>
          </a:p>
          <a:p>
            <a:r>
              <a:rPr lang="en-US" sz="2900" b="1" dirty="0"/>
              <a:t>Coates, D. &amp; Humphreys, B.R. </a:t>
            </a:r>
            <a:r>
              <a:rPr lang="en-US" sz="2900" dirty="0"/>
              <a:t>2012, ‘Game Attendance and Competitive Balance in Major League Baseball’, Journal of Sports Economics, 13(1), pp. 20–43.</a:t>
            </a:r>
          </a:p>
          <a:p>
            <a:r>
              <a:rPr lang="en-US" sz="2900" b="1" dirty="0"/>
              <a:t>Coates, D. &amp; Humphreys, B.R.</a:t>
            </a:r>
            <a:r>
              <a:rPr lang="en-US" sz="2900" dirty="0"/>
              <a:t> 2008, ‘Do economists reach a conclusion on subsidies for sports franchises, stadiums, and mega-events?’, </a:t>
            </a:r>
            <a:r>
              <a:rPr lang="en-US" sz="2900" i="1" dirty="0"/>
              <a:t>Econ Journal Watch</a:t>
            </a:r>
            <a:r>
              <a:rPr lang="en-US" sz="2900" dirty="0"/>
              <a:t>, vol. 5, no. 3, pp. 294–315.</a:t>
            </a:r>
          </a:p>
          <a:p>
            <a:r>
              <a:rPr lang="en-US" sz="2900" b="1" dirty="0"/>
              <a:t>Cobb County Communications</a:t>
            </a:r>
            <a:r>
              <a:rPr lang="en-US" sz="2900" dirty="0"/>
              <a:t> 2022, </a:t>
            </a:r>
            <a:r>
              <a:rPr lang="en-US" sz="2900" i="1" dirty="0"/>
              <a:t>Braves stadium information</a:t>
            </a:r>
            <a:r>
              <a:rPr lang="en-US" sz="2900" dirty="0"/>
              <a:t>, Cobb County Government, Marietta, GA.</a:t>
            </a:r>
          </a:p>
          <a:p>
            <a:r>
              <a:rPr lang="en-US" sz="2900" b="1" dirty="0"/>
              <a:t>Dehring, C.A., </a:t>
            </a:r>
            <a:r>
              <a:rPr lang="en-US" sz="2900" b="1" dirty="0" err="1"/>
              <a:t>Depken</a:t>
            </a:r>
            <a:r>
              <a:rPr lang="en-US" sz="2900" b="1" dirty="0"/>
              <a:t>, C.A. &amp; Ward, M.R.</a:t>
            </a:r>
            <a:r>
              <a:rPr lang="en-US" sz="2900" dirty="0"/>
              <a:t> 2007, ‘The impact of stadium announcements on residential property values: Evidence from a natural experiment in Dallas–Fort Worth’, </a:t>
            </a:r>
            <a:r>
              <a:rPr lang="en-US" sz="2900" i="1" dirty="0"/>
              <a:t>Contemporary Economic Policy</a:t>
            </a:r>
            <a:r>
              <a:rPr lang="en-US" sz="2900" dirty="0"/>
              <a:t>, vol. 25, no. 4, pp. 627–638.</a:t>
            </a:r>
          </a:p>
          <a:p>
            <a:r>
              <a:rPr lang="en-US" sz="2900" b="1" dirty="0" err="1"/>
              <a:t>Funahashi</a:t>
            </a:r>
            <a:r>
              <a:rPr lang="en-US" sz="2900" b="1" dirty="0"/>
              <a:t>, H. &amp; </a:t>
            </a:r>
            <a:r>
              <a:rPr lang="en-US" sz="2900" b="1" dirty="0" err="1"/>
              <a:t>Cardazzi</a:t>
            </a:r>
            <a:r>
              <a:rPr lang="en-US" sz="2900" b="1" dirty="0"/>
              <a:t>, A.</a:t>
            </a:r>
            <a:r>
              <a:rPr lang="en-US" sz="2900" dirty="0"/>
              <a:t> 2024, ‘An examination of the externalities of neighborhood stadiums on housing land values’, paper presented at the Japan Society of Sports Industry 33rd Annual Conference, Japan.</a:t>
            </a:r>
          </a:p>
          <a:p>
            <a:r>
              <a:rPr lang="en-US" sz="2900" b="1" dirty="0"/>
              <a:t>Propheter, G.</a:t>
            </a:r>
            <a:r>
              <a:rPr lang="en-US" sz="2900" dirty="0"/>
              <a:t> 2023, ‘Sports facilities as a housing amenity: Do prices follow facilities?’, </a:t>
            </a:r>
            <a:r>
              <a:rPr lang="en-US" sz="2900" i="1" dirty="0"/>
              <a:t>Journal of Sports Economics</a:t>
            </a:r>
            <a:r>
              <a:rPr lang="en-US" sz="2900" dirty="0"/>
              <a:t>, vol. 24, no. 4, pp. 443–474.</a:t>
            </a:r>
          </a:p>
          <a:p>
            <a:endParaRPr lang="en-US" dirty="0"/>
          </a:p>
        </p:txBody>
      </p:sp>
    </p:spTree>
    <p:extLst>
      <p:ext uri="{BB962C8B-B14F-4D97-AF65-F5344CB8AC3E}">
        <p14:creationId xmlns:p14="http://schemas.microsoft.com/office/powerpoint/2010/main" val="3895247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3205</TotalTime>
  <Words>5117</Words>
  <Application>Microsoft Macintosh PowerPoint</Application>
  <PresentationFormat>Widescreen</PresentationFormat>
  <Paragraphs>414</Paragraphs>
  <Slides>25</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Aptos</vt:lpstr>
      <vt:lpstr>Aptos Display</vt:lpstr>
      <vt:lpstr>Arial</vt:lpstr>
      <vt:lpstr>Avenir Next LT Pro</vt:lpstr>
      <vt:lpstr>Calibri</vt:lpstr>
      <vt:lpstr>Cambria</vt:lpstr>
      <vt:lpstr>Cambria Math</vt:lpstr>
      <vt:lpstr>Helvetica Neue</vt:lpstr>
      <vt:lpstr>Wingdings</vt:lpstr>
      <vt:lpstr>Office Theme</vt:lpstr>
      <vt:lpstr>Sports Impact Study: Do New Sports Venues Raise Local House Prices? Evidence from U.S. Metro-Level Housing Data </vt:lpstr>
      <vt:lpstr>Research Questions</vt:lpstr>
      <vt:lpstr>Why do we care?</vt:lpstr>
      <vt:lpstr>PowerPoint Presentation</vt:lpstr>
      <vt:lpstr>Data and Summary Statistics</vt:lpstr>
      <vt:lpstr>Raw Data Sources</vt:lpstr>
      <vt:lpstr>Cleaning and Merging</vt:lpstr>
      <vt:lpstr>January 2000 Observation for the Charlotte Metro Area</vt:lpstr>
      <vt:lpstr>PowerPoint Presentation</vt:lpstr>
      <vt:lpstr>Arenas vs. Stadiums</vt:lpstr>
      <vt:lpstr>PowerPoint Presentation</vt:lpstr>
      <vt:lpstr>PowerPoint Presentation</vt:lpstr>
      <vt:lpstr>Method 1: Staggered Difference-in-Differences via Two-Way Fixed Effects </vt:lpstr>
      <vt:lpstr>Baseline Model: Staggered DiD with Metro and Month FEs</vt:lpstr>
      <vt:lpstr>Baseline </vt:lpstr>
      <vt:lpstr>PowerPoint Presentation</vt:lpstr>
      <vt:lpstr>Intensity</vt:lpstr>
      <vt:lpstr>Public vs Private</vt:lpstr>
      <vt:lpstr>Staggered DiD Event Study</vt:lpstr>
      <vt:lpstr>Method 2: Event Study</vt:lpstr>
      <vt:lpstr>Method</vt:lpstr>
      <vt:lpstr>Impact of Venue Openings on Metro Home Value</vt:lpstr>
      <vt:lpstr>Impact of Venue Openings on Metro Home Value (in  quarters)</vt:lpstr>
      <vt:lpstr>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 Nguyen</dc:creator>
  <cp:lastModifiedBy>Quan Nguyen</cp:lastModifiedBy>
  <cp:revision>139</cp:revision>
  <dcterms:created xsi:type="dcterms:W3CDTF">2025-11-14T00:46:10Z</dcterms:created>
  <dcterms:modified xsi:type="dcterms:W3CDTF">2025-12-02T18:51:00Z</dcterms:modified>
</cp:coreProperties>
</file>